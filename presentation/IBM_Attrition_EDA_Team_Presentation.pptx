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this is a diagnostic exploratory analysis of IBM's HR Analytics dataset — 1,470 employee records, 35 attributes, 16.1% overall attrition. Eleven notebooks, eight contributors, run in numeric order. Say up front: the dataset is fictional — IBM authored it as a teaching set, so every finding is a statement about this data and about our method, not an HR benchmark. Hand off to the introduction.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business problem before any numbers. The key sentence is the goal box: we are measuring over-representation, not causation. That constraint is a property of the data — one snapshot, no event timestamps, no control group — not modesty. The five question groups on the right are the README's own structure and they map onto the notebook sequence you are about to see. Note for honesty: the notebooks fully answer groups 1 and 2 and partially answer 3–5; we will say so again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Hit the four cards and move on: 1,470 records, 35 columns, 16.1% baseline, zero missing values. The 16.1% is 237 of 1,470 — that number becomes the reference line on nearly every chart from here on. Two things worth pausing on: the grain is a single snapshot with no dates, which is why we can never speak about sequence or cause; and the class imbalance, 237 versus 1,233, which is why we always print the segment headcount next to the rate — a 40% rate on 83 people is a different claim than a 40% rate on 800. Transition: here is the order we worked 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actual notebook sequence, not an idealised pipeline. Two points to make. First, every notebook re-reads data/raw rather than chaining off the previous one — that keeps each step independently reproducible, at the cost of re-deriving the same bins in a few places. Second, the four measures at the bottom are the vocabulary for the rest of the deck. Spend your time on excess attrition: it is the one that stops a 23% rate on 52 people from being mistaken for the company's biggest retention problem. Notebook 10 is greyed because it is a predictive check, deliberately outside the diagnostic frame.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 fast here — the headline is that there is nothing to fix. Zero duplicates, zero missing values, 1,470 unique employee numbers. Worth saying explicitly that this is a property of a curated teaching dataset and is not what a real HR extract looks like; the value of running these checks is that we now know the later segment denominators are trustworthy. The one substantive finding is the three constant columns, which get dropped downstream. Transition: with nothing to clean, preparation becomes about making the data legible.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Translate, do not read the code. The point of this notebook is that it produces a second, model-ready copy of the data rather than overwriting the original — so the descriptive notebooks keep human-readable labels like 'Sales Executive' while the model gets a 50-column numeric matrix. Two judgement calls worth mentioning if asked: PerformanceRating was collapsed to 0/1 because only ratings 3 and 4 actually occur in the data, and scaling was applied to the 14 continuous columns only — which is why the coefficient magnitudes in step 10 are not strictly comparable across feature types.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deliverable here is the grouped extract, and the chart is the first real result in the project. Numbers: Sales 20.63%, HR 19.05%, R&amp;D 13.84%, against a 16.1% baseline. Make the interpretation point carefully — R&amp;D is below baseline on rate but contributes 133 of the 237 total leavers because it holds 961 of 1,470 employees. Rate and volume answer different questions, which is exactly why notebook 05 adds excess attrition. Also flag the labelling caveat: the bins used here are re-derived in later notebooks with slightly different labels (10+ versus 11+ years) although the edges are identical.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single most quotable number in the project: Sales Representatives at 39.76%, nearly two and a half times the company rate. Then immediately temper it — that is 33 people out of 83, so the confidence interval is wide. The right-hand chart is the corrective: on excess departures, Laboratory Technicians tie Sales Representatives at about +20, and they are a 259-person group. If you only had budget for one intervention, excess is the chart that tells you where to spend it. Note the wording: over-represented, associated with — we have no evidence that the role causes the leaving. Transition: same question, by department and level.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takeaway is that level beats department as an explanation. Entry level: 26.3% on 543 people, +55 excess departures — the single largest excess figure anywhere in the analysis. Compare that with Sales at +20 and HR at +2. Then make the confounding point, because someone will ask: Sales Representatives and Laboratory Technicians are largely level-1 roles, so we are looking at overlapping views of one group, not three independent risk factors. Disentangling them would need stratified rates, which this analysis does not do — that is an honest limitation, and it is on the What We Learned slide. Transition: so is this about being new?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robust finding in the deck because four separate measures agree. Company tenure 0–2 years: 29.8%. Years in current role 0–1: 27.9%. Years with current manager 0–1: 28.3%. Total career experience 0–2 years: 43.9%, which is 2.7 times baseline. The year-by-year line is worth pointing at: 36.4% in year zero, 34.5% in year one, then it crosses below the baseline by year three and stays there. The bumps at years 4 and 10 are small-sample noise, which is why we suppressed years with fewer than ten employees. What we cannot say: whether people leave because they are new, or whether the roles that hire heavily are also the roles people leave. Answering the question the README asked — early-tenure or mid-career — the evidence points clearly at early-tenure.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Twenty-three individual distribution figures in the notebook — we are showing the method, not all of them. The design decision worth calling out is the split treatment: continuous columns get a histogram, columns with ten or fewer distinct values get value-count bars. That matters because a KDE over a 1–4 satisfaction scale invents a shape that is not in the data. The substantive finding is the right skew in income, tenure and experience, and it drives three later decisions: median over mean, the volume of IQR flags in step 07, and banded rather than mean-based comparisons throughout. Transition: so what did the IQR rule flag?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interesting result here is a decision, not a number. The IQR rule flagged 238 TrainingTimesLastYear values (16.19%) and 114 MonthlyIncome values (7.76%), but inspection showed both are artefacts of the rule rather than problems in the data. For income, every single one of the 114 is above the fence and every one is a senior manager or research director with two to three decades of experience — real people, not typos. For training, the variable has a one-unit interquartile range, so the fence lands at 4.5 and anyone attending five sessions is an 'outlier'. That is the rule misfiring on a discrete variable. So everything was retained. If asked why that is the right call: those senior employees have the lowest attrition rates in the dataset — deleting them would remove the contrast the whole analysis rests 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charts, one lesson. On the left, the twelve biggest group gaps among segments of at least fifty people — and overtime is the standout because it is both a large gap and a large group: 416 employees, 30.5% versus 10.4%. On the right, every numeric correlation with leaving, and the strongest is total working years at minus 0.171. That is a weak correlation by any standard. Make the methodological point clearly, because it is the most sophisticated thing in the deck: a Pearson coefficient against a 0/1 outcome is answering a different and less useful question than 'what share of this group left'. The notebook's own comment says to treat these as screening signals, not causal explanations, and we agree. Also note the direction: almost every correlation is negative — more of anything (tenure, level, income, age, satisfaction) travels with staying. Distance from home at plus 0.078 is the only meaningful positive.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Short slide — it is context, not a finding about attrition, and the notebook says so itself in its closing line. Numbers to have ready: income mean $6,503 versus median $4,919; tenure mean 7 versus median 5; experience mean 11.3 versus median 10. In all three the mean sits above the median, which is the signature of a right skew. The one bridge back to the main story is in the conclusion box: the bulk of the workforce lives in the same low-tenure, lower-paid, entry-level region we flagged as high risk, so those segments are big as well as risky. That is the reason the excess-attrition numbers were as large as they were.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Handle this slide carefully, because the accuracy number invites the wrong conclusion. 86% accuracy sounds strong until you notice that predicting 'nobody leaves' would score 84% on a dataset that is 16% leavers. The honest read is in the confusion matrix: of 47 people who actually left, the model found 16 and missed 31. Recall of 34%. So as a screening tool it is weak. What it does do well is rank — ROC-AUC 0.811 means it usually puts a leaver above a stayer, and the notebook's probability output is more useful than its yes/no call. The coefficients are the real payoff: overtime plus 1.80 is the single largest weight, which independently corroborates the step 08 finding. Two caveats to volunteer: coefficient magnitudes are not comparable across feature types because only the 14 continuous columns were standardised; and this model is a check on the descriptive work, not a deployable risk score.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slow down on. The ranking is by strength of evidence, not by size of the headline number — which is why Sales Representatives at 39.8% sit at number four rather than number one. Findings one to four are the ones we would defend; five and six are real but confounded or weak, and they are marked differently for that reason. If you take one thing away: early tenure, entry level and overtime, all on large segments, all corroborated by more than one method. Every statement here is 'associated with' — we have one snapshot of one fictional company and no experiment, so nothing here establishes cause.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picture the audience takes home. The left panel is every above-baseline segment we measured, sorted by rate, with headcount attached. The right column is the mirror image — the profile associated with staying. The single most important caveat is the overlap box: these eleven rows are not eleven independent risk factors. A 26-year-old entry-level Sales Representative in their first year on the lowest pay quartile appears in five of them. Building a risk score by adding these up would double-count badly. Also repeat the ethics point: this is a segment-level description. The README is explicit that gender, age and marital status stay out of anything that scores an individual, and we will come back to that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column is about the company, right column is about us. Two genuine surprises worth narrating. First, attrition is not a clean staircase down the hierarchy — level 3 leaves more than level 2, and level 5 more than level 4. With 218 and 69 people in those bands, some of that is noise, but it undercuts any simple 'seniority protects you' story. Second, years since last promotion looks like nothing on its own, a correlation of minus 0.033, yet it is a strong positive weight in the model — a reminder that a variable can be invisible alone and informative in combination. On the right, the most important admission is confounding: we never stratified, so we genuinely cannot say whether overtime matters independently of job level. And be upfront about the last one — our own README says protected attributes stay out of individual scoring, and the notebook 10 model includes age, gender and marital status. That is an inconsistency we should fix, not defend.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brief and let the tree do the work. Three things to say. One: the notebooks are numerically prefixed and committed with their outputs, so a reviewer can read the whole analysis on GitHub without running anything. Two: the team used actual branch-and-pull-request workflow with Conventional Commits, which is why we can attribute notebooks to people from the history rather than from memory. Three: the repository goes beyond notebooks — there is a Dash application over the same raw file that shares notebook 04's bin edges, so the app and the analysis cannot drift apart. If asked about the four contributors listed without a notebook: they are credited in the README author table, but the git history does not record notebook-level commits under those names, and we would rather say that than invent responsibilities.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 grid aloud — point at the columns. The framing that matters: everything on this slide is evidenced in the repository, which is why Excel and Streamlit are called out at the bottom as listed in the README but absent from the code. If someone asks what the most transferable skill was, the honest answer is not a library — it is the excess-attrition calculation and knowing to print a headcount next to every rate. Two small things worth knowing: pandas Styler is how the notebooks format their summary tables for readability, and scikit-learn appears in two places, scaling in notebook 03 and the model in notebook 10.</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columns, three different kinds of claim, and the distinction is the point. Left: what we measured. Middle: what a reader should do with it. Right: what we have not done — and predictive modelling belongs there, not in the findings, even though notebook 10 exists. If you have time for one next step, argue for stratification: until we know whether overtime still moves the rate inside a single level and tenure band, we cannot tell an HR team which lever to pull. Close on the red box: one snapshot, fictional data, associations only.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Anticipated questions and the short answers. Why is accuracy 86% but the model weak? Because 84% comes free from predicting nobody leaves — look at recall, 34%. Why not just use the correlations? Because the strongest is minus 0.171; grouped rates are the interpretable view. Is Sales Representative really the worst role? Highest rate, yes, on 83 people — Laboratory Technicians tie it on excess departures with 259 people, and that is the more actionable number. Does overtime cause attrition? Unknown and unknowable from this data: one snapshot, no experiment, and we never controlled for job level. Can we predict who will leave? Not responsibly from this work — and the project's own ethics rules keep protected attributes out of individual scoring, which the current model does not yet respect.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12191969" cy="8229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60120" y="1600200"/>
            <a:ext cx="10241280" cy="274320"/>
          </a:xfrm>
          <a:prstGeom prst="rect">
            <a:avLst/>
          </a:prstGeom>
          <a:noFill/>
        </p:spPr>
        <p:txBody>
          <a:bodyPr wrap="square" lIns="0" rIns="0" tIns="0" bIns="0" anchor="t">
            <a:spAutoFit/>
          </a:bodyPr>
          <a:lstStyle/>
          <a:p>
            <a:pPr algn="l">
              <a:lnSpc>
                <a:spcPct val="124000"/>
              </a:lnSpc>
              <a:spcAft>
                <a:spcPts val="0"/>
              </a:spcAft>
            </a:pPr>
            <a:r>
              <a:rPr sz="1100" b="1" i="0">
                <a:solidFill>
                  <a:srgbClr val="9EC5F4"/>
                </a:solidFill>
                <a:latin typeface="Segoe UI"/>
              </a:rPr>
              <a:t>NPOWER JUNIOR DATA ANALYST PROGRAM</a:t>
            </a:r>
          </a:p>
        </p:txBody>
      </p:sp>
      <p:sp>
        <p:nvSpPr>
          <p:cNvPr id="5" name="TextBox 4"/>
          <p:cNvSpPr txBox="1"/>
          <p:nvPr/>
        </p:nvSpPr>
        <p:spPr>
          <a:xfrm>
            <a:off x="960120" y="2029968"/>
            <a:ext cx="10241280" cy="1280160"/>
          </a:xfrm>
          <a:prstGeom prst="rect">
            <a:avLst/>
          </a:prstGeom>
          <a:noFill/>
        </p:spPr>
        <p:txBody>
          <a:bodyPr wrap="square" lIns="0" rIns="0" tIns="0" bIns="0" anchor="t">
            <a:spAutoFit/>
          </a:bodyPr>
          <a:lstStyle/>
          <a:p>
            <a:pPr algn="l">
              <a:lnSpc>
                <a:spcPct val="108000"/>
              </a:lnSpc>
              <a:spcAft>
                <a:spcPts val="0"/>
              </a:spcAft>
            </a:pPr>
            <a:r>
              <a:rPr sz="4200" b="1" i="0">
                <a:solidFill>
                  <a:srgbClr val="FFFFFF"/>
                </a:solidFill>
                <a:latin typeface="Segoe UI"/>
              </a:rPr>
              <a:t>IBM Employee Attrition
— Exploratory Data Analysis</a:t>
            </a:r>
          </a:p>
        </p:txBody>
      </p:sp>
      <p:sp>
        <p:nvSpPr>
          <p:cNvPr id="6" name="TextBox 5"/>
          <p:cNvSpPr txBox="1"/>
          <p:nvPr/>
        </p:nvSpPr>
        <p:spPr>
          <a:xfrm>
            <a:off x="960120" y="3584448"/>
            <a:ext cx="9509760" cy="402336"/>
          </a:xfrm>
          <a:prstGeom prst="rect">
            <a:avLst/>
          </a:prstGeom>
          <a:noFill/>
        </p:spPr>
        <p:txBody>
          <a:bodyPr wrap="square" lIns="0" rIns="0" tIns="0" bIns="0" anchor="t">
            <a:spAutoFit/>
          </a:bodyPr>
          <a:lstStyle/>
          <a:p>
            <a:pPr algn="l">
              <a:lnSpc>
                <a:spcPct val="124000"/>
              </a:lnSpc>
              <a:spcAft>
                <a:spcPts val="0"/>
              </a:spcAft>
            </a:pPr>
            <a:r>
              <a:rPr sz="1700" b="0" i="0">
                <a:solidFill>
                  <a:srgbClr val="CDE2FB"/>
                </a:solidFill>
                <a:latin typeface="Segoe UI"/>
              </a:rPr>
              <a:t>Understanding the Factors Associated with Employee Attrition</a:t>
            </a:r>
          </a:p>
        </p:txBody>
      </p:sp>
      <p:sp>
        <p:nvSpPr>
          <p:cNvPr id="7" name="Rectangle 6"/>
          <p:cNvSpPr/>
          <p:nvPr/>
        </p:nvSpPr>
        <p:spPr>
          <a:xfrm>
            <a:off x="960120" y="4224528"/>
            <a:ext cx="1280160" cy="2926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60120" y="4526280"/>
            <a:ext cx="10241280" cy="1005840"/>
          </a:xfrm>
          <a:prstGeom prst="rect">
            <a:avLst/>
          </a:prstGeom>
          <a:noFill/>
        </p:spPr>
        <p:txBody>
          <a:bodyPr wrap="square" lIns="0" rIns="0" tIns="0" bIns="0" anchor="t">
            <a:spAutoFit/>
          </a:bodyPr>
          <a:lstStyle/>
          <a:p>
            <a:pPr algn="l">
              <a:lnSpc>
                <a:spcPct val="170000"/>
              </a:lnSpc>
              <a:spcAft>
                <a:spcPts val="0"/>
              </a:spcAft>
            </a:pPr>
            <a:r>
              <a:rPr sz="1400" b="1" i="0">
                <a:solidFill>
                  <a:srgbClr val="FFFFFF"/>
                </a:solidFill>
                <a:latin typeface="Segoe UI"/>
              </a:rPr>
              <a:t>NPower JDA Cohort 2026  </a:t>
            </a:r>
            <a:r>
              <a:rPr sz="1400" b="0" i="0">
                <a:solidFill>
                  <a:srgbClr val="9EC5F4"/>
                </a:solidFill>
                <a:latin typeface="Segoe UI"/>
              </a:rPr>
              <a:t>·  8-person team project</a:t>
            </a:r>
          </a:p>
          <a:p>
            <a:pPr algn="l">
              <a:lnSpc>
                <a:spcPct val="170000"/>
              </a:lnSpc>
              <a:spcAft>
                <a:spcPts val="0"/>
              </a:spcAft>
            </a:pPr>
            <a:r>
              <a:rPr sz="1200" b="0" i="0">
                <a:solidFill>
                  <a:srgbClr val="86B6EF"/>
                </a:solidFill>
                <a:latin typeface="Consolas"/>
              </a:rPr>
              <a:t>github.com/NPower-JDA-Cohort-2026/ibm-analytics-attrition-eda</a:t>
            </a:r>
          </a:p>
        </p:txBody>
      </p:sp>
      <p:sp>
        <p:nvSpPr>
          <p:cNvPr id="9" name="TextBox 8"/>
          <p:cNvSpPr txBox="1"/>
          <p:nvPr/>
        </p:nvSpPr>
        <p:spPr>
          <a:xfrm>
            <a:off x="960120" y="5760720"/>
            <a:ext cx="10241280" cy="274320"/>
          </a:xfrm>
          <a:prstGeom prst="rect">
            <a:avLst/>
          </a:prstGeom>
          <a:noFill/>
        </p:spPr>
        <p:txBody>
          <a:bodyPr wrap="square" lIns="0" rIns="0" tIns="0" bIns="0" anchor="t">
            <a:spAutoFit/>
          </a:bodyPr>
          <a:lstStyle/>
          <a:p>
            <a:pPr algn="l">
              <a:lnSpc>
                <a:spcPct val="124000"/>
              </a:lnSpc>
              <a:spcAft>
                <a:spcPts val="0"/>
              </a:spcAft>
            </a:pPr>
            <a:r>
              <a:rPr sz="1200" b="0" i="0">
                <a:solidFill>
                  <a:srgbClr val="86B6EF"/>
                </a:solidFill>
                <a:latin typeface="Segoe UI"/>
              </a:rPr>
              <a:t>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8113" cy="219456"/>
          </a:xfrm>
          <a:prstGeom prst="rect">
            <a:avLst/>
          </a:prstGeom>
          <a:noFill/>
        </p:spPr>
        <p:txBody>
          <a:bodyPr wrap="square" lIns="0" rIns="0" tIns="0" bIns="0" anchor="t">
            <a:spAutoFit/>
          </a:bodyPr>
          <a:lstStyle/>
          <a:p>
            <a:pPr algn="l">
              <a:lnSpc>
                <a:spcPct val="124000"/>
              </a:lnSpc>
              <a:spcAft>
                <a:spcPts val="0"/>
              </a:spcAft>
            </a:pPr>
            <a:r>
              <a:rPr sz="950" b="1" i="0">
                <a:solidFill>
                  <a:srgbClr val="2A78D6"/>
                </a:solidFill>
                <a:latin typeface="Segoe UI"/>
              </a:rPr>
              <a:t>PROJECT INTRODUCTION</a:t>
            </a:r>
          </a:p>
        </p:txBody>
      </p:sp>
      <p:sp>
        <p:nvSpPr>
          <p:cNvPr id="3" name="TextBox 2"/>
          <p:cNvSpPr txBox="1"/>
          <p:nvPr/>
        </p:nvSpPr>
        <p:spPr>
          <a:xfrm>
            <a:off x="566928" y="603504"/>
            <a:ext cx="11058113" cy="475488"/>
          </a:xfrm>
          <a:prstGeom prst="rect">
            <a:avLst/>
          </a:prstGeom>
          <a:noFill/>
        </p:spPr>
        <p:txBody>
          <a:bodyPr wrap="square" lIns="0" rIns="0" tIns="0" bIns="0" anchor="t">
            <a:spAutoFit/>
          </a:bodyPr>
          <a:lstStyle/>
          <a:p>
            <a:pPr algn="l">
              <a:lnSpc>
                <a:spcPct val="124000"/>
              </a:lnSpc>
              <a:spcAft>
                <a:spcPts val="0"/>
              </a:spcAft>
            </a:pPr>
            <a:r>
              <a:rPr sz="2500" b="1" i="0">
                <a:solidFill>
                  <a:srgbClr val="0B0B0B"/>
                </a:solidFill>
                <a:latin typeface="Segoe UI"/>
              </a:rPr>
              <a:t>Why attrition analysis</a:t>
            </a:r>
          </a:p>
        </p:txBody>
      </p:sp>
      <p:sp>
        <p:nvSpPr>
          <p:cNvPr id="4" name="Rectangle 3"/>
          <p:cNvSpPr/>
          <p:nvPr/>
        </p:nvSpPr>
        <p:spPr>
          <a:xfrm>
            <a:off x="566928" y="1152144"/>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66928" y="1389888"/>
            <a:ext cx="5989320" cy="3108960"/>
          </a:xfrm>
          <a:prstGeom prst="rect">
            <a:avLst/>
          </a:prstGeom>
          <a:noFill/>
        </p:spPr>
        <p:txBody>
          <a:bodyPr wrap="square" lIns="0" rIns="0" tIns="0" bIns="0" anchor="t">
            <a:spAutoFit/>
          </a:bodyPr>
          <a:lstStyle/>
          <a:p>
            <a:pPr algn="l">
              <a:lnSpc>
                <a:spcPct val="130000"/>
              </a:lnSpc>
              <a:spcAft>
                <a:spcPts val="1100"/>
              </a:spcAft>
            </a:pPr>
            <a:r>
              <a:rPr sz="1350" b="1" i="0">
                <a:solidFill>
                  <a:srgbClr val="0B0B0B"/>
                </a:solidFill>
                <a:latin typeface="Segoe UI"/>
              </a:rPr>
              <a:t>What attrition means</a:t>
            </a:r>
          </a:p>
          <a:p>
            <a:pPr algn="l">
              <a:lnSpc>
                <a:spcPct val="130000"/>
              </a:lnSpc>
              <a:spcAft>
                <a:spcPts val="1100"/>
              </a:spcAft>
            </a:pPr>
            <a:r>
              <a:rPr sz="1200" b="0" i="0">
                <a:solidFill>
                  <a:srgbClr val="52514E"/>
                </a:solidFill>
                <a:latin typeface="Segoe UI"/>
              </a:rPr>
              <a:t>Attrition is the loss of employees from an organisation — in this dataset, one column with two values: whether an employee has left (Yes) or is still employed (No).</a:t>
            </a:r>
          </a:p>
          <a:p>
            <a:pPr algn="l">
              <a:lnSpc>
                <a:spcPct val="130000"/>
              </a:lnSpc>
              <a:spcAft>
                <a:spcPts val="1100"/>
              </a:spcAft>
            </a:pPr>
            <a:r>
              <a:rPr sz="1350" b="1" i="0">
                <a:solidFill>
                  <a:srgbClr val="0B0B0B"/>
                </a:solidFill>
                <a:latin typeface="Segoe UI"/>
              </a:rPr>
              <a:t>Why it matters</a:t>
            </a:r>
          </a:p>
          <a:p>
            <a:pPr algn="l">
              <a:lnSpc>
                <a:spcPct val="130000"/>
              </a:lnSpc>
              <a:spcAft>
                <a:spcPts val="1100"/>
              </a:spcAft>
            </a:pPr>
            <a:r>
              <a:rPr sz="1200" b="0" i="0">
                <a:solidFill>
                  <a:srgbClr val="52514E"/>
                </a:solidFill>
                <a:latin typeface="Segoe UI"/>
              </a:rPr>
              <a:t>Replacing a mid-level employee costs a meaningful multiple of their salary once recruiting, onboarding, lost productivity and institutional knowledge are counted. The signals that precede a resignation usually already sit in HR data that nobody has cross-tabulated.</a:t>
            </a:r>
          </a:p>
        </p:txBody>
      </p:sp>
      <p:sp>
        <p:nvSpPr>
          <p:cNvPr id="6" name="Rectangle 5"/>
          <p:cNvSpPr/>
          <p:nvPr/>
        </p:nvSpPr>
        <p:spPr>
          <a:xfrm>
            <a:off x="566928" y="4956048"/>
            <a:ext cx="5989320" cy="1170432"/>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66928" y="4956048"/>
            <a:ext cx="41148" cy="1170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86384" y="5093208"/>
            <a:ext cx="5586983" cy="219456"/>
          </a:xfrm>
          <a:prstGeom prst="rect">
            <a:avLst/>
          </a:prstGeom>
          <a:noFill/>
        </p:spPr>
        <p:txBody>
          <a:bodyPr wrap="square" lIns="0" rIns="0" tIns="0" bIns="0" anchor="t">
            <a:spAutoFit/>
          </a:bodyPr>
          <a:lstStyle/>
          <a:p>
            <a:pPr algn="l">
              <a:lnSpc>
                <a:spcPct val="124000"/>
              </a:lnSpc>
              <a:spcAft>
                <a:spcPts val="0"/>
              </a:spcAft>
            </a:pPr>
            <a:r>
              <a:rPr sz="850" b="1" i="0">
                <a:solidFill>
                  <a:srgbClr val="2A78D6"/>
                </a:solidFill>
                <a:latin typeface="Segoe UI"/>
              </a:rPr>
              <a:t>OUR GOAL</a:t>
            </a:r>
          </a:p>
        </p:txBody>
      </p:sp>
      <p:sp>
        <p:nvSpPr>
          <p:cNvPr id="9" name="TextBox 8"/>
          <p:cNvSpPr txBox="1"/>
          <p:nvPr/>
        </p:nvSpPr>
        <p:spPr>
          <a:xfrm>
            <a:off x="786384" y="5340096"/>
            <a:ext cx="5586983" cy="676656"/>
          </a:xfrm>
          <a:prstGeom prst="rect">
            <a:avLst/>
          </a:prstGeom>
          <a:noFill/>
        </p:spPr>
        <p:txBody>
          <a:bodyPr wrap="square" lIns="0" rIns="0" tIns="0" bIns="0" anchor="t">
            <a:spAutoFit/>
          </a:bodyPr>
          <a:lstStyle/>
          <a:p>
            <a:pPr algn="l">
              <a:lnSpc>
                <a:spcPct val="126000"/>
              </a:lnSpc>
              <a:spcAft>
                <a:spcPts val="0"/>
              </a:spcAft>
            </a:pPr>
            <a:r>
              <a:rPr sz="1150" b="0" i="0">
                <a:solidFill>
                  <a:srgbClr val="0B0B0B"/>
                </a:solidFill>
                <a:latin typeface="Segoe UI"/>
              </a:rPr>
              <a:t>Not “can we guess who quits” but “which conditions are over-represented among leavers, by how much, and is the gap large enough to act on.”</a:t>
            </a:r>
          </a:p>
        </p:txBody>
      </p:sp>
      <p:sp>
        <p:nvSpPr>
          <p:cNvPr id="10" name="TextBox 9"/>
          <p:cNvSpPr txBox="1"/>
          <p:nvPr/>
        </p:nvSpPr>
        <p:spPr>
          <a:xfrm>
            <a:off x="6922008" y="1389888"/>
            <a:ext cx="4703033" cy="274320"/>
          </a:xfrm>
          <a:prstGeom prst="rect">
            <a:avLst/>
          </a:prstGeom>
          <a:noFill/>
        </p:spPr>
        <p:txBody>
          <a:bodyPr wrap="square" lIns="0" rIns="0" tIns="0" bIns="0" anchor="t">
            <a:spAutoFit/>
          </a:bodyPr>
          <a:lstStyle/>
          <a:p>
            <a:pPr algn="l">
              <a:lnSpc>
                <a:spcPct val="124000"/>
              </a:lnSpc>
              <a:spcAft>
                <a:spcPts val="0"/>
              </a:spcAft>
            </a:pPr>
            <a:r>
              <a:rPr sz="1250" b="1" i="0">
                <a:solidFill>
                  <a:srgbClr val="0B0B0B"/>
                </a:solidFill>
                <a:latin typeface="Segoe UI"/>
              </a:rPr>
              <a:t>The five question groups the project set out to answer</a:t>
            </a:r>
          </a:p>
        </p:txBody>
      </p:sp>
      <p:sp>
        <p:nvSpPr>
          <p:cNvPr id="11" name="TextBox 10"/>
          <p:cNvSpPr txBox="1"/>
          <p:nvPr/>
        </p:nvSpPr>
        <p:spPr>
          <a:xfrm>
            <a:off x="6922008" y="1773936"/>
            <a:ext cx="4703033" cy="2834640"/>
          </a:xfrm>
          <a:prstGeom prst="rect">
            <a:avLst/>
          </a:prstGeom>
          <a:noFill/>
        </p:spPr>
        <p:txBody>
          <a:bodyPr wrap="square" lIns="0" rIns="0" tIns="0" bIns="0" anchor="t">
            <a:spAutoFit/>
          </a:bodyPr>
          <a:lstStyle/>
          <a:p>
            <a:pPr algn="l">
              <a:lnSpc>
                <a:spcPct val="122000"/>
              </a:lnSpc>
              <a:spcAft>
                <a:spcPts val="900"/>
              </a:spcAft>
            </a:pPr>
            <a:r>
              <a:rPr sz="1100" b="1" i="0">
                <a:solidFill>
                  <a:srgbClr val="2A78D6"/>
                </a:solidFill>
                <a:latin typeface="Segoe UI"/>
              </a:rPr>
              <a:t>•  </a:t>
            </a:r>
            <a:r>
              <a:rPr sz="1100" b="1" i="0">
                <a:solidFill>
                  <a:srgbClr val="0B0B0B"/>
                </a:solidFill>
                <a:latin typeface="Segoe UI"/>
              </a:rPr>
              <a:t>Concentration  </a:t>
            </a:r>
            <a:r>
              <a:rPr sz="1100" b="0" i="0">
                <a:solidFill>
                  <a:srgbClr val="52514E"/>
                </a:solidFill>
                <a:latin typeface="Segoe UI"/>
              </a:rPr>
              <a:t>Which roles, departments and levels exceed the baseline — and by enough to matter given headcount?</a:t>
            </a:r>
          </a:p>
          <a:p>
            <a:pPr algn="l">
              <a:lnSpc>
                <a:spcPct val="122000"/>
              </a:lnSpc>
              <a:spcAft>
                <a:spcPts val="900"/>
              </a:spcAft>
            </a:pPr>
            <a:r>
              <a:rPr sz="1100" b="1" i="0">
                <a:solidFill>
                  <a:srgbClr val="2A78D6"/>
                </a:solidFill>
                <a:latin typeface="Segoe UI"/>
              </a:rPr>
              <a:t>•  </a:t>
            </a:r>
            <a:r>
              <a:rPr sz="1100" b="1" i="0">
                <a:solidFill>
                  <a:srgbClr val="0B0B0B"/>
                </a:solidFill>
                <a:latin typeface="Segoe UI"/>
              </a:rPr>
              <a:t>Timing  </a:t>
            </a:r>
            <a:r>
              <a:rPr sz="1100" b="0" i="0">
                <a:solidFill>
                  <a:srgbClr val="52514E"/>
                </a:solidFill>
                <a:latin typeface="Segoe UI"/>
              </a:rPr>
              <a:t>Is attrition an early-tenure phenomenon, a mid-career one, or both?</a:t>
            </a:r>
          </a:p>
          <a:p>
            <a:pPr algn="l">
              <a:lnSpc>
                <a:spcPct val="122000"/>
              </a:lnSpc>
              <a:spcAft>
                <a:spcPts val="900"/>
              </a:spcAft>
            </a:pPr>
            <a:r>
              <a:rPr sz="1100" b="1" i="0">
                <a:solidFill>
                  <a:srgbClr val="2A78D6"/>
                </a:solidFill>
                <a:latin typeface="Segoe UI"/>
              </a:rPr>
              <a:t>•  </a:t>
            </a:r>
            <a:r>
              <a:rPr sz="1100" b="1" i="0">
                <a:solidFill>
                  <a:srgbClr val="0B0B0B"/>
                </a:solidFill>
                <a:latin typeface="Segoe UI"/>
              </a:rPr>
              <a:t>Conditions  </a:t>
            </a:r>
            <a:r>
              <a:rPr sz="1100" b="0" i="0">
                <a:solidFill>
                  <a:srgbClr val="52514E"/>
                </a:solidFill>
                <a:latin typeface="Segoe UI"/>
              </a:rPr>
              <a:t>Does overtime, travel, commute or promotion stagnation move the rate?</a:t>
            </a:r>
          </a:p>
          <a:p>
            <a:pPr algn="l">
              <a:lnSpc>
                <a:spcPct val="122000"/>
              </a:lnSpc>
              <a:spcAft>
                <a:spcPts val="900"/>
              </a:spcAft>
            </a:pPr>
            <a:r>
              <a:rPr sz="1100" b="1" i="0">
                <a:solidFill>
                  <a:srgbClr val="2A78D6"/>
                </a:solidFill>
                <a:latin typeface="Segoe UI"/>
              </a:rPr>
              <a:t>•  </a:t>
            </a:r>
            <a:r>
              <a:rPr sz="1100" b="1" i="0">
                <a:solidFill>
                  <a:srgbClr val="0B0B0B"/>
                </a:solidFill>
                <a:latin typeface="Segoe UI"/>
              </a:rPr>
              <a:t>Compensation  </a:t>
            </a:r>
            <a:r>
              <a:rPr sz="1100" b="0" i="0">
                <a:solidFill>
                  <a:srgbClr val="52514E"/>
                </a:solidFill>
                <a:latin typeface="Segoe UI"/>
              </a:rPr>
              <a:t>Do leavers earn less than stayers? Do stock options behave like a lever?</a:t>
            </a:r>
          </a:p>
          <a:p>
            <a:pPr algn="l">
              <a:lnSpc>
                <a:spcPct val="122000"/>
              </a:lnSpc>
              <a:spcAft>
                <a:spcPts val="900"/>
              </a:spcAft>
            </a:pPr>
            <a:r>
              <a:rPr sz="1100" b="1" i="0">
                <a:solidFill>
                  <a:srgbClr val="2A78D6"/>
                </a:solidFill>
                <a:latin typeface="Segoe UI"/>
              </a:rPr>
              <a:t>•  </a:t>
            </a:r>
            <a:r>
              <a:rPr sz="1100" b="1" i="0">
                <a:solidFill>
                  <a:srgbClr val="0B0B0B"/>
                </a:solidFill>
                <a:latin typeface="Segoe UI"/>
              </a:rPr>
              <a:t>Sentiment  </a:t>
            </a:r>
            <a:r>
              <a:rPr sz="1100" b="0" i="0">
                <a:solidFill>
                  <a:srgbClr val="52514E"/>
                </a:solidFill>
                <a:latin typeface="Segoe UI"/>
              </a:rPr>
              <a:t>Which satisfaction dimension separates leavers from stayers most cleanly?</a:t>
            </a:r>
          </a:p>
        </p:txBody>
      </p:sp>
      <p:sp>
        <p:nvSpPr>
          <p:cNvPr id="12" name="Rectangle 11"/>
          <p:cNvSpPr/>
          <p:nvPr/>
        </p:nvSpPr>
        <p:spPr>
          <a:xfrm>
            <a:off x="6922008" y="4956048"/>
            <a:ext cx="4703033" cy="1170432"/>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922008" y="4956048"/>
            <a:ext cx="41148" cy="1170432"/>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141464" y="5093208"/>
            <a:ext cx="4300697" cy="219456"/>
          </a:xfrm>
          <a:prstGeom prst="rect">
            <a:avLst/>
          </a:prstGeom>
          <a:noFill/>
        </p:spPr>
        <p:txBody>
          <a:bodyPr wrap="square" lIns="0" rIns="0" tIns="0" bIns="0" anchor="t">
            <a:spAutoFit/>
          </a:bodyPr>
          <a:lstStyle/>
          <a:p>
            <a:pPr algn="l">
              <a:lnSpc>
                <a:spcPct val="124000"/>
              </a:lnSpc>
              <a:spcAft>
                <a:spcPts val="0"/>
              </a:spcAft>
            </a:pPr>
            <a:r>
              <a:rPr sz="850" b="1" i="0">
                <a:solidFill>
                  <a:srgbClr val="E34948"/>
                </a:solidFill>
                <a:latin typeface="Segoe UI"/>
              </a:rPr>
              <a:t>FRAMING</a:t>
            </a:r>
          </a:p>
        </p:txBody>
      </p:sp>
      <p:sp>
        <p:nvSpPr>
          <p:cNvPr id="15" name="TextBox 14"/>
          <p:cNvSpPr txBox="1"/>
          <p:nvPr/>
        </p:nvSpPr>
        <p:spPr>
          <a:xfrm>
            <a:off x="7141464" y="5340096"/>
            <a:ext cx="4300697" cy="676656"/>
          </a:xfrm>
          <a:prstGeom prst="rect">
            <a:avLst/>
          </a:prstGeom>
          <a:noFill/>
        </p:spPr>
        <p:txBody>
          <a:bodyPr wrap="square" lIns="0" rIns="0" tIns="0" bIns="0" anchor="t">
            <a:spAutoFit/>
          </a:bodyPr>
          <a:lstStyle/>
          <a:p>
            <a:pPr algn="l">
              <a:lnSpc>
                <a:spcPct val="126000"/>
              </a:lnSpc>
              <a:spcAft>
                <a:spcPts val="0"/>
              </a:spcAft>
            </a:pPr>
            <a:r>
              <a:rPr sz="1150" b="0" i="0">
                <a:solidFill>
                  <a:srgbClr val="0B0B0B"/>
                </a:solidFill>
                <a:latin typeface="Segoe UI"/>
              </a:rPr>
              <a:t>Diagnostic, not predictive. With one cross-sectional snapshot and no experiment, the honest ceiling is “this condition is over-represented among leavers by n percentage points.”</a:t>
            </a:r>
          </a:p>
        </p:txBody>
      </p:sp>
      <p:sp>
        <p:nvSpPr>
          <p:cNvPr id="16" name="Rectangle 15"/>
          <p:cNvSpPr/>
          <p:nvPr/>
        </p:nvSpPr>
        <p:spPr>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66928" y="6455664"/>
            <a:ext cx="7961841" cy="219456"/>
          </a:xfrm>
          <a:prstGeom prst="rect">
            <a:avLst/>
          </a:prstGeom>
          <a:noFill/>
        </p:spPr>
        <p:txBody>
          <a:bodyPr wrap="square" lIns="0" rIns="0" tIns="0" bIns="0" anchor="t">
            <a:spAutoFit/>
          </a:bodyPr>
          <a:lstStyle/>
          <a:p>
            <a:pPr algn="l">
              <a:lnSpc>
                <a:spcPct val="124000"/>
              </a:lnSpc>
              <a:spcAft>
                <a:spcPts val="0"/>
              </a:spcAft>
            </a:pPr>
            <a:r>
              <a:rPr sz="850" b="0" i="0">
                <a:solidFill>
                  <a:srgbClr val="898781"/>
                </a:solidFill>
                <a:latin typeface="Segoe UI"/>
              </a:rPr>
              <a:t>README.md · Overview and Analysis Questions</a:t>
            </a:r>
          </a:p>
        </p:txBody>
      </p:sp>
      <p:sp>
        <p:nvSpPr>
          <p:cNvPr id="18" name="TextBox 17"/>
          <p:cNvSpPr txBox="1"/>
          <p:nvPr/>
        </p:nvSpPr>
        <p:spPr>
          <a:xfrm>
            <a:off x="8749932" y="6455664"/>
            <a:ext cx="2875109" cy="219456"/>
          </a:xfrm>
          <a:prstGeom prst="rect">
            <a:avLst/>
          </a:prstGeom>
          <a:noFill/>
        </p:spPr>
        <p:txBody>
          <a:bodyPr wrap="square" lIns="0" rIns="0" tIns="0" bIns="0" anchor="t">
            <a:spAutoFit/>
          </a:bodyPr>
          <a:lstStyle/>
          <a:p>
            <a:pPr algn="r">
              <a:lnSpc>
                <a:spcPct val="124000"/>
              </a:lnSpc>
              <a:spcAft>
                <a:spcPts val="0"/>
              </a:spcAft>
            </a:pPr>
            <a:r>
              <a:rPr sz="850" b="0" i="0">
                <a:solidFill>
                  <a:srgbClr val="898781"/>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8113" cy="219456"/>
          </a:xfrm>
          <a:prstGeom prst="rect">
            <a:avLst/>
          </a:prstGeom>
          <a:noFill/>
        </p:spPr>
        <p:txBody>
          <a:bodyPr wrap="square" lIns="0" rIns="0" tIns="0" bIns="0" anchor="t">
            <a:spAutoFit/>
          </a:bodyPr>
          <a:lstStyle/>
          <a:p>
            <a:pPr algn="l">
              <a:lnSpc>
                <a:spcPct val="124000"/>
              </a:lnSpc>
              <a:spcAft>
                <a:spcPts val="0"/>
              </a:spcAft>
            </a:pPr>
            <a:r>
              <a:rPr sz="950" b="1" i="0">
                <a:solidFill>
                  <a:srgbClr val="2A78D6"/>
                </a:solidFill>
                <a:latin typeface="Segoe UI"/>
              </a:rPr>
              <a:t>DATASET OVERVIEW</a:t>
            </a:r>
          </a:p>
        </p:txBody>
      </p:sp>
      <p:sp>
        <p:nvSpPr>
          <p:cNvPr id="3" name="TextBox 2"/>
          <p:cNvSpPr txBox="1"/>
          <p:nvPr/>
        </p:nvSpPr>
        <p:spPr>
          <a:xfrm>
            <a:off x="566928" y="603504"/>
            <a:ext cx="11058113" cy="475488"/>
          </a:xfrm>
          <a:prstGeom prst="rect">
            <a:avLst/>
          </a:prstGeom>
          <a:noFill/>
        </p:spPr>
        <p:txBody>
          <a:bodyPr wrap="square" lIns="0" rIns="0" tIns="0" bIns="0" anchor="t">
            <a:spAutoFit/>
          </a:bodyPr>
          <a:lstStyle/>
          <a:p>
            <a:pPr algn="l">
              <a:lnSpc>
                <a:spcPct val="124000"/>
              </a:lnSpc>
              <a:spcAft>
                <a:spcPts val="0"/>
              </a:spcAft>
            </a:pPr>
            <a:r>
              <a:rPr sz="2500" b="1" i="0">
                <a:solidFill>
                  <a:srgbClr val="0B0B0B"/>
                </a:solidFill>
                <a:latin typeface="Segoe UI"/>
              </a:rPr>
              <a:t>IBM HR Analytics Employee Attrition dataset</a:t>
            </a:r>
          </a:p>
        </p:txBody>
      </p:sp>
      <p:sp>
        <p:nvSpPr>
          <p:cNvPr id="4" name="Rectangle 3"/>
          <p:cNvSpPr/>
          <p:nvPr/>
        </p:nvSpPr>
        <p:spPr>
          <a:xfrm>
            <a:off x="566928" y="1152144"/>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566928" y="1389888"/>
            <a:ext cx="2599936" cy="11887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66928" y="1389888"/>
            <a:ext cx="41148" cy="11887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04672" y="1545336"/>
            <a:ext cx="2197600" cy="475488"/>
          </a:xfrm>
          <a:prstGeom prst="rect">
            <a:avLst/>
          </a:prstGeom>
          <a:noFill/>
        </p:spPr>
        <p:txBody>
          <a:bodyPr wrap="square" lIns="0" rIns="0" tIns="0" bIns="0" anchor="t">
            <a:spAutoFit/>
          </a:bodyPr>
          <a:lstStyle/>
          <a:p>
            <a:pPr algn="l">
              <a:lnSpc>
                <a:spcPct val="124000"/>
              </a:lnSpc>
              <a:spcAft>
                <a:spcPts val="0"/>
              </a:spcAft>
            </a:pPr>
            <a:r>
              <a:rPr sz="2900" b="1" i="0">
                <a:solidFill>
                  <a:srgbClr val="0B0B0B"/>
                </a:solidFill>
                <a:latin typeface="Segoe UI"/>
              </a:rPr>
              <a:t>1,470</a:t>
            </a:r>
          </a:p>
        </p:txBody>
      </p:sp>
      <p:sp>
        <p:nvSpPr>
          <p:cNvPr id="8" name="TextBox 7"/>
          <p:cNvSpPr txBox="1"/>
          <p:nvPr/>
        </p:nvSpPr>
        <p:spPr>
          <a:xfrm>
            <a:off x="804672" y="2048256"/>
            <a:ext cx="2197600" cy="219456"/>
          </a:xfrm>
          <a:prstGeom prst="rect">
            <a:avLst/>
          </a:prstGeom>
          <a:noFill/>
        </p:spPr>
        <p:txBody>
          <a:bodyPr wrap="square" lIns="0" rIns="0" tIns="0" bIns="0" anchor="t">
            <a:spAutoFit/>
          </a:bodyPr>
          <a:lstStyle/>
          <a:p>
            <a:pPr algn="l">
              <a:lnSpc>
                <a:spcPct val="124000"/>
              </a:lnSpc>
              <a:spcAft>
                <a:spcPts val="0"/>
              </a:spcAft>
            </a:pPr>
            <a:r>
              <a:rPr sz="1050" b="1" i="0">
                <a:solidFill>
                  <a:srgbClr val="52514E"/>
                </a:solidFill>
                <a:latin typeface="Segoe UI"/>
              </a:rPr>
              <a:t>Employee records</a:t>
            </a:r>
          </a:p>
        </p:txBody>
      </p:sp>
      <p:sp>
        <p:nvSpPr>
          <p:cNvPr id="9" name="TextBox 8"/>
          <p:cNvSpPr txBox="1"/>
          <p:nvPr/>
        </p:nvSpPr>
        <p:spPr>
          <a:xfrm>
            <a:off x="804672" y="2286000"/>
            <a:ext cx="2197600" cy="237744"/>
          </a:xfrm>
          <a:prstGeom prst="rect">
            <a:avLst/>
          </a:prstGeom>
          <a:noFill/>
        </p:spPr>
        <p:txBody>
          <a:bodyPr wrap="square" lIns="0" rIns="0" tIns="0" bIns="0" anchor="t">
            <a:spAutoFit/>
          </a:bodyPr>
          <a:lstStyle/>
          <a:p>
            <a:pPr algn="l">
              <a:lnSpc>
                <a:spcPct val="124000"/>
              </a:lnSpc>
              <a:spcAft>
                <a:spcPts val="0"/>
              </a:spcAft>
            </a:pPr>
            <a:r>
              <a:rPr sz="850" b="0" i="0">
                <a:solidFill>
                  <a:srgbClr val="898781"/>
                </a:solidFill>
                <a:latin typeface="Segoe UI"/>
              </a:rPr>
              <a:t>One row per employee</a:t>
            </a:r>
          </a:p>
        </p:txBody>
      </p:sp>
      <p:sp>
        <p:nvSpPr>
          <p:cNvPr id="10" name="Rectangle 9"/>
          <p:cNvSpPr/>
          <p:nvPr/>
        </p:nvSpPr>
        <p:spPr>
          <a:xfrm>
            <a:off x="3386320" y="1389888"/>
            <a:ext cx="2599936" cy="11887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386320" y="1389888"/>
            <a:ext cx="41148" cy="11887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624064" y="1545336"/>
            <a:ext cx="2197600" cy="475488"/>
          </a:xfrm>
          <a:prstGeom prst="rect">
            <a:avLst/>
          </a:prstGeom>
          <a:noFill/>
        </p:spPr>
        <p:txBody>
          <a:bodyPr wrap="square" lIns="0" rIns="0" tIns="0" bIns="0" anchor="t">
            <a:spAutoFit/>
          </a:bodyPr>
          <a:lstStyle/>
          <a:p>
            <a:pPr algn="l">
              <a:lnSpc>
                <a:spcPct val="124000"/>
              </a:lnSpc>
              <a:spcAft>
                <a:spcPts val="0"/>
              </a:spcAft>
            </a:pPr>
            <a:r>
              <a:rPr sz="2900" b="1" i="0">
                <a:solidFill>
                  <a:srgbClr val="0B0B0B"/>
                </a:solidFill>
                <a:latin typeface="Segoe UI"/>
              </a:rPr>
              <a:t>35</a:t>
            </a:r>
          </a:p>
        </p:txBody>
      </p:sp>
      <p:sp>
        <p:nvSpPr>
          <p:cNvPr id="13" name="TextBox 12"/>
          <p:cNvSpPr txBox="1"/>
          <p:nvPr/>
        </p:nvSpPr>
        <p:spPr>
          <a:xfrm>
            <a:off x="3624064" y="2048256"/>
            <a:ext cx="2197600" cy="219456"/>
          </a:xfrm>
          <a:prstGeom prst="rect">
            <a:avLst/>
          </a:prstGeom>
          <a:noFill/>
        </p:spPr>
        <p:txBody>
          <a:bodyPr wrap="square" lIns="0" rIns="0" tIns="0" bIns="0" anchor="t">
            <a:spAutoFit/>
          </a:bodyPr>
          <a:lstStyle/>
          <a:p>
            <a:pPr algn="l">
              <a:lnSpc>
                <a:spcPct val="124000"/>
              </a:lnSpc>
              <a:spcAft>
                <a:spcPts val="0"/>
              </a:spcAft>
            </a:pPr>
            <a:r>
              <a:rPr sz="1050" b="1" i="0">
                <a:solidFill>
                  <a:srgbClr val="52514E"/>
                </a:solidFill>
                <a:latin typeface="Segoe UI"/>
              </a:rPr>
              <a:t>Columns</a:t>
            </a:r>
          </a:p>
        </p:txBody>
      </p:sp>
      <p:sp>
        <p:nvSpPr>
          <p:cNvPr id="14" name="TextBox 13"/>
          <p:cNvSpPr txBox="1"/>
          <p:nvPr/>
        </p:nvSpPr>
        <p:spPr>
          <a:xfrm>
            <a:off x="3624064" y="2286000"/>
            <a:ext cx="2197600" cy="237744"/>
          </a:xfrm>
          <a:prstGeom prst="rect">
            <a:avLst/>
          </a:prstGeom>
          <a:noFill/>
        </p:spPr>
        <p:txBody>
          <a:bodyPr wrap="square" lIns="0" rIns="0" tIns="0" bIns="0" anchor="t">
            <a:spAutoFit/>
          </a:bodyPr>
          <a:lstStyle/>
          <a:p>
            <a:pPr algn="l">
              <a:lnSpc>
                <a:spcPct val="124000"/>
              </a:lnSpc>
              <a:spcAft>
                <a:spcPts val="0"/>
              </a:spcAft>
            </a:pPr>
            <a:r>
              <a:rPr sz="850" b="0" i="0">
                <a:solidFill>
                  <a:srgbClr val="898781"/>
                </a:solidFill>
                <a:latin typeface="Segoe UI"/>
              </a:rPr>
              <a:t>26 numeric · 9 text</a:t>
            </a:r>
          </a:p>
        </p:txBody>
      </p:sp>
      <p:sp>
        <p:nvSpPr>
          <p:cNvPr id="15" name="Rectangle 14"/>
          <p:cNvSpPr/>
          <p:nvPr/>
        </p:nvSpPr>
        <p:spPr>
          <a:xfrm>
            <a:off x="6205712" y="1389888"/>
            <a:ext cx="2599936" cy="11887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205712" y="1389888"/>
            <a:ext cx="41148" cy="11887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43456" y="1545336"/>
            <a:ext cx="2197600" cy="475488"/>
          </a:xfrm>
          <a:prstGeom prst="rect">
            <a:avLst/>
          </a:prstGeom>
          <a:noFill/>
        </p:spPr>
        <p:txBody>
          <a:bodyPr wrap="square" lIns="0" rIns="0" tIns="0" bIns="0" anchor="t">
            <a:spAutoFit/>
          </a:bodyPr>
          <a:lstStyle/>
          <a:p>
            <a:pPr algn="l">
              <a:lnSpc>
                <a:spcPct val="124000"/>
              </a:lnSpc>
              <a:spcAft>
                <a:spcPts val="0"/>
              </a:spcAft>
            </a:pPr>
            <a:r>
              <a:rPr sz="2900" b="1" i="0">
                <a:solidFill>
                  <a:srgbClr val="0B0B0B"/>
                </a:solidFill>
                <a:latin typeface="Segoe UI"/>
              </a:rPr>
              <a:t>16.1%</a:t>
            </a:r>
          </a:p>
        </p:txBody>
      </p:sp>
      <p:sp>
        <p:nvSpPr>
          <p:cNvPr id="18" name="TextBox 17"/>
          <p:cNvSpPr txBox="1"/>
          <p:nvPr/>
        </p:nvSpPr>
        <p:spPr>
          <a:xfrm>
            <a:off x="6443456" y="2048256"/>
            <a:ext cx="2197600" cy="219456"/>
          </a:xfrm>
          <a:prstGeom prst="rect">
            <a:avLst/>
          </a:prstGeom>
          <a:noFill/>
        </p:spPr>
        <p:txBody>
          <a:bodyPr wrap="square" lIns="0" rIns="0" tIns="0" bIns="0" anchor="t">
            <a:spAutoFit/>
          </a:bodyPr>
          <a:lstStyle/>
          <a:p>
            <a:pPr algn="l">
              <a:lnSpc>
                <a:spcPct val="124000"/>
              </a:lnSpc>
              <a:spcAft>
                <a:spcPts val="0"/>
              </a:spcAft>
            </a:pPr>
            <a:r>
              <a:rPr sz="1050" b="1" i="0">
                <a:solidFill>
                  <a:srgbClr val="52514E"/>
                </a:solidFill>
                <a:latin typeface="Segoe UI"/>
              </a:rPr>
              <a:t>Overall attrition</a:t>
            </a:r>
          </a:p>
        </p:txBody>
      </p:sp>
      <p:sp>
        <p:nvSpPr>
          <p:cNvPr id="19" name="TextBox 18"/>
          <p:cNvSpPr txBox="1"/>
          <p:nvPr/>
        </p:nvSpPr>
        <p:spPr>
          <a:xfrm>
            <a:off x="6443456" y="2286000"/>
            <a:ext cx="2197600" cy="237744"/>
          </a:xfrm>
          <a:prstGeom prst="rect">
            <a:avLst/>
          </a:prstGeom>
          <a:noFill/>
        </p:spPr>
        <p:txBody>
          <a:bodyPr wrap="square" lIns="0" rIns="0" tIns="0" bIns="0" anchor="t">
            <a:spAutoFit/>
          </a:bodyPr>
          <a:lstStyle/>
          <a:p>
            <a:pPr algn="l">
              <a:lnSpc>
                <a:spcPct val="124000"/>
              </a:lnSpc>
              <a:spcAft>
                <a:spcPts val="0"/>
              </a:spcAft>
            </a:pPr>
            <a:r>
              <a:rPr sz="850" b="0" i="0">
                <a:solidFill>
                  <a:srgbClr val="898781"/>
                </a:solidFill>
                <a:latin typeface="Segoe UI"/>
              </a:rPr>
              <a:t>237 left · 1,233 stayed</a:t>
            </a:r>
          </a:p>
        </p:txBody>
      </p:sp>
      <p:sp>
        <p:nvSpPr>
          <p:cNvPr id="20" name="Rectangle 19"/>
          <p:cNvSpPr/>
          <p:nvPr/>
        </p:nvSpPr>
        <p:spPr>
          <a:xfrm>
            <a:off x="9025105" y="1389888"/>
            <a:ext cx="2599936" cy="11887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025105" y="1389888"/>
            <a:ext cx="41148" cy="11887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262849" y="1545336"/>
            <a:ext cx="2197600" cy="475488"/>
          </a:xfrm>
          <a:prstGeom prst="rect">
            <a:avLst/>
          </a:prstGeom>
          <a:noFill/>
        </p:spPr>
        <p:txBody>
          <a:bodyPr wrap="square" lIns="0" rIns="0" tIns="0" bIns="0" anchor="t">
            <a:spAutoFit/>
          </a:bodyPr>
          <a:lstStyle/>
          <a:p>
            <a:pPr algn="l">
              <a:lnSpc>
                <a:spcPct val="124000"/>
              </a:lnSpc>
              <a:spcAft>
                <a:spcPts val="0"/>
              </a:spcAft>
            </a:pPr>
            <a:r>
              <a:rPr sz="2900" b="1" i="0">
                <a:solidFill>
                  <a:srgbClr val="0B0B0B"/>
                </a:solidFill>
                <a:latin typeface="Segoe UI"/>
              </a:rPr>
              <a:t>0</a:t>
            </a:r>
          </a:p>
        </p:txBody>
      </p:sp>
      <p:sp>
        <p:nvSpPr>
          <p:cNvPr id="23" name="TextBox 22"/>
          <p:cNvSpPr txBox="1"/>
          <p:nvPr/>
        </p:nvSpPr>
        <p:spPr>
          <a:xfrm>
            <a:off x="9262849" y="2048256"/>
            <a:ext cx="2197600" cy="219456"/>
          </a:xfrm>
          <a:prstGeom prst="rect">
            <a:avLst/>
          </a:prstGeom>
          <a:noFill/>
        </p:spPr>
        <p:txBody>
          <a:bodyPr wrap="square" lIns="0" rIns="0" tIns="0" bIns="0" anchor="t">
            <a:spAutoFit/>
          </a:bodyPr>
          <a:lstStyle/>
          <a:p>
            <a:pPr algn="l">
              <a:lnSpc>
                <a:spcPct val="124000"/>
              </a:lnSpc>
              <a:spcAft>
                <a:spcPts val="0"/>
              </a:spcAft>
            </a:pPr>
            <a:r>
              <a:rPr sz="1050" b="1" i="0">
                <a:solidFill>
                  <a:srgbClr val="52514E"/>
                </a:solidFill>
                <a:latin typeface="Segoe UI"/>
              </a:rPr>
              <a:t>Missing values</a:t>
            </a:r>
          </a:p>
        </p:txBody>
      </p:sp>
      <p:sp>
        <p:nvSpPr>
          <p:cNvPr id="24" name="TextBox 23"/>
          <p:cNvSpPr txBox="1"/>
          <p:nvPr/>
        </p:nvSpPr>
        <p:spPr>
          <a:xfrm>
            <a:off x="9262849" y="2286000"/>
            <a:ext cx="2197600" cy="237744"/>
          </a:xfrm>
          <a:prstGeom prst="rect">
            <a:avLst/>
          </a:prstGeom>
          <a:noFill/>
        </p:spPr>
        <p:txBody>
          <a:bodyPr wrap="square" lIns="0" rIns="0" tIns="0" bIns="0" anchor="t">
            <a:spAutoFit/>
          </a:bodyPr>
          <a:lstStyle/>
          <a:p>
            <a:pPr algn="l">
              <a:lnSpc>
                <a:spcPct val="124000"/>
              </a:lnSpc>
              <a:spcAft>
                <a:spcPts val="0"/>
              </a:spcAft>
            </a:pPr>
            <a:r>
              <a:rPr sz="850" b="0" i="0">
                <a:solidFill>
                  <a:srgbClr val="898781"/>
                </a:solidFill>
                <a:latin typeface="Segoe UI"/>
              </a:rPr>
              <a:t>0 duplicate rows</a:t>
            </a:r>
          </a:p>
        </p:txBody>
      </p:sp>
      <p:sp>
        <p:nvSpPr>
          <p:cNvPr id="25" name="TextBox 24"/>
          <p:cNvSpPr txBox="1"/>
          <p:nvPr/>
        </p:nvSpPr>
        <p:spPr>
          <a:xfrm>
            <a:off x="566928" y="2871216"/>
            <a:ext cx="5669280" cy="256032"/>
          </a:xfrm>
          <a:prstGeom prst="rect">
            <a:avLst/>
          </a:prstGeom>
          <a:noFill/>
        </p:spPr>
        <p:txBody>
          <a:bodyPr wrap="square" lIns="0" rIns="0" tIns="0" bIns="0" anchor="t">
            <a:spAutoFit/>
          </a:bodyPr>
          <a:lstStyle/>
          <a:p>
            <a:pPr algn="l">
              <a:lnSpc>
                <a:spcPct val="124000"/>
              </a:lnSpc>
              <a:spcAft>
                <a:spcPts val="0"/>
              </a:spcAft>
            </a:pPr>
            <a:r>
              <a:rPr sz="1250" b="1" i="0">
                <a:solidFill>
                  <a:srgbClr val="0B0B0B"/>
                </a:solidFill>
                <a:latin typeface="Segoe UI"/>
              </a:rPr>
              <a:t>Variable groups</a:t>
            </a:r>
          </a:p>
        </p:txBody>
      </p:sp>
      <p:sp>
        <p:nvSpPr>
          <p:cNvPr id="26" name="TextBox 25"/>
          <p:cNvSpPr txBox="1"/>
          <p:nvPr/>
        </p:nvSpPr>
        <p:spPr>
          <a:xfrm>
            <a:off x="566928" y="3218688"/>
            <a:ext cx="5669280" cy="2743200"/>
          </a:xfrm>
          <a:prstGeom prst="rect">
            <a:avLst/>
          </a:prstGeom>
          <a:noFill/>
        </p:spPr>
        <p:txBody>
          <a:bodyPr wrap="square" lIns="0" rIns="0" tIns="0" bIns="0" anchor="t">
            <a:spAutoFit/>
          </a:bodyPr>
          <a:lstStyle/>
          <a:p>
            <a:pPr algn="l">
              <a:lnSpc>
                <a:spcPct val="122000"/>
              </a:lnSpc>
              <a:spcAft>
                <a:spcPts val="600"/>
              </a:spcAft>
            </a:pPr>
            <a:r>
              <a:rPr sz="1000" b="1" i="0">
                <a:solidFill>
                  <a:srgbClr val="2A78D6"/>
                </a:solidFill>
                <a:latin typeface="Segoe UI"/>
              </a:rPr>
              <a:t>•  </a:t>
            </a:r>
            <a:r>
              <a:rPr sz="1000" b="1" i="0">
                <a:solidFill>
                  <a:srgbClr val="0B0B0B"/>
                </a:solidFill>
                <a:latin typeface="Segoe UI"/>
              </a:rPr>
              <a:t>Target  </a:t>
            </a:r>
            <a:r>
              <a:rPr sz="1000" b="0" i="0">
                <a:solidFill>
                  <a:srgbClr val="52514E"/>
                </a:solidFill>
                <a:latin typeface="Segoe UI"/>
              </a:rPr>
              <a:t>Attrition (Yes / No)</a:t>
            </a:r>
          </a:p>
          <a:p>
            <a:pPr algn="l">
              <a:lnSpc>
                <a:spcPct val="122000"/>
              </a:lnSpc>
              <a:spcAft>
                <a:spcPts val="600"/>
              </a:spcAft>
            </a:pPr>
            <a:r>
              <a:rPr sz="1000" b="1" i="0">
                <a:solidFill>
                  <a:srgbClr val="2A78D6"/>
                </a:solidFill>
                <a:latin typeface="Segoe UI"/>
              </a:rPr>
              <a:t>•  </a:t>
            </a:r>
            <a:r>
              <a:rPr sz="1000" b="1" i="0">
                <a:solidFill>
                  <a:srgbClr val="0B0B0B"/>
                </a:solidFill>
                <a:latin typeface="Segoe UI"/>
              </a:rPr>
              <a:t>Demographics  </a:t>
            </a:r>
            <a:r>
              <a:rPr sz="1000" b="0" i="0">
                <a:solidFill>
                  <a:srgbClr val="52514E"/>
                </a:solidFill>
                <a:latin typeface="Segoe UI"/>
              </a:rPr>
              <a:t>Age, Gender, MaritalStatus, Education, EducationField, DistanceFromHome</a:t>
            </a:r>
          </a:p>
          <a:p>
            <a:pPr algn="l">
              <a:lnSpc>
                <a:spcPct val="122000"/>
              </a:lnSpc>
              <a:spcAft>
                <a:spcPts val="600"/>
              </a:spcAft>
            </a:pPr>
            <a:r>
              <a:rPr sz="1000" b="1" i="0">
                <a:solidFill>
                  <a:srgbClr val="2A78D6"/>
                </a:solidFill>
                <a:latin typeface="Segoe UI"/>
              </a:rPr>
              <a:t>•  </a:t>
            </a:r>
            <a:r>
              <a:rPr sz="1000" b="1" i="0">
                <a:solidFill>
                  <a:srgbClr val="0B0B0B"/>
                </a:solidFill>
                <a:latin typeface="Segoe UI"/>
              </a:rPr>
              <a:t>Role &amp; org  </a:t>
            </a:r>
            <a:r>
              <a:rPr sz="1000" b="0" i="0">
                <a:solidFill>
                  <a:srgbClr val="52514E"/>
                </a:solidFill>
                <a:latin typeface="Segoe UI"/>
              </a:rPr>
              <a:t>Department, JobRole, JobLevel, BusinessTravel, OverTime</a:t>
            </a:r>
          </a:p>
          <a:p>
            <a:pPr algn="l">
              <a:lnSpc>
                <a:spcPct val="122000"/>
              </a:lnSpc>
              <a:spcAft>
                <a:spcPts val="600"/>
              </a:spcAft>
            </a:pPr>
            <a:r>
              <a:rPr sz="1000" b="1" i="0">
                <a:solidFill>
                  <a:srgbClr val="2A78D6"/>
                </a:solidFill>
                <a:latin typeface="Segoe UI"/>
              </a:rPr>
              <a:t>•  </a:t>
            </a:r>
            <a:r>
              <a:rPr sz="1000" b="1" i="0">
                <a:solidFill>
                  <a:srgbClr val="0B0B0B"/>
                </a:solidFill>
                <a:latin typeface="Segoe UI"/>
              </a:rPr>
              <a:t>Compensation  </a:t>
            </a:r>
            <a:r>
              <a:rPr sz="1000" b="0" i="0">
                <a:solidFill>
                  <a:srgbClr val="52514E"/>
                </a:solidFill>
                <a:latin typeface="Segoe UI"/>
              </a:rPr>
              <a:t>MonthlyIncome, HourlyRate, DailyRate, MonthlyRate, PercentSalaryHike, StockOptionLevel</a:t>
            </a:r>
          </a:p>
          <a:p>
            <a:pPr algn="l">
              <a:lnSpc>
                <a:spcPct val="122000"/>
              </a:lnSpc>
              <a:spcAft>
                <a:spcPts val="600"/>
              </a:spcAft>
            </a:pPr>
            <a:r>
              <a:rPr sz="1000" b="1" i="0">
                <a:solidFill>
                  <a:srgbClr val="2A78D6"/>
                </a:solidFill>
                <a:latin typeface="Segoe UI"/>
              </a:rPr>
              <a:t>•  </a:t>
            </a:r>
            <a:r>
              <a:rPr sz="1000" b="1" i="0">
                <a:solidFill>
                  <a:srgbClr val="0B0B0B"/>
                </a:solidFill>
                <a:latin typeface="Segoe UI"/>
              </a:rPr>
              <a:t>Tenure &amp; history  </a:t>
            </a:r>
            <a:r>
              <a:rPr sz="1000" b="0" i="0">
                <a:solidFill>
                  <a:srgbClr val="52514E"/>
                </a:solidFill>
                <a:latin typeface="Segoe UI"/>
              </a:rPr>
              <a:t>YearsAtCompany, TotalWorkingYears, YearsInCurrentRole, YearsSinceLastPromotion, YearsWithCurrManager, NumCompaniesWorked, TrainingTimesLastYear</a:t>
            </a:r>
          </a:p>
          <a:p>
            <a:pPr algn="l">
              <a:lnSpc>
                <a:spcPct val="122000"/>
              </a:lnSpc>
              <a:spcAft>
                <a:spcPts val="600"/>
              </a:spcAft>
            </a:pPr>
            <a:r>
              <a:rPr sz="1000" b="1" i="0">
                <a:solidFill>
                  <a:srgbClr val="2A78D6"/>
                </a:solidFill>
                <a:latin typeface="Segoe UI"/>
              </a:rPr>
              <a:t>•  </a:t>
            </a:r>
            <a:r>
              <a:rPr sz="1000" b="1" i="0">
                <a:solidFill>
                  <a:srgbClr val="0B0B0B"/>
                </a:solidFill>
                <a:latin typeface="Segoe UI"/>
              </a:rPr>
              <a:t>Survey / ordinal  </a:t>
            </a:r>
            <a:r>
              <a:rPr sz="1000" b="0" i="0">
                <a:solidFill>
                  <a:srgbClr val="52514E"/>
                </a:solidFill>
                <a:latin typeface="Segoe UI"/>
              </a:rPr>
              <a:t>JobSatisfaction, EnvironmentSatisfaction, RelationshipSatisfaction, JobInvolvement, WorkLifeBalance, PerformanceRating</a:t>
            </a:r>
          </a:p>
        </p:txBody>
      </p:sp>
      <p:sp>
        <p:nvSpPr>
          <p:cNvPr id="27" name="TextBox 26"/>
          <p:cNvSpPr txBox="1"/>
          <p:nvPr/>
        </p:nvSpPr>
        <p:spPr>
          <a:xfrm>
            <a:off x="6601968" y="2871216"/>
            <a:ext cx="5023073" cy="256032"/>
          </a:xfrm>
          <a:prstGeom prst="rect">
            <a:avLst/>
          </a:prstGeom>
          <a:noFill/>
        </p:spPr>
        <p:txBody>
          <a:bodyPr wrap="square" lIns="0" rIns="0" tIns="0" bIns="0" anchor="t">
            <a:spAutoFit/>
          </a:bodyPr>
          <a:lstStyle/>
          <a:p>
            <a:pPr algn="l">
              <a:lnSpc>
                <a:spcPct val="124000"/>
              </a:lnSpc>
              <a:spcAft>
                <a:spcPts val="0"/>
              </a:spcAft>
            </a:pPr>
            <a:r>
              <a:rPr sz="1250" b="1" i="0">
                <a:solidFill>
                  <a:srgbClr val="0B0B0B"/>
                </a:solidFill>
                <a:latin typeface="Segoe UI"/>
              </a:rPr>
              <a:t>Source and data quality</a:t>
            </a:r>
          </a:p>
        </p:txBody>
      </p:sp>
      <p:sp>
        <p:nvSpPr>
          <p:cNvPr id="28" name="TextBox 27"/>
          <p:cNvSpPr txBox="1"/>
          <p:nvPr/>
        </p:nvSpPr>
        <p:spPr>
          <a:xfrm>
            <a:off x="6601968" y="3218688"/>
            <a:ext cx="5023073" cy="2743200"/>
          </a:xfrm>
          <a:prstGeom prst="rect">
            <a:avLst/>
          </a:prstGeom>
          <a:noFill/>
        </p:spPr>
        <p:txBody>
          <a:bodyPr wrap="square" lIns="0" rIns="0" tIns="0" bIns="0" anchor="t">
            <a:spAutoFit/>
          </a:bodyPr>
          <a:lstStyle/>
          <a:p>
            <a:pPr algn="l">
              <a:lnSpc>
                <a:spcPct val="122000"/>
              </a:lnSpc>
              <a:spcAft>
                <a:spcPts val="600"/>
              </a:spcAft>
            </a:pPr>
            <a:r>
              <a:rPr sz="1000" b="1" i="0">
                <a:solidFill>
                  <a:srgbClr val="2A78D6"/>
                </a:solidFill>
                <a:latin typeface="Segoe UI"/>
              </a:rPr>
              <a:t>•  </a:t>
            </a:r>
            <a:r>
              <a:rPr sz="1000" b="1" i="0">
                <a:solidFill>
                  <a:srgbClr val="0B0B0B"/>
                </a:solidFill>
                <a:latin typeface="Segoe UI"/>
              </a:rPr>
              <a:t>Source  </a:t>
            </a:r>
            <a:r>
              <a:rPr sz="1000" b="0" i="0">
                <a:solidFill>
                  <a:srgbClr val="52514E"/>
                </a:solidFill>
                <a:latin typeface="Segoe UI"/>
              </a:rPr>
              <a:t>Kaggle — IBM HR Analytics Employee Attrition &amp; Performance, published by pavansubhasht, authored by IBM</a:t>
            </a:r>
          </a:p>
          <a:p>
            <a:pPr algn="l">
              <a:lnSpc>
                <a:spcPct val="122000"/>
              </a:lnSpc>
              <a:spcAft>
                <a:spcPts val="600"/>
              </a:spcAft>
            </a:pPr>
            <a:r>
              <a:rPr sz="1000" b="1" i="0">
                <a:solidFill>
                  <a:srgbClr val="2A78D6"/>
                </a:solidFill>
                <a:latin typeface="Segoe UI"/>
              </a:rPr>
              <a:t>•  </a:t>
            </a:r>
            <a:r>
              <a:rPr sz="1000" b="1" i="0">
                <a:solidFill>
                  <a:srgbClr val="0B0B0B"/>
                </a:solidFill>
                <a:latin typeface="Segoe UI"/>
              </a:rPr>
              <a:t>File  </a:t>
            </a:r>
            <a:r>
              <a:rPr sz="1000" b="0" i="0">
                <a:solidFill>
                  <a:srgbClr val="52514E"/>
                </a:solidFill>
                <a:latin typeface="Segoe UI"/>
              </a:rPr>
              <a:t>WA_Fn-UseC_-HR-Employee-Attrition.csv, a single flat table</a:t>
            </a:r>
          </a:p>
          <a:p>
            <a:pPr algn="l">
              <a:lnSpc>
                <a:spcPct val="122000"/>
              </a:lnSpc>
              <a:spcAft>
                <a:spcPts val="600"/>
              </a:spcAft>
            </a:pPr>
            <a:r>
              <a:rPr sz="1000" b="1" i="0">
                <a:solidFill>
                  <a:srgbClr val="2A78D6"/>
                </a:solidFill>
                <a:latin typeface="Segoe UI"/>
              </a:rPr>
              <a:t>•  </a:t>
            </a:r>
            <a:r>
              <a:rPr sz="1000" b="1" i="0">
                <a:solidFill>
                  <a:srgbClr val="0B0B0B"/>
                </a:solidFill>
                <a:latin typeface="Segoe UI"/>
              </a:rPr>
              <a:t>Grain  </a:t>
            </a:r>
            <a:r>
              <a:rPr sz="1000" b="0" i="0">
                <a:solidFill>
                  <a:srgbClr val="52514E"/>
                </a:solidFill>
                <a:latin typeface="Segoe UI"/>
              </a:rPr>
              <a:t>Cross-sectional snapshot — no date or event-timestamp column</a:t>
            </a:r>
          </a:p>
          <a:p>
            <a:pPr algn="l">
              <a:lnSpc>
                <a:spcPct val="122000"/>
              </a:lnSpc>
              <a:spcAft>
                <a:spcPts val="600"/>
              </a:spcAft>
            </a:pPr>
            <a:r>
              <a:rPr sz="1000" b="1" i="0">
                <a:solidFill>
                  <a:srgbClr val="2A78D6"/>
                </a:solidFill>
                <a:latin typeface="Segoe UI"/>
              </a:rPr>
              <a:t>•  </a:t>
            </a:r>
            <a:r>
              <a:rPr sz="1000" b="1" i="0">
                <a:solidFill>
                  <a:srgbClr val="0B0B0B"/>
                </a:solidFill>
                <a:latin typeface="Segoe UI"/>
              </a:rPr>
              <a:t>Quality  </a:t>
            </a:r>
            <a:r>
              <a:rPr sz="1000" b="0" i="0">
                <a:solidFill>
                  <a:srgbClr val="52514E"/>
                </a:solidFill>
                <a:latin typeface="Segoe UI"/>
              </a:rPr>
              <a:t>No missing values, no duplicate rows, all 1,470 EmployeeNumbers unique</a:t>
            </a:r>
          </a:p>
          <a:p>
            <a:pPr algn="l">
              <a:lnSpc>
                <a:spcPct val="122000"/>
              </a:lnSpc>
              <a:spcAft>
                <a:spcPts val="600"/>
              </a:spcAft>
            </a:pPr>
            <a:r>
              <a:rPr sz="1000" b="1" i="0">
                <a:solidFill>
                  <a:srgbClr val="2A78D6"/>
                </a:solidFill>
                <a:latin typeface="Segoe UI"/>
              </a:rPr>
              <a:t>•  </a:t>
            </a:r>
            <a:r>
              <a:rPr sz="1000" b="1" i="0">
                <a:solidFill>
                  <a:srgbClr val="0B0B0B"/>
                </a:solidFill>
                <a:latin typeface="Segoe UI"/>
              </a:rPr>
              <a:t>Dropped  </a:t>
            </a:r>
            <a:r>
              <a:rPr sz="1000" b="0" i="0">
                <a:solidFill>
                  <a:srgbClr val="52514E"/>
                </a:solidFill>
                <a:latin typeface="Segoe UI"/>
              </a:rPr>
              <a:t>Three constant columns carry no information: EmployeeCount = 1, StandardHours = 80, Over18 = Y</a:t>
            </a:r>
          </a:p>
          <a:p>
            <a:pPr algn="l">
              <a:lnSpc>
                <a:spcPct val="122000"/>
              </a:lnSpc>
              <a:spcAft>
                <a:spcPts val="600"/>
              </a:spcAft>
            </a:pPr>
            <a:r>
              <a:rPr sz="1000" b="1" i="0">
                <a:solidFill>
                  <a:srgbClr val="2A78D6"/>
                </a:solidFill>
                <a:latin typeface="Segoe UI"/>
              </a:rPr>
              <a:t>•  </a:t>
            </a:r>
            <a:r>
              <a:rPr sz="1000" b="1" i="0">
                <a:solidFill>
                  <a:srgbClr val="0B0B0B"/>
                </a:solidFill>
                <a:latin typeface="Segoe UI"/>
              </a:rPr>
              <a:t>Imbalance  </a:t>
            </a:r>
            <a:r>
              <a:rPr sz="1000" b="0" i="0">
                <a:solidFill>
                  <a:srgbClr val="52514E"/>
                </a:solidFill>
                <a:latin typeface="Segoe UI"/>
              </a:rPr>
              <a:t>Leavers are 16.1% of records — every segment rate is reported with its headcount</a:t>
            </a:r>
          </a:p>
        </p:txBody>
      </p:sp>
      <p:sp>
        <p:nvSpPr>
          <p:cNvPr id="29" name="Rectangle 28"/>
          <p:cNvSpPr/>
          <p:nvPr/>
        </p:nvSpPr>
        <p:spPr>
          <a:xfrm>
            <a:off x="566928" y="5577840"/>
            <a:ext cx="11058113" cy="658368"/>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566928" y="5577840"/>
            <a:ext cx="41148" cy="658368"/>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86384" y="5715000"/>
            <a:ext cx="10655777" cy="219456"/>
          </a:xfrm>
          <a:prstGeom prst="rect">
            <a:avLst/>
          </a:prstGeom>
          <a:noFill/>
        </p:spPr>
        <p:txBody>
          <a:bodyPr wrap="square" lIns="0" rIns="0" tIns="0" bIns="0" anchor="t">
            <a:spAutoFit/>
          </a:bodyPr>
          <a:lstStyle/>
          <a:p>
            <a:pPr algn="l">
              <a:lnSpc>
                <a:spcPct val="124000"/>
              </a:lnSpc>
              <a:spcAft>
                <a:spcPts val="0"/>
              </a:spcAft>
            </a:pPr>
            <a:r>
              <a:rPr sz="850" b="1" i="0">
                <a:solidFill>
                  <a:srgbClr val="E34948"/>
                </a:solidFill>
                <a:latin typeface="Segoe UI"/>
              </a:rPr>
              <a:t>IMPORTANT</a:t>
            </a:r>
          </a:p>
        </p:txBody>
      </p:sp>
      <p:sp>
        <p:nvSpPr>
          <p:cNvPr id="32" name="TextBox 31"/>
          <p:cNvSpPr txBox="1"/>
          <p:nvPr/>
        </p:nvSpPr>
        <p:spPr>
          <a:xfrm>
            <a:off x="786384" y="5961888"/>
            <a:ext cx="10655777" cy="164591"/>
          </a:xfrm>
          <a:prstGeom prst="rect">
            <a:avLst/>
          </a:prstGeom>
          <a:noFill/>
        </p:spPr>
        <p:txBody>
          <a:bodyPr wrap="square" lIns="0" rIns="0" tIns="0" bIns="0" anchor="t">
            <a:spAutoFit/>
          </a:bodyPr>
          <a:lstStyle/>
          <a:p>
            <a:pPr algn="l">
              <a:lnSpc>
                <a:spcPct val="126000"/>
              </a:lnSpc>
              <a:spcAft>
                <a:spcPts val="0"/>
              </a:spcAft>
            </a:pPr>
            <a:r>
              <a:rPr sz="1150" b="0" i="0">
                <a:solidFill>
                  <a:srgbClr val="0B0B0B"/>
                </a:solidFill>
                <a:latin typeface="Segoe UI"/>
              </a:rPr>
              <a:t>The dataset is fictional — created by IBM data scientists to demonstrate HR analytics. No rate in it is an industry benchmark. Findings demonstrate method.</a:t>
            </a:r>
          </a:p>
        </p:txBody>
      </p:sp>
      <p:sp>
        <p:nvSpPr>
          <p:cNvPr id="33" name="Rectangle 32"/>
          <p:cNvSpPr/>
          <p:nvPr/>
        </p:nvSpPr>
        <p:spPr>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66928" y="6455664"/>
            <a:ext cx="7961841" cy="219456"/>
          </a:xfrm>
          <a:prstGeom prst="rect">
            <a:avLst/>
          </a:prstGeom>
          <a:noFill/>
        </p:spPr>
        <p:txBody>
          <a:bodyPr wrap="square" lIns="0" rIns="0" tIns="0" bIns="0" anchor="t">
            <a:spAutoFit/>
          </a:bodyPr>
          <a:lstStyle/>
          <a:p>
            <a:pPr algn="l">
              <a:lnSpc>
                <a:spcPct val="124000"/>
              </a:lnSpc>
              <a:spcAft>
                <a:spcPts val="0"/>
              </a:spcAft>
            </a:pPr>
            <a:r>
              <a:rPr sz="850" b="0" i="0">
                <a:solidFill>
                  <a:srgbClr val="898781"/>
                </a:solidFill>
                <a:latin typeface="Segoe UI"/>
              </a:rPr>
              <a:t>notebooks/00, 01, 02 · README.md</a:t>
            </a:r>
          </a:p>
        </p:txBody>
      </p:sp>
      <p:sp>
        <p:nvSpPr>
          <p:cNvPr id="35" name="TextBox 34"/>
          <p:cNvSpPr txBox="1"/>
          <p:nvPr/>
        </p:nvSpPr>
        <p:spPr>
          <a:xfrm>
            <a:off x="8749932" y="6455664"/>
            <a:ext cx="2875109" cy="219456"/>
          </a:xfrm>
          <a:prstGeom prst="rect">
            <a:avLst/>
          </a:prstGeom>
          <a:noFill/>
        </p:spPr>
        <p:txBody>
          <a:bodyPr wrap="square" lIns="0" rIns="0" tIns="0" bIns="0" anchor="t">
            <a:spAutoFit/>
          </a:bodyPr>
          <a:lstStyle/>
          <a:p>
            <a:pPr algn="r">
              <a:lnSpc>
                <a:spcPct val="124000"/>
              </a:lnSpc>
              <a:spcAft>
                <a:spcPts val="0"/>
              </a:spcAft>
            </a:pPr>
            <a:r>
              <a:rPr sz="850" b="0" i="0">
                <a:solidFill>
                  <a:srgbClr val="898781"/>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8113" cy="219456"/>
          </a:xfrm>
          <a:prstGeom prst="rect">
            <a:avLst/>
          </a:prstGeom>
          <a:noFill/>
        </p:spPr>
        <p:txBody>
          <a:bodyPr wrap="square" lIns="0" rIns="0" tIns="0" bIns="0" anchor="t">
            <a:spAutoFit/>
          </a:bodyPr>
          <a:lstStyle/>
          <a:p>
            <a:pPr algn="l">
              <a:lnSpc>
                <a:spcPct val="124000"/>
              </a:lnSpc>
              <a:spcAft>
                <a:spcPts val="0"/>
              </a:spcAft>
            </a:pPr>
            <a:r>
              <a:rPr sz="950" b="1" i="0">
                <a:solidFill>
                  <a:srgbClr val="2A78D6"/>
                </a:solidFill>
                <a:latin typeface="Segoe UI"/>
              </a:rPr>
              <a:t>METHODOLOGY</a:t>
            </a:r>
          </a:p>
        </p:txBody>
      </p:sp>
      <p:sp>
        <p:nvSpPr>
          <p:cNvPr id="3" name="TextBox 2"/>
          <p:cNvSpPr txBox="1"/>
          <p:nvPr/>
        </p:nvSpPr>
        <p:spPr>
          <a:xfrm>
            <a:off x="566928" y="603504"/>
            <a:ext cx="11058113" cy="475488"/>
          </a:xfrm>
          <a:prstGeom prst="rect">
            <a:avLst/>
          </a:prstGeom>
          <a:noFill/>
        </p:spPr>
        <p:txBody>
          <a:bodyPr wrap="square" lIns="0" rIns="0" tIns="0" bIns="0" anchor="t">
            <a:spAutoFit/>
          </a:bodyPr>
          <a:lstStyle/>
          <a:p>
            <a:pPr algn="l">
              <a:lnSpc>
                <a:spcPct val="124000"/>
              </a:lnSpc>
              <a:spcAft>
                <a:spcPts val="0"/>
              </a:spcAft>
            </a:pPr>
            <a:r>
              <a:rPr sz="2500" b="1" i="0">
                <a:solidFill>
                  <a:srgbClr val="0B0B0B"/>
                </a:solidFill>
                <a:latin typeface="Segoe UI"/>
              </a:rPr>
              <a:t>Eleven notebooks, run in numeric order</a:t>
            </a:r>
          </a:p>
        </p:txBody>
      </p:sp>
      <p:sp>
        <p:nvSpPr>
          <p:cNvPr id="4" name="TextBox 3"/>
          <p:cNvSpPr txBox="1"/>
          <p:nvPr/>
        </p:nvSpPr>
        <p:spPr>
          <a:xfrm>
            <a:off x="566928" y="1106424"/>
            <a:ext cx="11058113" cy="274320"/>
          </a:xfrm>
          <a:prstGeom prst="rect">
            <a:avLst/>
          </a:prstGeom>
          <a:noFill/>
        </p:spPr>
        <p:txBody>
          <a:bodyPr wrap="square" lIns="0" rIns="0" tIns="0" bIns="0" anchor="t">
            <a:spAutoFit/>
          </a:bodyPr>
          <a:lstStyle/>
          <a:p>
            <a:pPr algn="l">
              <a:lnSpc>
                <a:spcPct val="124000"/>
              </a:lnSpc>
              <a:spcAft>
                <a:spcPts val="0"/>
              </a:spcAft>
            </a:pPr>
            <a:r>
              <a:rPr sz="1250" b="0" i="0">
                <a:solidFill>
                  <a:srgbClr val="52514E"/>
                </a:solidFill>
                <a:latin typeface="Segoe UI"/>
              </a:rPr>
              <a:t>Each notebook reads data/raw and is reproducible on its own; every derived table regenerates by running them in sequence.</a:t>
            </a:r>
          </a:p>
        </p:txBody>
      </p:sp>
      <p:sp>
        <p:nvSpPr>
          <p:cNvPr id="5" name="Rectangle 4"/>
          <p:cNvSpPr/>
          <p:nvPr/>
        </p:nvSpPr>
        <p:spPr>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66928"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66928"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3232" y="2066543"/>
            <a:ext cx="1161719" cy="256032"/>
          </a:xfrm>
          <a:prstGeom prst="rect">
            <a:avLst/>
          </a:prstGeom>
          <a:noFill/>
        </p:spPr>
        <p:txBody>
          <a:bodyPr wrap="square" lIns="0" rIns="0" tIns="0" bIns="0" anchor="t">
            <a:spAutoFit/>
          </a:bodyPr>
          <a:lstStyle/>
          <a:p>
            <a:pPr algn="l">
              <a:lnSpc>
                <a:spcPct val="124000"/>
              </a:lnSpc>
              <a:spcAft>
                <a:spcPts val="0"/>
              </a:spcAft>
            </a:pPr>
            <a:r>
              <a:rPr sz="1500" b="1" i="0">
                <a:solidFill>
                  <a:srgbClr val="2A78D6"/>
                </a:solidFill>
                <a:latin typeface="Segoe UI"/>
              </a:rPr>
              <a:t>00–02</a:t>
            </a:r>
          </a:p>
        </p:txBody>
      </p:sp>
      <p:sp>
        <p:nvSpPr>
          <p:cNvPr id="9" name="TextBox 8"/>
          <p:cNvSpPr txBox="1"/>
          <p:nvPr/>
        </p:nvSpPr>
        <p:spPr>
          <a:xfrm>
            <a:off x="713232" y="2395728"/>
            <a:ext cx="1161719" cy="512064"/>
          </a:xfrm>
          <a:prstGeom prst="rect">
            <a:avLst/>
          </a:prstGeom>
          <a:noFill/>
        </p:spPr>
        <p:txBody>
          <a:bodyPr wrap="square" lIns="0" rIns="0" tIns="0" bIns="0" anchor="t">
            <a:spAutoFit/>
          </a:bodyPr>
          <a:lstStyle/>
          <a:p>
            <a:pPr algn="l">
              <a:lnSpc>
                <a:spcPct val="118000"/>
              </a:lnSpc>
              <a:spcAft>
                <a:spcPts val="0"/>
              </a:spcAft>
            </a:pPr>
            <a:r>
              <a:rPr sz="1150" b="1" i="0">
                <a:solidFill>
                  <a:srgbClr val="0B0B0B"/>
                </a:solidFill>
                <a:latin typeface="Segoe UI"/>
              </a:rPr>
              <a:t>Profile &amp; validate</a:t>
            </a:r>
          </a:p>
        </p:txBody>
      </p:sp>
      <p:sp>
        <p:nvSpPr>
          <p:cNvPr id="10" name="TextBox 9"/>
          <p:cNvSpPr txBox="1"/>
          <p:nvPr/>
        </p:nvSpPr>
        <p:spPr>
          <a:xfrm>
            <a:off x="713232" y="2944368"/>
            <a:ext cx="1161719" cy="640080"/>
          </a:xfrm>
          <a:prstGeom prst="rect">
            <a:avLst/>
          </a:prstGeom>
          <a:noFill/>
        </p:spPr>
        <p:txBody>
          <a:bodyPr wrap="square" lIns="0" rIns="0" tIns="0" bIns="0" anchor="t">
            <a:spAutoFit/>
          </a:bodyPr>
          <a:lstStyle/>
          <a:p>
            <a:pPr algn="l">
              <a:lnSpc>
                <a:spcPct val="120000"/>
              </a:lnSpc>
              <a:spcAft>
                <a:spcPts val="0"/>
              </a:spcAft>
            </a:pPr>
            <a:r>
              <a:rPr sz="900" b="0" i="0">
                <a:solidFill>
                  <a:srgbClr val="898781"/>
                </a:solidFill>
                <a:latin typeface="Segoe UI"/>
              </a:rPr>
              <a:t>Shape, dtypes, duplicates, missing values</a:t>
            </a:r>
          </a:p>
        </p:txBody>
      </p:sp>
      <p:sp>
        <p:nvSpPr>
          <p:cNvPr id="11" name="TextBox 10"/>
          <p:cNvSpPr txBox="1"/>
          <p:nvPr/>
        </p:nvSpPr>
        <p:spPr>
          <a:xfrm>
            <a:off x="2032227" y="2560320"/>
            <a:ext cx="128016" cy="237744"/>
          </a:xfrm>
          <a:prstGeom prst="rect">
            <a:avLst/>
          </a:prstGeom>
          <a:noFill/>
        </p:spPr>
        <p:txBody>
          <a:bodyPr wrap="square" lIns="0" rIns="0" tIns="0" bIns="0" anchor="t">
            <a:spAutoFit/>
          </a:bodyPr>
          <a:lstStyle/>
          <a:p>
            <a:pPr algn="ctr">
              <a:lnSpc>
                <a:spcPct val="124000"/>
              </a:lnSpc>
              <a:spcAft>
                <a:spcPts val="0"/>
              </a:spcAft>
            </a:pPr>
            <a:r>
              <a:rPr sz="1500" b="0" i="0">
                <a:solidFill>
                  <a:srgbClr val="898781"/>
                </a:solidFill>
                <a:latin typeface="Segoe UI"/>
              </a:rPr>
              <a:t>›</a:t>
            </a:r>
          </a:p>
        </p:txBody>
      </p:sp>
      <p:sp>
        <p:nvSpPr>
          <p:cNvPr id="12" name="Rectangle 11"/>
          <p:cNvSpPr/>
          <p:nvPr/>
        </p:nvSpPr>
        <p:spPr>
          <a:xfrm>
            <a:off x="2167559"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167559"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313863" y="2066543"/>
            <a:ext cx="1161719" cy="256032"/>
          </a:xfrm>
          <a:prstGeom prst="rect">
            <a:avLst/>
          </a:prstGeom>
          <a:noFill/>
        </p:spPr>
        <p:txBody>
          <a:bodyPr wrap="square" lIns="0" rIns="0" tIns="0" bIns="0" anchor="t">
            <a:spAutoFit/>
          </a:bodyPr>
          <a:lstStyle/>
          <a:p>
            <a:pPr algn="l">
              <a:lnSpc>
                <a:spcPct val="124000"/>
              </a:lnSpc>
              <a:spcAft>
                <a:spcPts val="0"/>
              </a:spcAft>
            </a:pPr>
            <a:r>
              <a:rPr sz="1500" b="1" i="0">
                <a:solidFill>
                  <a:srgbClr val="2A78D6"/>
                </a:solidFill>
                <a:latin typeface="Segoe UI"/>
              </a:rPr>
              <a:t>03–04</a:t>
            </a:r>
          </a:p>
        </p:txBody>
      </p:sp>
      <p:sp>
        <p:nvSpPr>
          <p:cNvPr id="15" name="TextBox 14"/>
          <p:cNvSpPr txBox="1"/>
          <p:nvPr/>
        </p:nvSpPr>
        <p:spPr>
          <a:xfrm>
            <a:off x="2313863" y="2395728"/>
            <a:ext cx="1161719" cy="512064"/>
          </a:xfrm>
          <a:prstGeom prst="rect">
            <a:avLst/>
          </a:prstGeom>
          <a:noFill/>
        </p:spPr>
        <p:txBody>
          <a:bodyPr wrap="square" lIns="0" rIns="0" tIns="0" bIns="0" anchor="t">
            <a:spAutoFit/>
          </a:bodyPr>
          <a:lstStyle/>
          <a:p>
            <a:pPr algn="l">
              <a:lnSpc>
                <a:spcPct val="118000"/>
              </a:lnSpc>
              <a:spcAft>
                <a:spcPts val="0"/>
              </a:spcAft>
            </a:pPr>
            <a:r>
              <a:rPr sz="1150" b="1" i="0">
                <a:solidFill>
                  <a:srgbClr val="0B0B0B"/>
                </a:solidFill>
                <a:latin typeface="Segoe UI"/>
              </a:rPr>
              <a:t>Prepare</a:t>
            </a:r>
          </a:p>
        </p:txBody>
      </p:sp>
      <p:sp>
        <p:nvSpPr>
          <p:cNvPr id="16" name="TextBox 15"/>
          <p:cNvSpPr txBox="1"/>
          <p:nvPr/>
        </p:nvSpPr>
        <p:spPr>
          <a:xfrm>
            <a:off x="2313863" y="2944368"/>
            <a:ext cx="1161719" cy="640080"/>
          </a:xfrm>
          <a:prstGeom prst="rect">
            <a:avLst/>
          </a:prstGeom>
          <a:noFill/>
        </p:spPr>
        <p:txBody>
          <a:bodyPr wrap="square" lIns="0" rIns="0" tIns="0" bIns="0" anchor="t">
            <a:spAutoFit/>
          </a:bodyPr>
          <a:lstStyle/>
          <a:p>
            <a:pPr algn="l">
              <a:lnSpc>
                <a:spcPct val="120000"/>
              </a:lnSpc>
              <a:spcAft>
                <a:spcPts val="0"/>
              </a:spcAft>
            </a:pPr>
            <a:r>
              <a:rPr sz="900" b="0" i="0">
                <a:solidFill>
                  <a:srgbClr val="898781"/>
                </a:solidFill>
                <a:latin typeface="Segoe UI"/>
              </a:rPr>
              <a:t>Encoding, scaling, feature groups, wrangled extract</a:t>
            </a:r>
          </a:p>
        </p:txBody>
      </p:sp>
      <p:sp>
        <p:nvSpPr>
          <p:cNvPr id="17" name="TextBox 16"/>
          <p:cNvSpPr txBox="1"/>
          <p:nvPr/>
        </p:nvSpPr>
        <p:spPr>
          <a:xfrm>
            <a:off x="3632858" y="2560320"/>
            <a:ext cx="128016" cy="237744"/>
          </a:xfrm>
          <a:prstGeom prst="rect">
            <a:avLst/>
          </a:prstGeom>
          <a:noFill/>
        </p:spPr>
        <p:txBody>
          <a:bodyPr wrap="square" lIns="0" rIns="0" tIns="0" bIns="0" anchor="t">
            <a:spAutoFit/>
          </a:bodyPr>
          <a:lstStyle/>
          <a:p>
            <a:pPr algn="ctr">
              <a:lnSpc>
                <a:spcPct val="124000"/>
              </a:lnSpc>
              <a:spcAft>
                <a:spcPts val="0"/>
              </a:spcAft>
            </a:pPr>
            <a:r>
              <a:rPr sz="1500" b="0" i="0">
                <a:solidFill>
                  <a:srgbClr val="898781"/>
                </a:solidFill>
                <a:latin typeface="Segoe UI"/>
              </a:rPr>
              <a:t>›</a:t>
            </a:r>
          </a:p>
        </p:txBody>
      </p:sp>
      <p:sp>
        <p:nvSpPr>
          <p:cNvPr id="18" name="Rectangle 17"/>
          <p:cNvSpPr/>
          <p:nvPr/>
        </p:nvSpPr>
        <p:spPr>
          <a:xfrm>
            <a:off x="3768190"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3768190"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914494" y="2066543"/>
            <a:ext cx="1161719" cy="256032"/>
          </a:xfrm>
          <a:prstGeom prst="rect">
            <a:avLst/>
          </a:prstGeom>
          <a:noFill/>
        </p:spPr>
        <p:txBody>
          <a:bodyPr wrap="square" lIns="0" rIns="0" tIns="0" bIns="0" anchor="t">
            <a:spAutoFit/>
          </a:bodyPr>
          <a:lstStyle/>
          <a:p>
            <a:pPr algn="l">
              <a:lnSpc>
                <a:spcPct val="124000"/>
              </a:lnSpc>
              <a:spcAft>
                <a:spcPts val="0"/>
              </a:spcAft>
            </a:pPr>
            <a:r>
              <a:rPr sz="1500" b="1" i="0">
                <a:solidFill>
                  <a:srgbClr val="2A78D6"/>
                </a:solidFill>
                <a:latin typeface="Segoe UI"/>
              </a:rPr>
              <a:t>05</a:t>
            </a:r>
          </a:p>
        </p:txBody>
      </p:sp>
      <p:sp>
        <p:nvSpPr>
          <p:cNvPr id="21" name="TextBox 20"/>
          <p:cNvSpPr txBox="1"/>
          <p:nvPr/>
        </p:nvSpPr>
        <p:spPr>
          <a:xfrm>
            <a:off x="3914494" y="2395728"/>
            <a:ext cx="1161719" cy="512064"/>
          </a:xfrm>
          <a:prstGeom prst="rect">
            <a:avLst/>
          </a:prstGeom>
          <a:noFill/>
        </p:spPr>
        <p:txBody>
          <a:bodyPr wrap="square" lIns="0" rIns="0" tIns="0" bIns="0" anchor="t">
            <a:spAutoFit/>
          </a:bodyPr>
          <a:lstStyle/>
          <a:p>
            <a:pPr algn="l">
              <a:lnSpc>
                <a:spcPct val="118000"/>
              </a:lnSpc>
              <a:spcAft>
                <a:spcPts val="0"/>
              </a:spcAft>
            </a:pPr>
            <a:r>
              <a:rPr sz="1150" b="1" i="0">
                <a:solidFill>
                  <a:srgbClr val="0B0B0B"/>
                </a:solidFill>
                <a:latin typeface="Segoe UI"/>
              </a:rPr>
              <a:t>Attrition analysis</a:t>
            </a:r>
          </a:p>
        </p:txBody>
      </p:sp>
      <p:sp>
        <p:nvSpPr>
          <p:cNvPr id="22" name="TextBox 21"/>
          <p:cNvSpPr txBox="1"/>
          <p:nvPr/>
        </p:nvSpPr>
        <p:spPr>
          <a:xfrm>
            <a:off x="3914494" y="2944368"/>
            <a:ext cx="1161719" cy="640080"/>
          </a:xfrm>
          <a:prstGeom prst="rect">
            <a:avLst/>
          </a:prstGeom>
          <a:noFill/>
        </p:spPr>
        <p:txBody>
          <a:bodyPr wrap="square" lIns="0" rIns="0" tIns="0" bIns="0" anchor="t">
            <a:spAutoFit/>
          </a:bodyPr>
          <a:lstStyle/>
          <a:p>
            <a:pPr algn="l">
              <a:lnSpc>
                <a:spcPct val="120000"/>
              </a:lnSpc>
              <a:spcAft>
                <a:spcPts val="0"/>
              </a:spcAft>
            </a:pPr>
            <a:r>
              <a:rPr sz="900" b="0" i="0">
                <a:solidFill>
                  <a:srgbClr val="898781"/>
                </a:solidFill>
                <a:latin typeface="Segoe UI"/>
              </a:rPr>
              <a:t>Segment rates vs the 16.1% baseline</a:t>
            </a:r>
          </a:p>
        </p:txBody>
      </p:sp>
      <p:sp>
        <p:nvSpPr>
          <p:cNvPr id="23" name="TextBox 22"/>
          <p:cNvSpPr txBox="1"/>
          <p:nvPr/>
        </p:nvSpPr>
        <p:spPr>
          <a:xfrm>
            <a:off x="5233490" y="2560320"/>
            <a:ext cx="128016" cy="237744"/>
          </a:xfrm>
          <a:prstGeom prst="rect">
            <a:avLst/>
          </a:prstGeom>
          <a:noFill/>
        </p:spPr>
        <p:txBody>
          <a:bodyPr wrap="square" lIns="0" rIns="0" tIns="0" bIns="0" anchor="t">
            <a:spAutoFit/>
          </a:bodyPr>
          <a:lstStyle/>
          <a:p>
            <a:pPr algn="ctr">
              <a:lnSpc>
                <a:spcPct val="124000"/>
              </a:lnSpc>
              <a:spcAft>
                <a:spcPts val="0"/>
              </a:spcAft>
            </a:pPr>
            <a:r>
              <a:rPr sz="1500" b="0" i="0">
                <a:solidFill>
                  <a:srgbClr val="898781"/>
                </a:solidFill>
                <a:latin typeface="Segoe UI"/>
              </a:rPr>
              <a:t>›</a:t>
            </a:r>
          </a:p>
        </p:txBody>
      </p:sp>
      <p:sp>
        <p:nvSpPr>
          <p:cNvPr id="24" name="Rectangle 23"/>
          <p:cNvSpPr/>
          <p:nvPr/>
        </p:nvSpPr>
        <p:spPr>
          <a:xfrm>
            <a:off x="5368821"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5368821"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515125" y="2066543"/>
            <a:ext cx="1161719" cy="256032"/>
          </a:xfrm>
          <a:prstGeom prst="rect">
            <a:avLst/>
          </a:prstGeom>
          <a:noFill/>
        </p:spPr>
        <p:txBody>
          <a:bodyPr wrap="square" lIns="0" rIns="0" tIns="0" bIns="0" anchor="t">
            <a:spAutoFit/>
          </a:bodyPr>
          <a:lstStyle/>
          <a:p>
            <a:pPr algn="l">
              <a:lnSpc>
                <a:spcPct val="124000"/>
              </a:lnSpc>
              <a:spcAft>
                <a:spcPts val="0"/>
              </a:spcAft>
            </a:pPr>
            <a:r>
              <a:rPr sz="1500" b="1" i="0">
                <a:solidFill>
                  <a:srgbClr val="2A78D6"/>
                </a:solidFill>
                <a:latin typeface="Segoe UI"/>
              </a:rPr>
              <a:t>06–07</a:t>
            </a:r>
          </a:p>
        </p:txBody>
      </p:sp>
      <p:sp>
        <p:nvSpPr>
          <p:cNvPr id="27" name="TextBox 26"/>
          <p:cNvSpPr txBox="1"/>
          <p:nvPr/>
        </p:nvSpPr>
        <p:spPr>
          <a:xfrm>
            <a:off x="5515125" y="2395728"/>
            <a:ext cx="1161719" cy="512064"/>
          </a:xfrm>
          <a:prstGeom prst="rect">
            <a:avLst/>
          </a:prstGeom>
          <a:noFill/>
        </p:spPr>
        <p:txBody>
          <a:bodyPr wrap="square" lIns="0" rIns="0" tIns="0" bIns="0" anchor="t">
            <a:spAutoFit/>
          </a:bodyPr>
          <a:lstStyle/>
          <a:p>
            <a:pPr algn="l">
              <a:lnSpc>
                <a:spcPct val="118000"/>
              </a:lnSpc>
              <a:spcAft>
                <a:spcPts val="0"/>
              </a:spcAft>
            </a:pPr>
            <a:r>
              <a:rPr sz="1150" b="1" i="0">
                <a:solidFill>
                  <a:srgbClr val="0B0B0B"/>
                </a:solidFill>
                <a:latin typeface="Segoe UI"/>
              </a:rPr>
              <a:t>Distribution &amp; outliers</a:t>
            </a:r>
          </a:p>
        </p:txBody>
      </p:sp>
      <p:sp>
        <p:nvSpPr>
          <p:cNvPr id="28" name="TextBox 27"/>
          <p:cNvSpPr txBox="1"/>
          <p:nvPr/>
        </p:nvSpPr>
        <p:spPr>
          <a:xfrm>
            <a:off x="5515125" y="2944368"/>
            <a:ext cx="1161719" cy="640080"/>
          </a:xfrm>
          <a:prstGeom prst="rect">
            <a:avLst/>
          </a:prstGeom>
          <a:noFill/>
        </p:spPr>
        <p:txBody>
          <a:bodyPr wrap="square" lIns="0" rIns="0" tIns="0" bIns="0" anchor="t">
            <a:spAutoFit/>
          </a:bodyPr>
          <a:lstStyle/>
          <a:p>
            <a:pPr algn="l">
              <a:lnSpc>
                <a:spcPct val="120000"/>
              </a:lnSpc>
              <a:spcAft>
                <a:spcPts val="0"/>
              </a:spcAft>
            </a:pPr>
            <a:r>
              <a:rPr sz="900" b="0" i="0">
                <a:solidFill>
                  <a:srgbClr val="898781"/>
                </a:solidFill>
                <a:latin typeface="Segoe UI"/>
              </a:rPr>
              <a:t>Shape of every numeric feature, IQR review</a:t>
            </a:r>
          </a:p>
        </p:txBody>
      </p:sp>
      <p:sp>
        <p:nvSpPr>
          <p:cNvPr id="29" name="TextBox 28"/>
          <p:cNvSpPr txBox="1"/>
          <p:nvPr/>
        </p:nvSpPr>
        <p:spPr>
          <a:xfrm>
            <a:off x="6834121" y="2560320"/>
            <a:ext cx="128016" cy="237744"/>
          </a:xfrm>
          <a:prstGeom prst="rect">
            <a:avLst/>
          </a:prstGeom>
          <a:noFill/>
        </p:spPr>
        <p:txBody>
          <a:bodyPr wrap="square" lIns="0" rIns="0" tIns="0" bIns="0" anchor="t">
            <a:spAutoFit/>
          </a:bodyPr>
          <a:lstStyle/>
          <a:p>
            <a:pPr algn="ctr">
              <a:lnSpc>
                <a:spcPct val="124000"/>
              </a:lnSpc>
              <a:spcAft>
                <a:spcPts val="0"/>
              </a:spcAft>
            </a:pPr>
            <a:r>
              <a:rPr sz="1500" b="0" i="0">
                <a:solidFill>
                  <a:srgbClr val="898781"/>
                </a:solidFill>
                <a:latin typeface="Segoe UI"/>
              </a:rPr>
              <a:t>›</a:t>
            </a:r>
          </a:p>
        </p:txBody>
      </p:sp>
      <p:sp>
        <p:nvSpPr>
          <p:cNvPr id="30" name="Rectangle 29"/>
          <p:cNvSpPr/>
          <p:nvPr/>
        </p:nvSpPr>
        <p:spPr>
          <a:xfrm>
            <a:off x="6969452"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969452"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115756" y="2066543"/>
            <a:ext cx="1161719" cy="256032"/>
          </a:xfrm>
          <a:prstGeom prst="rect">
            <a:avLst/>
          </a:prstGeom>
          <a:noFill/>
        </p:spPr>
        <p:txBody>
          <a:bodyPr wrap="square" lIns="0" rIns="0" tIns="0" bIns="0" anchor="t">
            <a:spAutoFit/>
          </a:bodyPr>
          <a:lstStyle/>
          <a:p>
            <a:pPr algn="l">
              <a:lnSpc>
                <a:spcPct val="124000"/>
              </a:lnSpc>
              <a:spcAft>
                <a:spcPts val="0"/>
              </a:spcAft>
            </a:pPr>
            <a:r>
              <a:rPr sz="1500" b="1" i="0">
                <a:solidFill>
                  <a:srgbClr val="2A78D6"/>
                </a:solidFill>
                <a:latin typeface="Segoe UI"/>
              </a:rPr>
              <a:t>08</a:t>
            </a:r>
          </a:p>
        </p:txBody>
      </p:sp>
      <p:sp>
        <p:nvSpPr>
          <p:cNvPr id="33" name="TextBox 32"/>
          <p:cNvSpPr txBox="1"/>
          <p:nvPr/>
        </p:nvSpPr>
        <p:spPr>
          <a:xfrm>
            <a:off x="7115756" y="2395728"/>
            <a:ext cx="1161719" cy="512064"/>
          </a:xfrm>
          <a:prstGeom prst="rect">
            <a:avLst/>
          </a:prstGeom>
          <a:noFill/>
        </p:spPr>
        <p:txBody>
          <a:bodyPr wrap="square" lIns="0" rIns="0" tIns="0" bIns="0" anchor="t">
            <a:spAutoFit/>
          </a:bodyPr>
          <a:lstStyle/>
          <a:p>
            <a:pPr algn="l">
              <a:lnSpc>
                <a:spcPct val="118000"/>
              </a:lnSpc>
              <a:spcAft>
                <a:spcPts val="0"/>
              </a:spcAft>
            </a:pPr>
            <a:r>
              <a:rPr sz="1150" b="1" i="0">
                <a:solidFill>
                  <a:srgbClr val="0B0B0B"/>
                </a:solidFill>
                <a:latin typeface="Segoe UI"/>
              </a:rPr>
              <a:t>Correlation</a:t>
            </a:r>
          </a:p>
        </p:txBody>
      </p:sp>
      <p:sp>
        <p:nvSpPr>
          <p:cNvPr id="34" name="TextBox 33"/>
          <p:cNvSpPr txBox="1"/>
          <p:nvPr/>
        </p:nvSpPr>
        <p:spPr>
          <a:xfrm>
            <a:off x="7115756" y="2944368"/>
            <a:ext cx="1161719" cy="640080"/>
          </a:xfrm>
          <a:prstGeom prst="rect">
            <a:avLst/>
          </a:prstGeom>
          <a:noFill/>
        </p:spPr>
        <p:txBody>
          <a:bodyPr wrap="square" lIns="0" rIns="0" tIns="0" bIns="0" anchor="t">
            <a:spAutoFit/>
          </a:bodyPr>
          <a:lstStyle/>
          <a:p>
            <a:pPr algn="l">
              <a:lnSpc>
                <a:spcPct val="120000"/>
              </a:lnSpc>
              <a:spcAft>
                <a:spcPts val="0"/>
              </a:spcAft>
            </a:pPr>
            <a:r>
              <a:rPr sz="900" b="0" i="0">
                <a:solidFill>
                  <a:srgbClr val="898781"/>
                </a:solidFill>
                <a:latin typeface="Segoe UI"/>
              </a:rPr>
              <a:t>Group gaps and Pearson screening</a:t>
            </a:r>
          </a:p>
        </p:txBody>
      </p:sp>
      <p:sp>
        <p:nvSpPr>
          <p:cNvPr id="35" name="TextBox 34"/>
          <p:cNvSpPr txBox="1"/>
          <p:nvPr/>
        </p:nvSpPr>
        <p:spPr>
          <a:xfrm>
            <a:off x="8434752" y="2560320"/>
            <a:ext cx="128016" cy="237744"/>
          </a:xfrm>
          <a:prstGeom prst="rect">
            <a:avLst/>
          </a:prstGeom>
          <a:noFill/>
        </p:spPr>
        <p:txBody>
          <a:bodyPr wrap="square" lIns="0" rIns="0" tIns="0" bIns="0" anchor="t">
            <a:spAutoFit/>
          </a:bodyPr>
          <a:lstStyle/>
          <a:p>
            <a:pPr algn="ctr">
              <a:lnSpc>
                <a:spcPct val="124000"/>
              </a:lnSpc>
              <a:spcAft>
                <a:spcPts val="0"/>
              </a:spcAft>
            </a:pPr>
            <a:r>
              <a:rPr sz="1500" b="0" i="0">
                <a:solidFill>
                  <a:srgbClr val="898781"/>
                </a:solidFill>
                <a:latin typeface="Segoe UI"/>
              </a:rPr>
              <a:t>›</a:t>
            </a:r>
          </a:p>
        </p:txBody>
      </p:sp>
      <p:sp>
        <p:nvSpPr>
          <p:cNvPr id="36" name="Rectangle 35"/>
          <p:cNvSpPr/>
          <p:nvPr/>
        </p:nvSpPr>
        <p:spPr>
          <a:xfrm>
            <a:off x="8570083"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8570083"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716387" y="2066543"/>
            <a:ext cx="1161719" cy="256032"/>
          </a:xfrm>
          <a:prstGeom prst="rect">
            <a:avLst/>
          </a:prstGeom>
          <a:noFill/>
        </p:spPr>
        <p:txBody>
          <a:bodyPr wrap="square" lIns="0" rIns="0" tIns="0" bIns="0" anchor="t">
            <a:spAutoFit/>
          </a:bodyPr>
          <a:lstStyle/>
          <a:p>
            <a:pPr algn="l">
              <a:lnSpc>
                <a:spcPct val="124000"/>
              </a:lnSpc>
              <a:spcAft>
                <a:spcPts val="0"/>
              </a:spcAft>
            </a:pPr>
            <a:r>
              <a:rPr sz="1500" b="1" i="0">
                <a:solidFill>
                  <a:srgbClr val="2A78D6"/>
                </a:solidFill>
                <a:latin typeface="Segoe UI"/>
              </a:rPr>
              <a:t>09</a:t>
            </a:r>
          </a:p>
        </p:txBody>
      </p:sp>
      <p:sp>
        <p:nvSpPr>
          <p:cNvPr id="39" name="TextBox 38"/>
          <p:cNvSpPr txBox="1"/>
          <p:nvPr/>
        </p:nvSpPr>
        <p:spPr>
          <a:xfrm>
            <a:off x="8716387" y="2395728"/>
            <a:ext cx="1161719" cy="512064"/>
          </a:xfrm>
          <a:prstGeom prst="rect">
            <a:avLst/>
          </a:prstGeom>
          <a:noFill/>
        </p:spPr>
        <p:txBody>
          <a:bodyPr wrap="square" lIns="0" rIns="0" tIns="0" bIns="0" anchor="t">
            <a:spAutoFit/>
          </a:bodyPr>
          <a:lstStyle/>
          <a:p>
            <a:pPr algn="l">
              <a:lnSpc>
                <a:spcPct val="118000"/>
              </a:lnSpc>
              <a:spcAft>
                <a:spcPts val="0"/>
              </a:spcAft>
            </a:pPr>
            <a:r>
              <a:rPr sz="1150" b="1" i="0">
                <a:solidFill>
                  <a:srgbClr val="0B0B0B"/>
                </a:solidFill>
                <a:latin typeface="Segoe UI"/>
              </a:rPr>
              <a:t>Visualise</a:t>
            </a:r>
          </a:p>
        </p:txBody>
      </p:sp>
      <p:sp>
        <p:nvSpPr>
          <p:cNvPr id="40" name="TextBox 39"/>
          <p:cNvSpPr txBox="1"/>
          <p:nvPr/>
        </p:nvSpPr>
        <p:spPr>
          <a:xfrm>
            <a:off x="8716387" y="2944368"/>
            <a:ext cx="1161719" cy="640080"/>
          </a:xfrm>
          <a:prstGeom prst="rect">
            <a:avLst/>
          </a:prstGeom>
          <a:noFill/>
        </p:spPr>
        <p:txBody>
          <a:bodyPr wrap="square" lIns="0" rIns="0" tIns="0" bIns="0" anchor="t">
            <a:spAutoFit/>
          </a:bodyPr>
          <a:lstStyle/>
          <a:p>
            <a:pPr algn="l">
              <a:lnSpc>
                <a:spcPct val="120000"/>
              </a:lnSpc>
              <a:spcAft>
                <a:spcPts val="0"/>
              </a:spcAft>
            </a:pPr>
            <a:r>
              <a:rPr sz="900" b="0" i="0">
                <a:solidFill>
                  <a:srgbClr val="898781"/>
                </a:solidFill>
                <a:latin typeface="Segoe UI"/>
              </a:rPr>
              <a:t>Age, income, tenure, experience distributions</a:t>
            </a:r>
          </a:p>
        </p:txBody>
      </p:sp>
      <p:sp>
        <p:nvSpPr>
          <p:cNvPr id="41" name="TextBox 40"/>
          <p:cNvSpPr txBox="1"/>
          <p:nvPr/>
        </p:nvSpPr>
        <p:spPr>
          <a:xfrm>
            <a:off x="10035383" y="2560320"/>
            <a:ext cx="128016" cy="237744"/>
          </a:xfrm>
          <a:prstGeom prst="rect">
            <a:avLst/>
          </a:prstGeom>
          <a:noFill/>
        </p:spPr>
        <p:txBody>
          <a:bodyPr wrap="square" lIns="0" rIns="0" tIns="0" bIns="0" anchor="t">
            <a:spAutoFit/>
          </a:bodyPr>
          <a:lstStyle/>
          <a:p>
            <a:pPr algn="ctr">
              <a:lnSpc>
                <a:spcPct val="124000"/>
              </a:lnSpc>
              <a:spcAft>
                <a:spcPts val="0"/>
              </a:spcAft>
            </a:pPr>
            <a:r>
              <a:rPr sz="1500" b="0" i="0">
                <a:solidFill>
                  <a:srgbClr val="898781"/>
                </a:solidFill>
                <a:latin typeface="Segoe UI"/>
              </a:rPr>
              <a:t>›</a:t>
            </a:r>
          </a:p>
        </p:txBody>
      </p:sp>
      <p:sp>
        <p:nvSpPr>
          <p:cNvPr id="42" name="Rectangle 41"/>
          <p:cNvSpPr/>
          <p:nvPr/>
        </p:nvSpPr>
        <p:spPr>
          <a:xfrm>
            <a:off x="10170714"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10170714" y="1874519"/>
            <a:ext cx="1454327" cy="4114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0317018" y="2066543"/>
            <a:ext cx="1161719" cy="256032"/>
          </a:xfrm>
          <a:prstGeom prst="rect">
            <a:avLst/>
          </a:prstGeom>
          <a:noFill/>
        </p:spPr>
        <p:txBody>
          <a:bodyPr wrap="square" lIns="0" rIns="0" tIns="0" bIns="0" anchor="t">
            <a:spAutoFit/>
          </a:bodyPr>
          <a:lstStyle/>
          <a:p>
            <a:pPr algn="l">
              <a:lnSpc>
                <a:spcPct val="124000"/>
              </a:lnSpc>
              <a:spcAft>
                <a:spcPts val="0"/>
              </a:spcAft>
            </a:pPr>
            <a:r>
              <a:rPr sz="1500" b="1" i="0">
                <a:solidFill>
                  <a:srgbClr val="898781"/>
                </a:solidFill>
                <a:latin typeface="Segoe UI"/>
              </a:rPr>
              <a:t>10</a:t>
            </a:r>
          </a:p>
        </p:txBody>
      </p:sp>
      <p:sp>
        <p:nvSpPr>
          <p:cNvPr id="45" name="TextBox 44"/>
          <p:cNvSpPr txBox="1"/>
          <p:nvPr/>
        </p:nvSpPr>
        <p:spPr>
          <a:xfrm>
            <a:off x="10317018" y="2395728"/>
            <a:ext cx="1161719" cy="512064"/>
          </a:xfrm>
          <a:prstGeom prst="rect">
            <a:avLst/>
          </a:prstGeom>
          <a:noFill/>
        </p:spPr>
        <p:txBody>
          <a:bodyPr wrap="square" lIns="0" rIns="0" tIns="0" bIns="0" anchor="t">
            <a:spAutoFit/>
          </a:bodyPr>
          <a:lstStyle/>
          <a:p>
            <a:pPr algn="l">
              <a:lnSpc>
                <a:spcPct val="118000"/>
              </a:lnSpc>
              <a:spcAft>
                <a:spcPts val="0"/>
              </a:spcAft>
            </a:pPr>
            <a:r>
              <a:rPr sz="1150" b="1" i="0">
                <a:solidFill>
                  <a:srgbClr val="0B0B0B"/>
                </a:solidFill>
                <a:latin typeface="Segoe UI"/>
              </a:rPr>
              <a:t>Model</a:t>
            </a:r>
          </a:p>
        </p:txBody>
      </p:sp>
      <p:sp>
        <p:nvSpPr>
          <p:cNvPr id="46" name="TextBox 45"/>
          <p:cNvSpPr txBox="1"/>
          <p:nvPr/>
        </p:nvSpPr>
        <p:spPr>
          <a:xfrm>
            <a:off x="10317018" y="2944368"/>
            <a:ext cx="1161719" cy="640080"/>
          </a:xfrm>
          <a:prstGeom prst="rect">
            <a:avLst/>
          </a:prstGeom>
          <a:noFill/>
        </p:spPr>
        <p:txBody>
          <a:bodyPr wrap="square" lIns="0" rIns="0" tIns="0" bIns="0" anchor="t">
            <a:spAutoFit/>
          </a:bodyPr>
          <a:lstStyle/>
          <a:p>
            <a:pPr algn="l">
              <a:lnSpc>
                <a:spcPct val="120000"/>
              </a:lnSpc>
              <a:spcAft>
                <a:spcPts val="0"/>
              </a:spcAft>
            </a:pPr>
            <a:r>
              <a:rPr sz="900" b="0" i="0">
                <a:solidFill>
                  <a:srgbClr val="898781"/>
                </a:solidFill>
                <a:latin typeface="Segoe UI"/>
              </a:rPr>
              <a:t>Logistic regression as a closing check</a:t>
            </a:r>
          </a:p>
        </p:txBody>
      </p:sp>
      <p:sp>
        <p:nvSpPr>
          <p:cNvPr id="47" name="TextBox 46"/>
          <p:cNvSpPr txBox="1"/>
          <p:nvPr/>
        </p:nvSpPr>
        <p:spPr>
          <a:xfrm>
            <a:off x="566928" y="3986784"/>
            <a:ext cx="11058113" cy="256032"/>
          </a:xfrm>
          <a:prstGeom prst="rect">
            <a:avLst/>
          </a:prstGeom>
          <a:noFill/>
        </p:spPr>
        <p:txBody>
          <a:bodyPr wrap="square" lIns="0" rIns="0" tIns="0" bIns="0" anchor="t">
            <a:spAutoFit/>
          </a:bodyPr>
          <a:lstStyle/>
          <a:p>
            <a:pPr algn="l">
              <a:lnSpc>
                <a:spcPct val="124000"/>
              </a:lnSpc>
              <a:spcAft>
                <a:spcPts val="0"/>
              </a:spcAft>
            </a:pPr>
            <a:r>
              <a:rPr sz="1250" b="1" i="0">
                <a:solidFill>
                  <a:srgbClr val="0B0B0B"/>
                </a:solidFill>
                <a:latin typeface="Segoe UI"/>
              </a:rPr>
              <a:t>How every segment rate is read</a:t>
            </a:r>
          </a:p>
        </p:txBody>
      </p:sp>
      <p:sp>
        <p:nvSpPr>
          <p:cNvPr id="48" name="TextBox 47"/>
          <p:cNvSpPr txBox="1"/>
          <p:nvPr/>
        </p:nvSpPr>
        <p:spPr>
          <a:xfrm>
            <a:off x="566928" y="4334256"/>
            <a:ext cx="5852160" cy="1737360"/>
          </a:xfrm>
          <a:prstGeom prst="rect">
            <a:avLst/>
          </a:prstGeom>
          <a:noFill/>
        </p:spPr>
        <p:txBody>
          <a:bodyPr wrap="square" lIns="0" rIns="0" tIns="0" bIns="0" anchor="t">
            <a:spAutoFit/>
          </a:bodyPr>
          <a:lstStyle/>
          <a:p>
            <a:pPr algn="l">
              <a:lnSpc>
                <a:spcPct val="122000"/>
              </a:lnSpc>
              <a:spcAft>
                <a:spcPts val="700"/>
              </a:spcAft>
            </a:pPr>
            <a:r>
              <a:rPr sz="1050" b="1" i="0">
                <a:solidFill>
                  <a:srgbClr val="2A78D6"/>
                </a:solidFill>
                <a:latin typeface="Segoe UI"/>
              </a:rPr>
              <a:t>•  </a:t>
            </a:r>
            <a:r>
              <a:rPr sz="1050" b="1" i="0">
                <a:solidFill>
                  <a:srgbClr val="0B0B0B"/>
                </a:solidFill>
                <a:latin typeface="Segoe UI"/>
              </a:rPr>
              <a:t>Rate  </a:t>
            </a:r>
            <a:r>
              <a:rPr sz="1050" b="0" i="0">
                <a:solidFill>
                  <a:srgbClr val="52514E"/>
                </a:solidFill>
                <a:latin typeface="Segoe UI"/>
              </a:rPr>
              <a:t>Leavers ÷ headcount within the segment</a:t>
            </a:r>
          </a:p>
          <a:p>
            <a:pPr algn="l">
              <a:lnSpc>
                <a:spcPct val="122000"/>
              </a:lnSpc>
              <a:spcAft>
                <a:spcPts val="700"/>
              </a:spcAft>
            </a:pPr>
            <a:r>
              <a:rPr sz="1050" b="1" i="0">
                <a:solidFill>
                  <a:srgbClr val="2A78D6"/>
                </a:solidFill>
                <a:latin typeface="Segoe UI"/>
              </a:rPr>
              <a:t>•  </a:t>
            </a:r>
            <a:r>
              <a:rPr sz="1050" b="1" i="0">
                <a:solidFill>
                  <a:srgbClr val="0B0B0B"/>
                </a:solidFill>
                <a:latin typeface="Segoe UI"/>
              </a:rPr>
              <a:t>Gap  </a:t>
            </a:r>
            <a:r>
              <a:rPr sz="1050" b="0" i="0">
                <a:solidFill>
                  <a:srgbClr val="52514E"/>
                </a:solidFill>
                <a:latin typeface="Segoe UI"/>
              </a:rPr>
              <a:t>Segment rate minus the 16.1% company baseline, in percentage points</a:t>
            </a:r>
          </a:p>
          <a:p>
            <a:pPr algn="l">
              <a:lnSpc>
                <a:spcPct val="122000"/>
              </a:lnSpc>
              <a:spcAft>
                <a:spcPts val="700"/>
              </a:spcAft>
            </a:pPr>
            <a:r>
              <a:rPr sz="1050" b="1" i="0">
                <a:solidFill>
                  <a:srgbClr val="2A78D6"/>
                </a:solidFill>
                <a:latin typeface="Segoe UI"/>
              </a:rPr>
              <a:t>•  </a:t>
            </a:r>
            <a:r>
              <a:rPr sz="1050" b="1" i="0">
                <a:solidFill>
                  <a:srgbClr val="0B0B0B"/>
                </a:solidFill>
                <a:latin typeface="Segoe UI"/>
              </a:rPr>
              <a:t>Relative  </a:t>
            </a:r>
            <a:r>
              <a:rPr sz="1050" b="0" i="0">
                <a:solidFill>
                  <a:srgbClr val="52514E"/>
                </a:solidFill>
                <a:latin typeface="Segoe UI"/>
              </a:rPr>
              <a:t>Segment rate ÷ baseline — how many times the company rate</a:t>
            </a:r>
          </a:p>
          <a:p>
            <a:pPr algn="l">
              <a:lnSpc>
                <a:spcPct val="122000"/>
              </a:lnSpc>
              <a:spcAft>
                <a:spcPts val="700"/>
              </a:spcAft>
            </a:pPr>
            <a:r>
              <a:rPr sz="1050" b="1" i="0">
                <a:solidFill>
                  <a:srgbClr val="2A78D6"/>
                </a:solidFill>
                <a:latin typeface="Segoe UI"/>
              </a:rPr>
              <a:t>•  </a:t>
            </a:r>
            <a:r>
              <a:rPr sz="1050" b="1" i="0">
                <a:solidFill>
                  <a:srgbClr val="0B0B0B"/>
                </a:solidFill>
                <a:latin typeface="Segoe UI"/>
              </a:rPr>
              <a:t>Excess  </a:t>
            </a:r>
            <a:r>
              <a:rPr sz="1050" b="0" i="0">
                <a:solidFill>
                  <a:srgbClr val="52514E"/>
                </a:solidFill>
                <a:latin typeface="Segoe UI"/>
              </a:rPr>
              <a:t>Actual leavers minus headcount × 16.1% — separates a high rate from a large number of extra departures</a:t>
            </a:r>
          </a:p>
        </p:txBody>
      </p:sp>
      <p:sp>
        <p:nvSpPr>
          <p:cNvPr id="49" name="Rectangle 48"/>
          <p:cNvSpPr/>
          <p:nvPr/>
        </p:nvSpPr>
        <p:spPr>
          <a:xfrm>
            <a:off x="6784848" y="3986784"/>
            <a:ext cx="4840193" cy="210312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6784848" y="3986784"/>
            <a:ext cx="41148" cy="21031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7004304" y="4123944"/>
            <a:ext cx="4437857" cy="219456"/>
          </a:xfrm>
          <a:prstGeom prst="rect">
            <a:avLst/>
          </a:prstGeom>
          <a:noFill/>
        </p:spPr>
        <p:txBody>
          <a:bodyPr wrap="square" lIns="0" rIns="0" tIns="0" bIns="0" anchor="t">
            <a:spAutoFit/>
          </a:bodyPr>
          <a:lstStyle/>
          <a:p>
            <a:pPr algn="l">
              <a:lnSpc>
                <a:spcPct val="124000"/>
              </a:lnSpc>
              <a:spcAft>
                <a:spcPts val="0"/>
              </a:spcAft>
            </a:pPr>
            <a:r>
              <a:rPr sz="850" b="1" i="0">
                <a:solidFill>
                  <a:srgbClr val="2A78D6"/>
                </a:solidFill>
                <a:latin typeface="Segoe UI"/>
              </a:rPr>
              <a:t>WHY EXCESS ATTRITION MATTERS</a:t>
            </a:r>
          </a:p>
        </p:txBody>
      </p:sp>
      <p:sp>
        <p:nvSpPr>
          <p:cNvPr id="52" name="TextBox 51"/>
          <p:cNvSpPr txBox="1"/>
          <p:nvPr/>
        </p:nvSpPr>
        <p:spPr>
          <a:xfrm>
            <a:off x="7004304" y="4370832"/>
            <a:ext cx="4437857" cy="1609343"/>
          </a:xfrm>
          <a:prstGeom prst="rect">
            <a:avLst/>
          </a:prstGeom>
          <a:noFill/>
        </p:spPr>
        <p:txBody>
          <a:bodyPr wrap="square" lIns="0" rIns="0" tIns="0" bIns="0" anchor="t">
            <a:spAutoFit/>
          </a:bodyPr>
          <a:lstStyle/>
          <a:p>
            <a:pPr algn="l">
              <a:lnSpc>
                <a:spcPct val="126000"/>
              </a:lnSpc>
              <a:spcAft>
                <a:spcPts val="0"/>
              </a:spcAft>
            </a:pPr>
            <a:r>
              <a:rPr sz="1150" b="0" i="0">
                <a:solidFill>
                  <a:srgbClr val="0B0B0B"/>
                </a:solidFill>
                <a:latin typeface="Segoe UI"/>
              </a:rPr>
              <a:t>A 23.1% rate in Human Resources (52 people) and a 23.9% rate among Laboratory Technicians (259 people) look alike as percentages. In excess departures they are +4 and +20. Rate says where the problem is sharpest; excess says where it is biggest.</a:t>
            </a:r>
          </a:p>
        </p:txBody>
      </p:sp>
      <p:sp>
        <p:nvSpPr>
          <p:cNvPr id="53" name="Rectangle 52"/>
          <p:cNvSpPr/>
          <p:nvPr/>
        </p:nvSpPr>
        <p:spPr>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566928" y="6455664"/>
            <a:ext cx="7961841" cy="219456"/>
          </a:xfrm>
          <a:prstGeom prst="rect">
            <a:avLst/>
          </a:prstGeom>
          <a:noFill/>
        </p:spPr>
        <p:txBody>
          <a:bodyPr wrap="square" lIns="0" rIns="0" tIns="0" bIns="0" anchor="t">
            <a:spAutoFit/>
          </a:bodyPr>
          <a:lstStyle/>
          <a:p>
            <a:pPr algn="l">
              <a:lnSpc>
                <a:spcPct val="124000"/>
              </a:lnSpc>
              <a:spcAft>
                <a:spcPts val="0"/>
              </a:spcAft>
            </a:pPr>
            <a:r>
              <a:rPr sz="850" b="0" i="0">
                <a:solidFill>
                  <a:srgbClr val="898781"/>
                </a:solidFill>
                <a:latin typeface="Segoe UI"/>
              </a:rPr>
              <a:t>notebooks/00–10 · README.md Roadmap</a:t>
            </a:r>
          </a:p>
        </p:txBody>
      </p:sp>
      <p:sp>
        <p:nvSpPr>
          <p:cNvPr id="55" name="TextBox 54"/>
          <p:cNvSpPr txBox="1"/>
          <p:nvPr/>
        </p:nvSpPr>
        <p:spPr>
          <a:xfrm>
            <a:off x="8749932" y="6455664"/>
            <a:ext cx="2875109" cy="219456"/>
          </a:xfrm>
          <a:prstGeom prst="rect">
            <a:avLst/>
          </a:prstGeom>
          <a:noFill/>
        </p:spPr>
        <p:txBody>
          <a:bodyPr wrap="square" lIns="0" rIns="0" tIns="0" bIns="0" anchor="t">
            <a:spAutoFit/>
          </a:bodyPr>
          <a:lstStyle/>
          <a:p>
            <a:pPr algn="r">
              <a:lnSpc>
                <a:spcPct val="124000"/>
              </a:lnSpc>
              <a:spcAft>
                <a:spcPts val="0"/>
              </a:spcAft>
            </a:pPr>
            <a:r>
              <a:rPr sz="850" b="0" i="0">
                <a:solidFill>
                  <a:srgbClr val="898781"/>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8113" cy="219456"/>
          </a:xfrm>
          <a:prstGeom prst="rect">
            <a:avLst/>
          </a:prstGeom>
          <a:noFill/>
        </p:spPr>
        <p:txBody>
          <a:bodyPr wrap="square" lIns="0" rIns="0" tIns="0" bIns="0" anchor="t">
            <a:spAutoFit/>
          </a:bodyPr>
          <a:lstStyle/>
          <a:p>
            <a:pPr algn="l">
              <a:lnSpc>
                <a:spcPct val="124000"/>
              </a:lnSpc>
              <a:spcAft>
                <a:spcPts val="0"/>
              </a:spcAft>
            </a:pPr>
            <a:r>
              <a:rPr sz="950" b="1" i="0">
                <a:solidFill>
                  <a:srgbClr val="2A78D6"/>
                </a:solidFill>
                <a:latin typeface="Segoe UI"/>
              </a:rPr>
              <a:t>EDA STEP 00–02</a:t>
            </a:r>
          </a:p>
        </p:txBody>
      </p:sp>
      <p:sp>
        <p:nvSpPr>
          <p:cNvPr id="3" name="TextBox 2"/>
          <p:cNvSpPr txBox="1"/>
          <p:nvPr/>
        </p:nvSpPr>
        <p:spPr>
          <a:xfrm>
            <a:off x="566928" y="603504"/>
            <a:ext cx="11058113" cy="475488"/>
          </a:xfrm>
          <a:prstGeom prst="rect">
            <a:avLst/>
          </a:prstGeom>
          <a:noFill/>
        </p:spPr>
        <p:txBody>
          <a:bodyPr wrap="square" lIns="0" rIns="0" tIns="0" bIns="0" anchor="t">
            <a:spAutoFit/>
          </a:bodyPr>
          <a:lstStyle/>
          <a:p>
            <a:pPr algn="l">
              <a:lnSpc>
                <a:spcPct val="124000"/>
              </a:lnSpc>
              <a:spcAft>
                <a:spcPts val="0"/>
              </a:spcAft>
            </a:pPr>
            <a:r>
              <a:rPr sz="2500" b="1" i="0">
                <a:solidFill>
                  <a:srgbClr val="0B0B0B"/>
                </a:solidFill>
                <a:latin typeface="Segoe UI"/>
              </a:rPr>
              <a:t>Steps 00–02 · Profiling, duplicates and missing values</a:t>
            </a:r>
          </a:p>
        </p:txBody>
      </p:sp>
      <p:sp>
        <p:nvSpPr>
          <p:cNvPr id="4" name="TextBox 3"/>
          <p:cNvSpPr txBox="1"/>
          <p:nvPr/>
        </p:nvSpPr>
        <p:spPr>
          <a:xfrm>
            <a:off x="566928" y="1106424"/>
            <a:ext cx="11058113" cy="274320"/>
          </a:xfrm>
          <a:prstGeom prst="rect">
            <a:avLst/>
          </a:prstGeom>
          <a:noFill/>
        </p:spPr>
        <p:txBody>
          <a:bodyPr wrap="square" lIns="0" rIns="0" tIns="0" bIns="0" anchor="t">
            <a:spAutoFit/>
          </a:bodyPr>
          <a:lstStyle/>
          <a:p>
            <a:pPr algn="l">
              <a:lnSpc>
                <a:spcPct val="124000"/>
              </a:lnSpc>
              <a:spcAft>
                <a:spcPts val="0"/>
              </a:spcAft>
            </a:pPr>
            <a:r>
              <a:rPr sz="1250" b="0" i="0">
                <a:solidFill>
                  <a:srgbClr val="52514E"/>
                </a:solidFill>
                <a:latin typeface="Segoe UI"/>
              </a:rPr>
              <a:t>Objective: establish that the data is complete, unique and structurally sound before any analysis depends on it.</a:t>
            </a:r>
          </a:p>
        </p:txBody>
      </p:sp>
      <p:sp>
        <p:nvSpPr>
          <p:cNvPr id="5" name="Rectangle 4"/>
          <p:cNvSpPr/>
          <p:nvPr/>
        </p:nvSpPr>
        <p:spPr>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66928" y="1700784"/>
            <a:ext cx="3527541" cy="32461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66928" y="1700784"/>
            <a:ext cx="3527541"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86384" y="1920240"/>
            <a:ext cx="3088629" cy="512064"/>
          </a:xfrm>
          <a:prstGeom prst="rect">
            <a:avLst/>
          </a:prstGeom>
          <a:noFill/>
        </p:spPr>
        <p:txBody>
          <a:bodyPr wrap="square" lIns="0" rIns="0" tIns="0" bIns="0" anchor="t">
            <a:spAutoFit/>
          </a:bodyPr>
          <a:lstStyle/>
          <a:p>
            <a:pPr algn="l">
              <a:lnSpc>
                <a:spcPct val="118000"/>
              </a:lnSpc>
              <a:spcAft>
                <a:spcPts val="0"/>
              </a:spcAft>
            </a:pPr>
            <a:r>
              <a:rPr sz="1250" b="1" i="0">
                <a:solidFill>
                  <a:srgbClr val="0B0B0B"/>
                </a:solidFill>
                <a:latin typeface="Segoe UI"/>
              </a:rPr>
              <a:t>00 · Exploring the dataset</a:t>
            </a:r>
          </a:p>
        </p:txBody>
      </p:sp>
      <p:sp>
        <p:nvSpPr>
          <p:cNvPr id="9" name="TextBox 8"/>
          <p:cNvSpPr txBox="1"/>
          <p:nvPr/>
        </p:nvSpPr>
        <p:spPr>
          <a:xfrm>
            <a:off x="786384" y="2523744"/>
            <a:ext cx="3088629" cy="219456"/>
          </a:xfrm>
          <a:prstGeom prst="rect">
            <a:avLst/>
          </a:prstGeom>
          <a:noFill/>
        </p:spPr>
        <p:txBody>
          <a:bodyPr wrap="square" lIns="0" rIns="0" tIns="0" bIns="0" anchor="t">
            <a:spAutoFit/>
          </a:bodyPr>
          <a:lstStyle/>
          <a:p>
            <a:pPr algn="l">
              <a:lnSpc>
                <a:spcPct val="124000"/>
              </a:lnSpc>
              <a:spcAft>
                <a:spcPts val="0"/>
              </a:spcAft>
            </a:pPr>
            <a:r>
              <a:rPr sz="850" b="1" i="0">
                <a:solidFill>
                  <a:srgbClr val="2A78D6"/>
                </a:solidFill>
                <a:latin typeface="Segoe UI"/>
              </a:rPr>
              <a:t>ANALYSIS PERFORMED</a:t>
            </a:r>
          </a:p>
        </p:txBody>
      </p:sp>
      <p:sp>
        <p:nvSpPr>
          <p:cNvPr id="10" name="TextBox 9"/>
          <p:cNvSpPr txBox="1"/>
          <p:nvPr/>
        </p:nvSpPr>
        <p:spPr>
          <a:xfrm>
            <a:off x="786384" y="2761488"/>
            <a:ext cx="3088629" cy="914400"/>
          </a:xfrm>
          <a:prstGeom prst="rect">
            <a:avLst/>
          </a:prstGeom>
          <a:noFill/>
        </p:spPr>
        <p:txBody>
          <a:bodyPr wrap="square" lIns="0" rIns="0" tIns="0" bIns="0" anchor="t">
            <a:spAutoFit/>
          </a:bodyPr>
          <a:lstStyle/>
          <a:p>
            <a:pPr algn="l">
              <a:lnSpc>
                <a:spcPct val="124000"/>
              </a:lnSpc>
              <a:spcAft>
                <a:spcPts val="0"/>
              </a:spcAft>
            </a:pPr>
            <a:r>
              <a:rPr sz="1050" b="0" i="0">
                <a:solidFill>
                  <a:srgbClr val="52514E"/>
                </a:solidFill>
                <a:latin typeface="Segoe UI"/>
              </a:rPr>
              <a:t>Loaded the CSV, checked shape, catalogued every column's data type and unique-value count, and read the summary statistics for all numeric fields.</a:t>
            </a:r>
          </a:p>
        </p:txBody>
      </p:sp>
      <p:sp>
        <p:nvSpPr>
          <p:cNvPr id="11" name="TextBox 10"/>
          <p:cNvSpPr txBox="1"/>
          <p:nvPr/>
        </p:nvSpPr>
        <p:spPr>
          <a:xfrm>
            <a:off x="786384" y="3712464"/>
            <a:ext cx="3088629" cy="219456"/>
          </a:xfrm>
          <a:prstGeom prst="rect">
            <a:avLst/>
          </a:prstGeom>
          <a:noFill/>
        </p:spPr>
        <p:txBody>
          <a:bodyPr wrap="square" lIns="0" rIns="0" tIns="0" bIns="0" anchor="t">
            <a:spAutoFit/>
          </a:bodyPr>
          <a:lstStyle/>
          <a:p>
            <a:pPr algn="l">
              <a:lnSpc>
                <a:spcPct val="124000"/>
              </a:lnSpc>
              <a:spcAft>
                <a:spcPts val="0"/>
              </a:spcAft>
            </a:pPr>
            <a:r>
              <a:rPr sz="850" b="1" i="0">
                <a:solidFill>
                  <a:srgbClr val="2A78D6"/>
                </a:solidFill>
                <a:latin typeface="Segoe UI"/>
              </a:rPr>
              <a:t>FINDING</a:t>
            </a:r>
          </a:p>
        </p:txBody>
      </p:sp>
      <p:sp>
        <p:nvSpPr>
          <p:cNvPr id="12" name="TextBox 11"/>
          <p:cNvSpPr txBox="1"/>
          <p:nvPr/>
        </p:nvSpPr>
        <p:spPr>
          <a:xfrm>
            <a:off x="786384" y="3950208"/>
            <a:ext cx="3088629" cy="914400"/>
          </a:xfrm>
          <a:prstGeom prst="rect">
            <a:avLst/>
          </a:prstGeom>
          <a:noFill/>
        </p:spPr>
        <p:txBody>
          <a:bodyPr wrap="square" lIns="0" rIns="0" tIns="0" bIns="0" anchor="t">
            <a:spAutoFit/>
          </a:bodyPr>
          <a:lstStyle/>
          <a:p>
            <a:pPr algn="l">
              <a:lnSpc>
                <a:spcPct val="124000"/>
              </a:lnSpc>
              <a:spcAft>
                <a:spcPts val="0"/>
              </a:spcAft>
            </a:pPr>
            <a:r>
              <a:rPr sz="1050" b="0" i="0">
                <a:solidFill>
                  <a:srgbClr val="0B0B0B"/>
                </a:solidFill>
                <a:latin typeface="Segoe UI"/>
              </a:rPr>
              <a:t>1,470 rows × 35 columns, with 26 numeric and 9 text columns. Three columns hold a single value throughout — EmployeeCount, StandardHours and Over18 — and carry no analytical value.</a:t>
            </a:r>
          </a:p>
        </p:txBody>
      </p:sp>
      <p:sp>
        <p:nvSpPr>
          <p:cNvPr id="13" name="Rectangle 12"/>
          <p:cNvSpPr/>
          <p:nvPr/>
        </p:nvSpPr>
        <p:spPr>
          <a:xfrm>
            <a:off x="4332213" y="1700784"/>
            <a:ext cx="3527541" cy="32461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32213" y="1700784"/>
            <a:ext cx="3527541"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51669" y="1920240"/>
            <a:ext cx="3088629" cy="512064"/>
          </a:xfrm>
          <a:prstGeom prst="rect">
            <a:avLst/>
          </a:prstGeom>
          <a:noFill/>
        </p:spPr>
        <p:txBody>
          <a:bodyPr wrap="square" lIns="0" rIns="0" tIns="0" bIns="0" anchor="t">
            <a:spAutoFit/>
          </a:bodyPr>
          <a:lstStyle/>
          <a:p>
            <a:pPr algn="l">
              <a:lnSpc>
                <a:spcPct val="118000"/>
              </a:lnSpc>
              <a:spcAft>
                <a:spcPts val="0"/>
              </a:spcAft>
            </a:pPr>
            <a:r>
              <a:rPr sz="1250" b="1" i="0">
                <a:solidFill>
                  <a:srgbClr val="0B0B0B"/>
                </a:solidFill>
                <a:latin typeface="Segoe UI"/>
              </a:rPr>
              <a:t>01 · Handling duplicates</a:t>
            </a:r>
          </a:p>
        </p:txBody>
      </p:sp>
      <p:sp>
        <p:nvSpPr>
          <p:cNvPr id="16" name="TextBox 15"/>
          <p:cNvSpPr txBox="1"/>
          <p:nvPr/>
        </p:nvSpPr>
        <p:spPr>
          <a:xfrm>
            <a:off x="4551669" y="2523744"/>
            <a:ext cx="3088629" cy="219456"/>
          </a:xfrm>
          <a:prstGeom prst="rect">
            <a:avLst/>
          </a:prstGeom>
          <a:noFill/>
        </p:spPr>
        <p:txBody>
          <a:bodyPr wrap="square" lIns="0" rIns="0" tIns="0" bIns="0" anchor="t">
            <a:spAutoFit/>
          </a:bodyPr>
          <a:lstStyle/>
          <a:p>
            <a:pPr algn="l">
              <a:lnSpc>
                <a:spcPct val="124000"/>
              </a:lnSpc>
              <a:spcAft>
                <a:spcPts val="0"/>
              </a:spcAft>
            </a:pPr>
            <a:r>
              <a:rPr sz="850" b="1" i="0">
                <a:solidFill>
                  <a:srgbClr val="2A78D6"/>
                </a:solidFill>
                <a:latin typeface="Segoe UI"/>
              </a:rPr>
              <a:t>ANALYSIS PERFORMED</a:t>
            </a:r>
          </a:p>
        </p:txBody>
      </p:sp>
      <p:sp>
        <p:nvSpPr>
          <p:cNvPr id="17" name="TextBox 16"/>
          <p:cNvSpPr txBox="1"/>
          <p:nvPr/>
        </p:nvSpPr>
        <p:spPr>
          <a:xfrm>
            <a:off x="4551669" y="2761488"/>
            <a:ext cx="3088629" cy="914400"/>
          </a:xfrm>
          <a:prstGeom prst="rect">
            <a:avLst/>
          </a:prstGeom>
          <a:noFill/>
        </p:spPr>
        <p:txBody>
          <a:bodyPr wrap="square" lIns="0" rIns="0" tIns="0" bIns="0" anchor="t">
            <a:spAutoFit/>
          </a:bodyPr>
          <a:lstStyle/>
          <a:p>
            <a:pPr algn="l">
              <a:lnSpc>
                <a:spcPct val="124000"/>
              </a:lnSpc>
              <a:spcAft>
                <a:spcPts val="0"/>
              </a:spcAft>
            </a:pPr>
            <a:r>
              <a:rPr sz="1050" b="0" i="0">
                <a:solidFill>
                  <a:srgbClr val="52514E"/>
                </a:solidFill>
                <a:latin typeface="Segoe UI"/>
              </a:rPr>
              <a:t>Checked for fully duplicated rows and for repeated values in EmployeeNumber, the dataset's unique identifier.</a:t>
            </a:r>
          </a:p>
        </p:txBody>
      </p:sp>
      <p:sp>
        <p:nvSpPr>
          <p:cNvPr id="18" name="TextBox 17"/>
          <p:cNvSpPr txBox="1"/>
          <p:nvPr/>
        </p:nvSpPr>
        <p:spPr>
          <a:xfrm>
            <a:off x="4551669" y="3712464"/>
            <a:ext cx="3088629" cy="219456"/>
          </a:xfrm>
          <a:prstGeom prst="rect">
            <a:avLst/>
          </a:prstGeom>
          <a:noFill/>
        </p:spPr>
        <p:txBody>
          <a:bodyPr wrap="square" lIns="0" rIns="0" tIns="0" bIns="0" anchor="t">
            <a:spAutoFit/>
          </a:bodyPr>
          <a:lstStyle/>
          <a:p>
            <a:pPr algn="l">
              <a:lnSpc>
                <a:spcPct val="124000"/>
              </a:lnSpc>
              <a:spcAft>
                <a:spcPts val="0"/>
              </a:spcAft>
            </a:pPr>
            <a:r>
              <a:rPr sz="850" b="1" i="0">
                <a:solidFill>
                  <a:srgbClr val="2A78D6"/>
                </a:solidFill>
                <a:latin typeface="Segoe UI"/>
              </a:rPr>
              <a:t>FINDING</a:t>
            </a:r>
          </a:p>
        </p:txBody>
      </p:sp>
      <p:sp>
        <p:nvSpPr>
          <p:cNvPr id="19" name="TextBox 18"/>
          <p:cNvSpPr txBox="1"/>
          <p:nvPr/>
        </p:nvSpPr>
        <p:spPr>
          <a:xfrm>
            <a:off x="4551669" y="3950208"/>
            <a:ext cx="3088629" cy="914400"/>
          </a:xfrm>
          <a:prstGeom prst="rect">
            <a:avLst/>
          </a:prstGeom>
          <a:noFill/>
        </p:spPr>
        <p:txBody>
          <a:bodyPr wrap="square" lIns="0" rIns="0" tIns="0" bIns="0" anchor="t">
            <a:spAutoFit/>
          </a:bodyPr>
          <a:lstStyle/>
          <a:p>
            <a:pPr algn="l">
              <a:lnSpc>
                <a:spcPct val="124000"/>
              </a:lnSpc>
              <a:spcAft>
                <a:spcPts val="0"/>
              </a:spcAft>
            </a:pPr>
            <a:r>
              <a:rPr sz="1050" b="0" i="0">
                <a:solidFill>
                  <a:srgbClr val="0B0B0B"/>
                </a:solidFill>
                <a:latin typeface="Segoe UI"/>
              </a:rPr>
              <a:t>Zero completely duplicated rows and 1,470 unique EmployeeNumbers, so every record represents a distinct employee. No de-duplication was required.</a:t>
            </a:r>
          </a:p>
        </p:txBody>
      </p:sp>
      <p:sp>
        <p:nvSpPr>
          <p:cNvPr id="20" name="Rectangle 19"/>
          <p:cNvSpPr/>
          <p:nvPr/>
        </p:nvSpPr>
        <p:spPr>
          <a:xfrm>
            <a:off x="8097499" y="1700784"/>
            <a:ext cx="3527541" cy="32461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8097499" y="1700784"/>
            <a:ext cx="3527541"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316955" y="1920240"/>
            <a:ext cx="3088629" cy="512064"/>
          </a:xfrm>
          <a:prstGeom prst="rect">
            <a:avLst/>
          </a:prstGeom>
          <a:noFill/>
        </p:spPr>
        <p:txBody>
          <a:bodyPr wrap="square" lIns="0" rIns="0" tIns="0" bIns="0" anchor="t">
            <a:spAutoFit/>
          </a:bodyPr>
          <a:lstStyle/>
          <a:p>
            <a:pPr algn="l">
              <a:lnSpc>
                <a:spcPct val="118000"/>
              </a:lnSpc>
              <a:spcAft>
                <a:spcPts val="0"/>
              </a:spcAft>
            </a:pPr>
            <a:r>
              <a:rPr sz="1250" b="1" i="0">
                <a:solidFill>
                  <a:srgbClr val="0B0B0B"/>
                </a:solidFill>
                <a:latin typeface="Segoe UI"/>
              </a:rPr>
              <a:t>02 · Handling missing values</a:t>
            </a:r>
          </a:p>
        </p:txBody>
      </p:sp>
      <p:sp>
        <p:nvSpPr>
          <p:cNvPr id="23" name="TextBox 22"/>
          <p:cNvSpPr txBox="1"/>
          <p:nvPr/>
        </p:nvSpPr>
        <p:spPr>
          <a:xfrm>
            <a:off x="8316955" y="2523744"/>
            <a:ext cx="3088629" cy="219456"/>
          </a:xfrm>
          <a:prstGeom prst="rect">
            <a:avLst/>
          </a:prstGeom>
          <a:noFill/>
        </p:spPr>
        <p:txBody>
          <a:bodyPr wrap="square" lIns="0" rIns="0" tIns="0" bIns="0" anchor="t">
            <a:spAutoFit/>
          </a:bodyPr>
          <a:lstStyle/>
          <a:p>
            <a:pPr algn="l">
              <a:lnSpc>
                <a:spcPct val="124000"/>
              </a:lnSpc>
              <a:spcAft>
                <a:spcPts val="0"/>
              </a:spcAft>
            </a:pPr>
            <a:r>
              <a:rPr sz="850" b="1" i="0">
                <a:solidFill>
                  <a:srgbClr val="2A78D6"/>
                </a:solidFill>
                <a:latin typeface="Segoe UI"/>
              </a:rPr>
              <a:t>ANALYSIS PERFORMED</a:t>
            </a:r>
          </a:p>
        </p:txBody>
      </p:sp>
      <p:sp>
        <p:nvSpPr>
          <p:cNvPr id="24" name="TextBox 23"/>
          <p:cNvSpPr txBox="1"/>
          <p:nvPr/>
        </p:nvSpPr>
        <p:spPr>
          <a:xfrm>
            <a:off x="8316955" y="2761488"/>
            <a:ext cx="3088629" cy="914400"/>
          </a:xfrm>
          <a:prstGeom prst="rect">
            <a:avLst/>
          </a:prstGeom>
          <a:noFill/>
        </p:spPr>
        <p:txBody>
          <a:bodyPr wrap="square" lIns="0" rIns="0" tIns="0" bIns="0" anchor="t">
            <a:spAutoFit/>
          </a:bodyPr>
          <a:lstStyle/>
          <a:p>
            <a:pPr algn="l">
              <a:lnSpc>
                <a:spcPct val="124000"/>
              </a:lnSpc>
              <a:spcAft>
                <a:spcPts val="0"/>
              </a:spcAft>
            </a:pPr>
            <a:r>
              <a:rPr sz="1050" b="0" i="0">
                <a:solidFill>
                  <a:srgbClr val="52514E"/>
                </a:solidFill>
                <a:latin typeface="Segoe UI"/>
              </a:rPr>
              <a:t>Counted nulls and the null percentage for each of the 35 columns.</a:t>
            </a:r>
          </a:p>
        </p:txBody>
      </p:sp>
      <p:sp>
        <p:nvSpPr>
          <p:cNvPr id="25" name="TextBox 24"/>
          <p:cNvSpPr txBox="1"/>
          <p:nvPr/>
        </p:nvSpPr>
        <p:spPr>
          <a:xfrm>
            <a:off x="8316955" y="3712464"/>
            <a:ext cx="3088629" cy="219456"/>
          </a:xfrm>
          <a:prstGeom prst="rect">
            <a:avLst/>
          </a:prstGeom>
          <a:noFill/>
        </p:spPr>
        <p:txBody>
          <a:bodyPr wrap="square" lIns="0" rIns="0" tIns="0" bIns="0" anchor="t">
            <a:spAutoFit/>
          </a:bodyPr>
          <a:lstStyle/>
          <a:p>
            <a:pPr algn="l">
              <a:lnSpc>
                <a:spcPct val="124000"/>
              </a:lnSpc>
              <a:spcAft>
                <a:spcPts val="0"/>
              </a:spcAft>
            </a:pPr>
            <a:r>
              <a:rPr sz="850" b="1" i="0">
                <a:solidFill>
                  <a:srgbClr val="2A78D6"/>
                </a:solidFill>
                <a:latin typeface="Segoe UI"/>
              </a:rPr>
              <a:t>FINDING</a:t>
            </a:r>
          </a:p>
        </p:txBody>
      </p:sp>
      <p:sp>
        <p:nvSpPr>
          <p:cNvPr id="26" name="TextBox 25"/>
          <p:cNvSpPr txBox="1"/>
          <p:nvPr/>
        </p:nvSpPr>
        <p:spPr>
          <a:xfrm>
            <a:off x="8316955" y="3950208"/>
            <a:ext cx="3088629" cy="914400"/>
          </a:xfrm>
          <a:prstGeom prst="rect">
            <a:avLst/>
          </a:prstGeom>
          <a:noFill/>
        </p:spPr>
        <p:txBody>
          <a:bodyPr wrap="square" lIns="0" rIns="0" tIns="0" bIns="0" anchor="t">
            <a:spAutoFit/>
          </a:bodyPr>
          <a:lstStyle/>
          <a:p>
            <a:pPr algn="l">
              <a:lnSpc>
                <a:spcPct val="124000"/>
              </a:lnSpc>
              <a:spcAft>
                <a:spcPts val="0"/>
              </a:spcAft>
            </a:pPr>
            <a:r>
              <a:rPr sz="1050" b="0" i="0">
                <a:solidFill>
                  <a:srgbClr val="0B0B0B"/>
                </a:solidFill>
                <a:latin typeface="Segoe UI"/>
              </a:rPr>
              <a:t>Zero missing values in every column — 0.0% throughout. No imputation and no record deletion was needed.</a:t>
            </a:r>
          </a:p>
        </p:txBody>
      </p:sp>
      <p:sp>
        <p:nvSpPr>
          <p:cNvPr id="27" name="Rectangle 26"/>
          <p:cNvSpPr/>
          <p:nvPr/>
        </p:nvSpPr>
        <p:spPr>
          <a:xfrm>
            <a:off x="566928" y="5074920"/>
            <a:ext cx="11058113" cy="1060704"/>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66928" y="5074920"/>
            <a:ext cx="41148" cy="10607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86384" y="5212080"/>
            <a:ext cx="10655777" cy="219456"/>
          </a:xfrm>
          <a:prstGeom prst="rect">
            <a:avLst/>
          </a:prstGeom>
          <a:noFill/>
        </p:spPr>
        <p:txBody>
          <a:bodyPr wrap="square" lIns="0" rIns="0" tIns="0" bIns="0" anchor="t">
            <a:spAutoFit/>
          </a:bodyPr>
          <a:lstStyle/>
          <a:p>
            <a:pPr algn="l">
              <a:lnSpc>
                <a:spcPct val="124000"/>
              </a:lnSpc>
              <a:spcAft>
                <a:spcPts val="0"/>
              </a:spcAft>
            </a:pPr>
            <a:r>
              <a:rPr sz="850" b="1" i="0">
                <a:solidFill>
                  <a:srgbClr val="2A78D6"/>
                </a:solidFill>
                <a:latin typeface="Segoe UI"/>
              </a:rPr>
              <a:t>CONCLUSION</a:t>
            </a:r>
          </a:p>
        </p:txBody>
      </p:sp>
      <p:sp>
        <p:nvSpPr>
          <p:cNvPr id="30" name="TextBox 29"/>
          <p:cNvSpPr txBox="1"/>
          <p:nvPr/>
        </p:nvSpPr>
        <p:spPr>
          <a:xfrm>
            <a:off x="786384" y="5458968"/>
            <a:ext cx="10655777" cy="566927"/>
          </a:xfrm>
          <a:prstGeom prst="rect">
            <a:avLst/>
          </a:prstGeom>
          <a:noFill/>
        </p:spPr>
        <p:txBody>
          <a:bodyPr wrap="square" lIns="0" rIns="0" tIns="0" bIns="0" anchor="t">
            <a:spAutoFit/>
          </a:bodyPr>
          <a:lstStyle/>
          <a:p>
            <a:pPr algn="l">
              <a:lnSpc>
                <a:spcPct val="126000"/>
              </a:lnSpc>
              <a:spcAft>
                <a:spcPts val="0"/>
              </a:spcAft>
            </a:pPr>
            <a:r>
              <a:rPr sz="1150" b="0" i="0">
                <a:solidFill>
                  <a:srgbClr val="0B0B0B"/>
                </a:solidFill>
                <a:latin typeface="Segoe UI"/>
              </a:rPr>
              <a:t>The dataset needed no cleaning in the usual sense — it arrives complete, unique and consistently typed. The real preparation work is therefore interpretive: decoding unlabelled 1–4 survey scales and dropping the three constant columns, which is what steps 03 and 04 take on.</a:t>
            </a:r>
          </a:p>
        </p:txBody>
      </p:sp>
      <p:sp>
        <p:nvSpPr>
          <p:cNvPr id="31" name="Rectangle 30"/>
          <p:cNvSpPr/>
          <p:nvPr/>
        </p:nvSpPr>
        <p:spPr>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66928" y="6455664"/>
            <a:ext cx="7961841" cy="219456"/>
          </a:xfrm>
          <a:prstGeom prst="rect">
            <a:avLst/>
          </a:prstGeom>
          <a:noFill/>
        </p:spPr>
        <p:txBody>
          <a:bodyPr wrap="square" lIns="0" rIns="0" tIns="0" bIns="0" anchor="t">
            <a:spAutoFit/>
          </a:bodyPr>
          <a:lstStyle/>
          <a:p>
            <a:pPr algn="l">
              <a:lnSpc>
                <a:spcPct val="124000"/>
              </a:lnSpc>
              <a:spcAft>
                <a:spcPts val="0"/>
              </a:spcAft>
            </a:pPr>
            <a:r>
              <a:rPr sz="850" b="0" i="0">
                <a:solidFill>
                  <a:srgbClr val="898781"/>
                </a:solidFill>
                <a:latin typeface="Segoe UI"/>
              </a:rPr>
              <a:t>notebooks/00-exploring-the-dataset · 01-handling-duplicates · 02-handling-missing-values</a:t>
            </a:r>
          </a:p>
        </p:txBody>
      </p:sp>
      <p:sp>
        <p:nvSpPr>
          <p:cNvPr id="33" name="TextBox 32"/>
          <p:cNvSpPr txBox="1"/>
          <p:nvPr/>
        </p:nvSpPr>
        <p:spPr>
          <a:xfrm>
            <a:off x="8749932" y="6455664"/>
            <a:ext cx="2875109" cy="219456"/>
          </a:xfrm>
          <a:prstGeom prst="rect">
            <a:avLst/>
          </a:prstGeom>
          <a:noFill/>
        </p:spPr>
        <p:txBody>
          <a:bodyPr wrap="square" lIns="0" rIns="0" tIns="0" bIns="0" anchor="t">
            <a:spAutoFit/>
          </a:bodyPr>
          <a:lstStyle/>
          <a:p>
            <a:pPr algn="r">
              <a:lnSpc>
                <a:spcPct val="124000"/>
              </a:lnSpc>
              <a:spcAft>
                <a:spcPts val="0"/>
              </a:spcAft>
            </a:pPr>
            <a:r>
              <a:rPr sz="850" b="0" i="0">
                <a:solidFill>
                  <a:srgbClr val="898781"/>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8113" cy="219456"/>
          </a:xfrm>
          <a:prstGeom prst="rect">
            <a:avLst/>
          </a:prstGeom>
          <a:noFill/>
        </p:spPr>
        <p:txBody>
          <a:bodyPr wrap="square" lIns="0" rIns="0" tIns="0" bIns="0" anchor="t">
            <a:spAutoFit/>
          </a:bodyPr>
          <a:lstStyle/>
          <a:p>
            <a:pPr algn="l">
              <a:lnSpc>
                <a:spcPct val="124000"/>
              </a:lnSpc>
              <a:spcAft>
                <a:spcPts val="0"/>
              </a:spcAft>
            </a:pPr>
            <a:r>
              <a:rPr sz="950" b="1" i="0">
                <a:solidFill>
                  <a:srgbClr val="2A78D6"/>
                </a:solidFill>
                <a:latin typeface="Segoe UI"/>
              </a:rPr>
              <a:t>EDA STEP 03</a:t>
            </a:r>
          </a:p>
        </p:txBody>
      </p:sp>
      <p:sp>
        <p:nvSpPr>
          <p:cNvPr id="3" name="TextBox 2"/>
          <p:cNvSpPr txBox="1"/>
          <p:nvPr/>
        </p:nvSpPr>
        <p:spPr>
          <a:xfrm>
            <a:off x="566928" y="603504"/>
            <a:ext cx="11058113" cy="475488"/>
          </a:xfrm>
          <a:prstGeom prst="rect">
            <a:avLst/>
          </a:prstGeom>
          <a:noFill/>
        </p:spPr>
        <p:txBody>
          <a:bodyPr wrap="square" lIns="0" rIns="0" tIns="0" bIns="0" anchor="t">
            <a:spAutoFit/>
          </a:bodyPr>
          <a:lstStyle/>
          <a:p>
            <a:pPr algn="l">
              <a:lnSpc>
                <a:spcPct val="124000"/>
              </a:lnSpc>
              <a:spcAft>
                <a:spcPts val="0"/>
              </a:spcAft>
            </a:pPr>
            <a:r>
              <a:rPr sz="2500" b="1" i="0">
                <a:solidFill>
                  <a:srgbClr val="0B0B0B"/>
                </a:solidFill>
                <a:latin typeface="Segoe UI"/>
              </a:rPr>
              <a:t>Step 03 · Normalizing data</a:t>
            </a:r>
          </a:p>
        </p:txBody>
      </p:sp>
      <p:sp>
        <p:nvSpPr>
          <p:cNvPr id="4" name="TextBox 3"/>
          <p:cNvSpPr txBox="1"/>
          <p:nvPr/>
        </p:nvSpPr>
        <p:spPr>
          <a:xfrm>
            <a:off x="566928" y="1106424"/>
            <a:ext cx="11058113" cy="274320"/>
          </a:xfrm>
          <a:prstGeom prst="rect">
            <a:avLst/>
          </a:prstGeom>
          <a:noFill/>
        </p:spPr>
        <p:txBody>
          <a:bodyPr wrap="square" lIns="0" rIns="0" tIns="0" bIns="0" anchor="t">
            <a:spAutoFit/>
          </a:bodyPr>
          <a:lstStyle/>
          <a:p>
            <a:pPr algn="l">
              <a:lnSpc>
                <a:spcPct val="124000"/>
              </a:lnSpc>
              <a:spcAft>
                <a:spcPts val="0"/>
              </a:spcAft>
            </a:pPr>
            <a:r>
              <a:rPr sz="1250" b="0" i="0">
                <a:solidFill>
                  <a:srgbClr val="52514E"/>
                </a:solidFill>
                <a:latin typeface="Segoe UI"/>
              </a:rPr>
              <a:t>Objective: turn a mixed table of text, binary and ordinal columns into a purely numeric matrix that a model can read.</a:t>
            </a:r>
          </a:p>
        </p:txBody>
      </p:sp>
      <p:sp>
        <p:nvSpPr>
          <p:cNvPr id="5" name="Rectangle 4"/>
          <p:cNvSpPr/>
          <p:nvPr/>
        </p:nvSpPr>
        <p:spPr>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700784"/>
            <a:ext cx="5760720" cy="256032"/>
          </a:xfrm>
          <a:prstGeom prst="rect">
            <a:avLst/>
          </a:prstGeom>
          <a:noFill/>
        </p:spPr>
        <p:txBody>
          <a:bodyPr wrap="square" lIns="0" rIns="0" tIns="0" bIns="0" anchor="t">
            <a:spAutoFit/>
          </a:bodyPr>
          <a:lstStyle/>
          <a:p>
            <a:pPr algn="l">
              <a:lnSpc>
                <a:spcPct val="124000"/>
              </a:lnSpc>
              <a:spcAft>
                <a:spcPts val="0"/>
              </a:spcAft>
            </a:pPr>
            <a:r>
              <a:rPr sz="1250" b="1" i="0">
                <a:solidFill>
                  <a:srgbClr val="0B0B0B"/>
                </a:solidFill>
                <a:latin typeface="Segoe UI"/>
              </a:rPr>
              <a:t>Analysis performed</a:t>
            </a:r>
          </a:p>
        </p:txBody>
      </p:sp>
      <p:sp>
        <p:nvSpPr>
          <p:cNvPr id="7" name="TextBox 6"/>
          <p:cNvSpPr txBox="1"/>
          <p:nvPr/>
        </p:nvSpPr>
        <p:spPr>
          <a:xfrm>
            <a:off x="566928" y="2048256"/>
            <a:ext cx="5760720" cy="3017520"/>
          </a:xfrm>
          <a:prstGeom prst="rect">
            <a:avLst/>
          </a:prstGeom>
          <a:noFill/>
        </p:spPr>
        <p:txBody>
          <a:bodyPr wrap="square" lIns="0" rIns="0" tIns="0" bIns="0" anchor="t">
            <a:spAutoFit/>
          </a:bodyPr>
          <a:lstStyle/>
          <a:p>
            <a:pPr algn="l">
              <a:lnSpc>
                <a:spcPct val="122000"/>
              </a:lnSpc>
              <a:spcAft>
                <a:spcPts val="800"/>
              </a:spcAft>
            </a:pPr>
            <a:r>
              <a:rPr sz="1050" b="1" i="0">
                <a:solidFill>
                  <a:srgbClr val="2A78D6"/>
                </a:solidFill>
                <a:latin typeface="Segoe UI"/>
              </a:rPr>
              <a:t>•  </a:t>
            </a:r>
            <a:r>
              <a:rPr sz="1050" b="1" i="0">
                <a:solidFill>
                  <a:srgbClr val="0B0B0B"/>
                </a:solidFill>
                <a:latin typeface="Segoe UI"/>
              </a:rPr>
              <a:t>Binary mapping  </a:t>
            </a:r>
            <a:r>
              <a:rPr sz="1050" b="0" i="0">
                <a:solidFill>
                  <a:srgbClr val="52514E"/>
                </a:solidFill>
                <a:latin typeface="Segoe UI"/>
              </a:rPr>
              <a:t>Attrition and OverTime recoded from Yes/No to 1/0 so they can be averaged and correlated directly.</a:t>
            </a:r>
          </a:p>
          <a:p>
            <a:pPr algn="l">
              <a:lnSpc>
                <a:spcPct val="122000"/>
              </a:lnSpc>
              <a:spcAft>
                <a:spcPts val="800"/>
              </a:spcAft>
            </a:pPr>
            <a:r>
              <a:rPr sz="1050" b="1" i="0">
                <a:solidFill>
                  <a:srgbClr val="2A78D6"/>
                </a:solidFill>
                <a:latin typeface="Segoe UI"/>
              </a:rPr>
              <a:t>•  </a:t>
            </a:r>
            <a:r>
              <a:rPr sz="1050" b="1" i="0">
                <a:solidFill>
                  <a:srgbClr val="0B0B0B"/>
                </a:solidFill>
                <a:latin typeface="Segoe UI"/>
              </a:rPr>
              <a:t>One-hot encoding  </a:t>
            </a:r>
            <a:r>
              <a:rPr sz="1050" b="0" i="0">
                <a:solidFill>
                  <a:srgbClr val="52514E"/>
                </a:solidFill>
                <a:latin typeface="Segoe UI"/>
              </a:rPr>
              <a:t>Six categorical columns — BusinessTravel, Department, EducationField, Gender, JobRole and MaritalStatus — expanded into indicator columns, one per category.</a:t>
            </a:r>
          </a:p>
          <a:p>
            <a:pPr algn="l">
              <a:lnSpc>
                <a:spcPct val="122000"/>
              </a:lnSpc>
              <a:spcAft>
                <a:spcPts val="800"/>
              </a:spcAft>
            </a:pPr>
            <a:r>
              <a:rPr sz="1050" b="1" i="0">
                <a:solidFill>
                  <a:srgbClr val="2A78D6"/>
                </a:solidFill>
                <a:latin typeface="Segoe UI"/>
              </a:rPr>
              <a:t>•  </a:t>
            </a:r>
            <a:r>
              <a:rPr sz="1050" b="1" i="0">
                <a:solidFill>
                  <a:srgbClr val="0B0B0B"/>
                </a:solidFill>
                <a:latin typeface="Segoe UI"/>
              </a:rPr>
              <a:t>Rating collapse  </a:t>
            </a:r>
            <a:r>
              <a:rPr sz="1050" b="0" i="0">
                <a:solidFill>
                  <a:srgbClr val="52514E"/>
                </a:solidFill>
                <a:latin typeface="Segoe UI"/>
              </a:rPr>
              <a:t>PerformanceRating holds only two values in this data (3 and 4), so it was recoded to 0/1.</a:t>
            </a:r>
          </a:p>
          <a:p>
            <a:pPr algn="l">
              <a:lnSpc>
                <a:spcPct val="122000"/>
              </a:lnSpc>
              <a:spcAft>
                <a:spcPts val="800"/>
              </a:spcAft>
            </a:pPr>
            <a:r>
              <a:rPr sz="1050" b="1" i="0">
                <a:solidFill>
                  <a:srgbClr val="2A78D6"/>
                </a:solidFill>
                <a:latin typeface="Segoe UI"/>
              </a:rPr>
              <a:t>•  </a:t>
            </a:r>
            <a:r>
              <a:rPr sz="1050" b="1" i="0">
                <a:solidFill>
                  <a:srgbClr val="0B0B0B"/>
                </a:solidFill>
                <a:latin typeface="Segoe UI"/>
              </a:rPr>
              <a:t>Scaling  </a:t>
            </a:r>
            <a:r>
              <a:rPr sz="1050" b="0" i="0">
                <a:solidFill>
                  <a:srgbClr val="52514E"/>
                </a:solidFill>
                <a:latin typeface="Segoe UI"/>
              </a:rPr>
              <a:t>Fourteen continuous columns standardised, so a monthly income in the thousands does not outweigh a tenure in single years.</a:t>
            </a:r>
          </a:p>
          <a:p>
            <a:pPr algn="l">
              <a:lnSpc>
                <a:spcPct val="122000"/>
              </a:lnSpc>
              <a:spcAft>
                <a:spcPts val="800"/>
              </a:spcAft>
            </a:pPr>
            <a:r>
              <a:rPr sz="1050" b="1" i="0">
                <a:solidFill>
                  <a:srgbClr val="2A78D6"/>
                </a:solidFill>
                <a:latin typeface="Segoe UI"/>
              </a:rPr>
              <a:t>•  </a:t>
            </a:r>
            <a:r>
              <a:rPr sz="1050" b="1" i="0">
                <a:solidFill>
                  <a:srgbClr val="0B0B0B"/>
                </a:solidFill>
                <a:latin typeface="Segoe UI"/>
              </a:rPr>
              <a:t>Column drop  </a:t>
            </a:r>
            <a:r>
              <a:rPr sz="1050" b="0" i="0">
                <a:solidFill>
                  <a:srgbClr val="52514E"/>
                </a:solidFill>
                <a:latin typeface="Segoe UI"/>
              </a:rPr>
              <a:t>EmployeeNumber (an identifier) plus the three constant columns removed — no predictive variability.</a:t>
            </a:r>
          </a:p>
        </p:txBody>
      </p:sp>
      <p:sp>
        <p:nvSpPr>
          <p:cNvPr id="8" name="TextBox 7"/>
          <p:cNvSpPr txBox="1"/>
          <p:nvPr/>
        </p:nvSpPr>
        <p:spPr>
          <a:xfrm>
            <a:off x="6693408" y="1700784"/>
            <a:ext cx="4931633" cy="256032"/>
          </a:xfrm>
          <a:prstGeom prst="rect">
            <a:avLst/>
          </a:prstGeom>
          <a:noFill/>
        </p:spPr>
        <p:txBody>
          <a:bodyPr wrap="square" lIns="0" rIns="0" tIns="0" bIns="0" anchor="t">
            <a:spAutoFit/>
          </a:bodyPr>
          <a:lstStyle/>
          <a:p>
            <a:pPr algn="l">
              <a:lnSpc>
                <a:spcPct val="124000"/>
              </a:lnSpc>
              <a:spcAft>
                <a:spcPts val="0"/>
              </a:spcAft>
            </a:pPr>
            <a:r>
              <a:rPr sz="1250" b="1" i="0">
                <a:solidFill>
                  <a:srgbClr val="0B0B0B"/>
                </a:solidFill>
                <a:latin typeface="Segoe UI"/>
              </a:rPr>
              <a:t>Result</a:t>
            </a:r>
          </a:p>
        </p:txBody>
      </p:sp>
      <p:sp>
        <p:nvSpPr>
          <p:cNvPr id="9" name="Rectangle 8"/>
          <p:cNvSpPr/>
          <p:nvPr/>
        </p:nvSpPr>
        <p:spPr>
          <a:xfrm>
            <a:off x="6693408" y="2048256"/>
            <a:ext cx="2365232" cy="10607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693408" y="2048256"/>
            <a:ext cx="41148" cy="10607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931152" y="2203704"/>
            <a:ext cx="1962896" cy="475488"/>
          </a:xfrm>
          <a:prstGeom prst="rect">
            <a:avLst/>
          </a:prstGeom>
          <a:noFill/>
        </p:spPr>
        <p:txBody>
          <a:bodyPr wrap="square" lIns="0" rIns="0" tIns="0" bIns="0" anchor="t">
            <a:spAutoFit/>
          </a:bodyPr>
          <a:lstStyle/>
          <a:p>
            <a:pPr algn="l">
              <a:lnSpc>
                <a:spcPct val="124000"/>
              </a:lnSpc>
              <a:spcAft>
                <a:spcPts val="0"/>
              </a:spcAft>
            </a:pPr>
            <a:r>
              <a:rPr sz="2900" b="1" i="0">
                <a:solidFill>
                  <a:srgbClr val="0B0B0B"/>
                </a:solidFill>
                <a:latin typeface="Segoe UI"/>
              </a:rPr>
              <a:t>50</a:t>
            </a:r>
          </a:p>
        </p:txBody>
      </p:sp>
      <p:sp>
        <p:nvSpPr>
          <p:cNvPr id="12" name="TextBox 11"/>
          <p:cNvSpPr txBox="1"/>
          <p:nvPr/>
        </p:nvSpPr>
        <p:spPr>
          <a:xfrm>
            <a:off x="6931152" y="2706624"/>
            <a:ext cx="1962896" cy="219456"/>
          </a:xfrm>
          <a:prstGeom prst="rect">
            <a:avLst/>
          </a:prstGeom>
          <a:noFill/>
        </p:spPr>
        <p:txBody>
          <a:bodyPr wrap="square" lIns="0" rIns="0" tIns="0" bIns="0" anchor="t">
            <a:spAutoFit/>
          </a:bodyPr>
          <a:lstStyle/>
          <a:p>
            <a:pPr algn="l">
              <a:lnSpc>
                <a:spcPct val="124000"/>
              </a:lnSpc>
              <a:spcAft>
                <a:spcPts val="0"/>
              </a:spcAft>
            </a:pPr>
            <a:r>
              <a:rPr sz="1050" b="1" i="0">
                <a:solidFill>
                  <a:srgbClr val="52514E"/>
                </a:solidFill>
                <a:latin typeface="Segoe UI"/>
              </a:rPr>
              <a:t>Model features</a:t>
            </a:r>
          </a:p>
        </p:txBody>
      </p:sp>
      <p:sp>
        <p:nvSpPr>
          <p:cNvPr id="13" name="TextBox 12"/>
          <p:cNvSpPr txBox="1"/>
          <p:nvPr/>
        </p:nvSpPr>
        <p:spPr>
          <a:xfrm>
            <a:off x="6931152" y="2944368"/>
            <a:ext cx="1962896" cy="237744"/>
          </a:xfrm>
          <a:prstGeom prst="rect">
            <a:avLst/>
          </a:prstGeom>
          <a:noFill/>
        </p:spPr>
        <p:txBody>
          <a:bodyPr wrap="square" lIns="0" rIns="0" tIns="0" bIns="0" anchor="t">
            <a:spAutoFit/>
          </a:bodyPr>
          <a:lstStyle/>
          <a:p>
            <a:pPr algn="l">
              <a:lnSpc>
                <a:spcPct val="124000"/>
              </a:lnSpc>
              <a:spcAft>
                <a:spcPts val="0"/>
              </a:spcAft>
            </a:pPr>
            <a:r>
              <a:rPr sz="850" b="0" i="0">
                <a:solidFill>
                  <a:srgbClr val="898781"/>
                </a:solidFill>
                <a:latin typeface="Segoe UI"/>
              </a:rPr>
              <a:t>from 35 source columns</a:t>
            </a:r>
          </a:p>
        </p:txBody>
      </p:sp>
      <p:sp>
        <p:nvSpPr>
          <p:cNvPr id="14" name="Rectangle 13"/>
          <p:cNvSpPr/>
          <p:nvPr/>
        </p:nvSpPr>
        <p:spPr>
          <a:xfrm>
            <a:off x="9259808" y="2048256"/>
            <a:ext cx="2365232" cy="10607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9259808" y="2048256"/>
            <a:ext cx="41148" cy="10607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497552" y="2203704"/>
            <a:ext cx="1962896" cy="475488"/>
          </a:xfrm>
          <a:prstGeom prst="rect">
            <a:avLst/>
          </a:prstGeom>
          <a:noFill/>
        </p:spPr>
        <p:txBody>
          <a:bodyPr wrap="square" lIns="0" rIns="0" tIns="0" bIns="0" anchor="t">
            <a:spAutoFit/>
          </a:bodyPr>
          <a:lstStyle/>
          <a:p>
            <a:pPr algn="l">
              <a:lnSpc>
                <a:spcPct val="124000"/>
              </a:lnSpc>
              <a:spcAft>
                <a:spcPts val="0"/>
              </a:spcAft>
            </a:pPr>
            <a:r>
              <a:rPr sz="2900" b="1" i="0">
                <a:solidFill>
                  <a:srgbClr val="0B0B0B"/>
                </a:solidFill>
                <a:latin typeface="Segoe UI"/>
              </a:rPr>
              <a:t>1,470</a:t>
            </a:r>
          </a:p>
        </p:txBody>
      </p:sp>
      <p:sp>
        <p:nvSpPr>
          <p:cNvPr id="17" name="TextBox 16"/>
          <p:cNvSpPr txBox="1"/>
          <p:nvPr/>
        </p:nvSpPr>
        <p:spPr>
          <a:xfrm>
            <a:off x="9497552" y="2706624"/>
            <a:ext cx="1962896" cy="219456"/>
          </a:xfrm>
          <a:prstGeom prst="rect">
            <a:avLst/>
          </a:prstGeom>
          <a:noFill/>
        </p:spPr>
        <p:txBody>
          <a:bodyPr wrap="square" lIns="0" rIns="0" tIns="0" bIns="0" anchor="t">
            <a:spAutoFit/>
          </a:bodyPr>
          <a:lstStyle/>
          <a:p>
            <a:pPr algn="l">
              <a:lnSpc>
                <a:spcPct val="124000"/>
              </a:lnSpc>
              <a:spcAft>
                <a:spcPts val="0"/>
              </a:spcAft>
            </a:pPr>
            <a:r>
              <a:rPr sz="1050" b="1" i="0">
                <a:solidFill>
                  <a:srgbClr val="52514E"/>
                </a:solidFill>
                <a:latin typeface="Segoe UI"/>
              </a:rPr>
              <a:t>Rows retained</a:t>
            </a:r>
          </a:p>
        </p:txBody>
      </p:sp>
      <p:sp>
        <p:nvSpPr>
          <p:cNvPr id="18" name="TextBox 17"/>
          <p:cNvSpPr txBox="1"/>
          <p:nvPr/>
        </p:nvSpPr>
        <p:spPr>
          <a:xfrm>
            <a:off x="9497552" y="2944368"/>
            <a:ext cx="1962896" cy="237744"/>
          </a:xfrm>
          <a:prstGeom prst="rect">
            <a:avLst/>
          </a:prstGeom>
          <a:noFill/>
        </p:spPr>
        <p:txBody>
          <a:bodyPr wrap="square" lIns="0" rIns="0" tIns="0" bIns="0" anchor="t">
            <a:spAutoFit/>
          </a:bodyPr>
          <a:lstStyle/>
          <a:p>
            <a:pPr algn="l">
              <a:lnSpc>
                <a:spcPct val="124000"/>
              </a:lnSpc>
              <a:spcAft>
                <a:spcPts val="0"/>
              </a:spcAft>
            </a:pPr>
            <a:r>
              <a:rPr sz="850" b="0" i="0">
                <a:solidFill>
                  <a:srgbClr val="898781"/>
                </a:solidFill>
                <a:latin typeface="Segoe UI"/>
              </a:rPr>
              <a:t>nothing dropped</a:t>
            </a:r>
          </a:p>
        </p:txBody>
      </p:sp>
      <p:sp>
        <p:nvSpPr>
          <p:cNvPr id="19" name="TextBox 18"/>
          <p:cNvSpPr txBox="1"/>
          <p:nvPr/>
        </p:nvSpPr>
        <p:spPr>
          <a:xfrm>
            <a:off x="6693408" y="3291840"/>
            <a:ext cx="4931633" cy="822960"/>
          </a:xfrm>
          <a:prstGeom prst="rect">
            <a:avLst/>
          </a:prstGeom>
          <a:noFill/>
        </p:spPr>
        <p:txBody>
          <a:bodyPr wrap="square" lIns="0" rIns="0" tIns="0" bIns="0" anchor="t">
            <a:spAutoFit/>
          </a:bodyPr>
          <a:lstStyle/>
          <a:p>
            <a:pPr algn="l">
              <a:lnSpc>
                <a:spcPct val="124000"/>
              </a:lnSpc>
              <a:spcAft>
                <a:spcPts val="0"/>
              </a:spcAft>
            </a:pPr>
            <a:r>
              <a:rPr sz="1050" b="0" i="0">
                <a:solidFill>
                  <a:srgbClr val="52514E"/>
                </a:solidFill>
                <a:latin typeface="Segoe UI"/>
              </a:rPr>
              <a:t>Written to data/processed/Employee-Attrition_Regression_Ready.csv, leaving the raw file untouched so the descriptive notebooks keep their readable labels.</a:t>
            </a:r>
          </a:p>
        </p:txBody>
      </p:sp>
      <p:sp>
        <p:nvSpPr>
          <p:cNvPr id="20" name="Rectangle 19"/>
          <p:cNvSpPr/>
          <p:nvPr/>
        </p:nvSpPr>
        <p:spPr>
          <a:xfrm>
            <a:off x="6693408" y="4187952"/>
            <a:ext cx="4931633" cy="877824"/>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693408" y="4187952"/>
            <a:ext cx="41148" cy="87782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12864" y="4325112"/>
            <a:ext cx="4529297" cy="219456"/>
          </a:xfrm>
          <a:prstGeom prst="rect">
            <a:avLst/>
          </a:prstGeom>
          <a:noFill/>
        </p:spPr>
        <p:txBody>
          <a:bodyPr wrap="square" lIns="0" rIns="0" tIns="0" bIns="0" anchor="t">
            <a:spAutoFit/>
          </a:bodyPr>
          <a:lstStyle/>
          <a:p>
            <a:pPr algn="l">
              <a:lnSpc>
                <a:spcPct val="124000"/>
              </a:lnSpc>
              <a:spcAft>
                <a:spcPts val="0"/>
              </a:spcAft>
            </a:pPr>
            <a:r>
              <a:rPr sz="850" b="1" i="0">
                <a:solidFill>
                  <a:srgbClr val="2A78D6"/>
                </a:solidFill>
                <a:latin typeface="Segoe UI"/>
              </a:rPr>
              <a:t>FINDING</a:t>
            </a:r>
          </a:p>
        </p:txBody>
      </p:sp>
      <p:sp>
        <p:nvSpPr>
          <p:cNvPr id="23" name="TextBox 22"/>
          <p:cNvSpPr txBox="1"/>
          <p:nvPr/>
        </p:nvSpPr>
        <p:spPr>
          <a:xfrm>
            <a:off x="6912864" y="4572000"/>
            <a:ext cx="4529297" cy="384047"/>
          </a:xfrm>
          <a:prstGeom prst="rect">
            <a:avLst/>
          </a:prstGeom>
          <a:noFill/>
        </p:spPr>
        <p:txBody>
          <a:bodyPr wrap="square" lIns="0" rIns="0" tIns="0" bIns="0" anchor="t">
            <a:spAutoFit/>
          </a:bodyPr>
          <a:lstStyle/>
          <a:p>
            <a:pPr algn="l">
              <a:lnSpc>
                <a:spcPct val="126000"/>
              </a:lnSpc>
              <a:spcAft>
                <a:spcPts val="0"/>
              </a:spcAft>
            </a:pPr>
            <a:r>
              <a:rPr sz="1150" b="0" i="0">
                <a:solidFill>
                  <a:srgbClr val="0B0B0B"/>
                </a:solidFill>
                <a:latin typeface="Segoe UI"/>
              </a:rPr>
              <a:t>Encoding is a reversible presentation choice, not an analytical result — but it is what makes step 10 possible at all.</a:t>
            </a:r>
          </a:p>
        </p:txBody>
      </p:sp>
      <p:sp>
        <p:nvSpPr>
          <p:cNvPr id="24" name="Rectangle 23"/>
          <p:cNvSpPr/>
          <p:nvPr/>
        </p:nvSpPr>
        <p:spPr>
          <a:xfrm>
            <a:off x="566928" y="5138928"/>
            <a:ext cx="11058113" cy="100584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566928" y="5138928"/>
            <a:ext cx="41148" cy="100584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86384" y="5276088"/>
            <a:ext cx="10655777" cy="219456"/>
          </a:xfrm>
          <a:prstGeom prst="rect">
            <a:avLst/>
          </a:prstGeom>
          <a:noFill/>
        </p:spPr>
        <p:txBody>
          <a:bodyPr wrap="square" lIns="0" rIns="0" tIns="0" bIns="0" anchor="t">
            <a:spAutoFit/>
          </a:bodyPr>
          <a:lstStyle/>
          <a:p>
            <a:pPr algn="l">
              <a:lnSpc>
                <a:spcPct val="124000"/>
              </a:lnSpc>
              <a:spcAft>
                <a:spcPts val="0"/>
              </a:spcAft>
            </a:pPr>
            <a:r>
              <a:rPr sz="850" b="1" i="0">
                <a:solidFill>
                  <a:srgbClr val="2A78D6"/>
                </a:solidFill>
                <a:latin typeface="Segoe UI"/>
              </a:rPr>
              <a:t>INTERPRETATION</a:t>
            </a:r>
          </a:p>
        </p:txBody>
      </p:sp>
      <p:sp>
        <p:nvSpPr>
          <p:cNvPr id="27" name="TextBox 26"/>
          <p:cNvSpPr txBox="1"/>
          <p:nvPr/>
        </p:nvSpPr>
        <p:spPr>
          <a:xfrm>
            <a:off x="786384" y="5522976"/>
            <a:ext cx="10655777" cy="512064"/>
          </a:xfrm>
          <a:prstGeom prst="rect">
            <a:avLst/>
          </a:prstGeom>
          <a:noFill/>
        </p:spPr>
        <p:txBody>
          <a:bodyPr wrap="square" lIns="0" rIns="0" tIns="0" bIns="0" anchor="t">
            <a:spAutoFit/>
          </a:bodyPr>
          <a:lstStyle/>
          <a:p>
            <a:pPr algn="l">
              <a:lnSpc>
                <a:spcPct val="126000"/>
              </a:lnSpc>
              <a:spcAft>
                <a:spcPts val="0"/>
              </a:spcAft>
            </a:pPr>
            <a:r>
              <a:rPr sz="1150" b="0" i="0">
                <a:solidFill>
                  <a:srgbClr val="0B0B0B"/>
                </a:solidFill>
                <a:latin typeface="Segoe UI"/>
              </a:rPr>
              <a:t>Decoding matters beyond modelling: the survey fields arrive as bare integers 1–4 with no labels attached. An axis reading “1, 2, 3, 4” is unreadable to an HR audience, so the codebook in the README (1 Low → 4 Very High, 1 Bad → 4 Best) is a required step rather than a nicety.</a:t>
            </a:r>
          </a:p>
        </p:txBody>
      </p:sp>
      <p:sp>
        <p:nvSpPr>
          <p:cNvPr id="28" name="Rectangle 27"/>
          <p:cNvSpPr/>
          <p:nvPr/>
        </p:nvSpPr>
        <p:spPr>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66928" y="6455664"/>
            <a:ext cx="7961841" cy="219456"/>
          </a:xfrm>
          <a:prstGeom prst="rect">
            <a:avLst/>
          </a:prstGeom>
          <a:noFill/>
        </p:spPr>
        <p:txBody>
          <a:bodyPr wrap="square" lIns="0" rIns="0" tIns="0" bIns="0" anchor="t">
            <a:spAutoFit/>
          </a:bodyPr>
          <a:lstStyle/>
          <a:p>
            <a:pPr algn="l">
              <a:lnSpc>
                <a:spcPct val="124000"/>
              </a:lnSpc>
              <a:spcAft>
                <a:spcPts val="0"/>
              </a:spcAft>
            </a:pPr>
            <a:r>
              <a:rPr sz="850" b="0" i="0">
                <a:solidFill>
                  <a:srgbClr val="898781"/>
                </a:solidFill>
                <a:latin typeface="Segoe UI"/>
              </a:rPr>
              <a:t>notebooks/03-normalizing-data.ipynb</a:t>
            </a:r>
          </a:p>
        </p:txBody>
      </p:sp>
      <p:sp>
        <p:nvSpPr>
          <p:cNvPr id="30" name="TextBox 29"/>
          <p:cNvSpPr txBox="1"/>
          <p:nvPr/>
        </p:nvSpPr>
        <p:spPr>
          <a:xfrm>
            <a:off x="8749932" y="6455664"/>
            <a:ext cx="2875109" cy="219456"/>
          </a:xfrm>
          <a:prstGeom prst="rect">
            <a:avLst/>
          </a:prstGeom>
          <a:noFill/>
        </p:spPr>
        <p:txBody>
          <a:bodyPr wrap="square" lIns="0" rIns="0" tIns="0" bIns="0" anchor="t">
            <a:spAutoFit/>
          </a:bodyPr>
          <a:lstStyle/>
          <a:p>
            <a:pPr algn="r">
              <a:lnSpc>
                <a:spcPct val="124000"/>
              </a:lnSpc>
              <a:spcAft>
                <a:spcPts val="0"/>
              </a:spcAft>
            </a:pPr>
            <a:r>
              <a:rPr sz="850" b="0" i="0">
                <a:solidFill>
                  <a:srgbClr val="898781"/>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8113" cy="219456"/>
          </a:xfrm>
          <a:prstGeom prst="rect">
            <a:avLst/>
          </a:prstGeom>
          <a:noFill/>
        </p:spPr>
        <p:txBody>
          <a:bodyPr wrap="square" lIns="0" rIns="0" tIns="0" bIns="0" anchor="t">
            <a:spAutoFit/>
          </a:bodyPr>
          <a:lstStyle/>
          <a:p>
            <a:pPr algn="l">
              <a:lnSpc>
                <a:spcPct val="124000"/>
              </a:lnSpc>
              <a:spcAft>
                <a:spcPts val="0"/>
              </a:spcAft>
            </a:pPr>
            <a:r>
              <a:rPr sz="950" b="1" i="0">
                <a:solidFill>
                  <a:srgbClr val="2A78D6"/>
                </a:solidFill>
                <a:latin typeface="Segoe UI"/>
              </a:rPr>
              <a:t>EDA STEP 04</a:t>
            </a:r>
          </a:p>
        </p:txBody>
      </p:sp>
      <p:sp>
        <p:nvSpPr>
          <p:cNvPr id="3" name="TextBox 2"/>
          <p:cNvSpPr txBox="1"/>
          <p:nvPr/>
        </p:nvSpPr>
        <p:spPr>
          <a:xfrm>
            <a:off x="566928" y="603504"/>
            <a:ext cx="11058113" cy="475488"/>
          </a:xfrm>
          <a:prstGeom prst="rect">
            <a:avLst/>
          </a:prstGeom>
          <a:noFill/>
        </p:spPr>
        <p:txBody>
          <a:bodyPr wrap="square" lIns="0" rIns="0" tIns="0" bIns="0" anchor="t">
            <a:spAutoFit/>
          </a:bodyPr>
          <a:lstStyle/>
          <a:p>
            <a:pPr algn="l">
              <a:lnSpc>
                <a:spcPct val="124000"/>
              </a:lnSpc>
              <a:spcAft>
                <a:spcPts val="0"/>
              </a:spcAft>
            </a:pPr>
            <a:r>
              <a:rPr sz="2500" b="1" i="0">
                <a:solidFill>
                  <a:srgbClr val="0B0B0B"/>
                </a:solidFill>
                <a:latin typeface="Segoe UI"/>
              </a:rPr>
              <a:t>Step 04 · Data wrangling</a:t>
            </a:r>
          </a:p>
        </p:txBody>
      </p:sp>
      <p:sp>
        <p:nvSpPr>
          <p:cNvPr id="4" name="TextBox 3"/>
          <p:cNvSpPr txBox="1"/>
          <p:nvPr/>
        </p:nvSpPr>
        <p:spPr>
          <a:xfrm>
            <a:off x="566928" y="1106424"/>
            <a:ext cx="11058113" cy="274320"/>
          </a:xfrm>
          <a:prstGeom prst="rect">
            <a:avLst/>
          </a:prstGeom>
          <a:noFill/>
        </p:spPr>
        <p:txBody>
          <a:bodyPr wrap="square" lIns="0" rIns="0" tIns="0" bIns="0" anchor="t">
            <a:spAutoFit/>
          </a:bodyPr>
          <a:lstStyle/>
          <a:p>
            <a:pPr algn="l">
              <a:lnSpc>
                <a:spcPct val="124000"/>
              </a:lnSpc>
              <a:spcAft>
                <a:spcPts val="0"/>
              </a:spcAft>
            </a:pPr>
            <a:r>
              <a:rPr sz="1250" b="0" i="0">
                <a:solidFill>
                  <a:srgbClr val="52514E"/>
                </a:solidFill>
                <a:latin typeface="Segoe UI"/>
              </a:rPr>
              <a:t>Objective: build a compact, analysis-ready extract with comparable employee groups instead of raw continuous columns.</a:t>
            </a:r>
          </a:p>
        </p:txBody>
      </p:sp>
      <p:sp>
        <p:nvSpPr>
          <p:cNvPr id="5" name="Rectangle 4"/>
          <p:cNvSpPr/>
          <p:nvPr/>
        </p:nvSpPr>
        <p:spPr>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700784"/>
            <a:ext cx="5212080" cy="256032"/>
          </a:xfrm>
          <a:prstGeom prst="rect">
            <a:avLst/>
          </a:prstGeom>
          <a:noFill/>
        </p:spPr>
        <p:txBody>
          <a:bodyPr wrap="square" lIns="0" rIns="0" tIns="0" bIns="0" anchor="t">
            <a:spAutoFit/>
          </a:bodyPr>
          <a:lstStyle/>
          <a:p>
            <a:pPr algn="l">
              <a:lnSpc>
                <a:spcPct val="124000"/>
              </a:lnSpc>
              <a:spcAft>
                <a:spcPts val="0"/>
              </a:spcAft>
            </a:pPr>
            <a:r>
              <a:rPr sz="1250" b="1" i="0">
                <a:solidFill>
                  <a:srgbClr val="0B0B0B"/>
                </a:solidFill>
                <a:latin typeface="Segoe UI"/>
              </a:rPr>
              <a:t>Analysis performed</a:t>
            </a:r>
          </a:p>
        </p:txBody>
      </p:sp>
      <p:sp>
        <p:nvSpPr>
          <p:cNvPr id="7" name="TextBox 6"/>
          <p:cNvSpPr txBox="1"/>
          <p:nvPr/>
        </p:nvSpPr>
        <p:spPr>
          <a:xfrm>
            <a:off x="566928" y="2048256"/>
            <a:ext cx="5212080" cy="2651760"/>
          </a:xfrm>
          <a:prstGeom prst="rect">
            <a:avLst/>
          </a:prstGeom>
          <a:noFill/>
        </p:spPr>
        <p:txBody>
          <a:bodyPr wrap="square" lIns="0" rIns="0" tIns="0" bIns="0" anchor="t">
            <a:spAutoFit/>
          </a:bodyPr>
          <a:lstStyle/>
          <a:p>
            <a:pPr algn="l">
              <a:lnSpc>
                <a:spcPct val="122000"/>
              </a:lnSpc>
              <a:spcAft>
                <a:spcPts val="800"/>
              </a:spcAft>
            </a:pPr>
            <a:r>
              <a:rPr sz="1050" b="1" i="0">
                <a:solidFill>
                  <a:srgbClr val="2A78D6"/>
                </a:solidFill>
                <a:latin typeface="Segoe UI"/>
              </a:rPr>
              <a:t>•  </a:t>
            </a:r>
            <a:r>
              <a:rPr sz="1050" b="1" i="0">
                <a:solidFill>
                  <a:srgbClr val="0B0B0B"/>
                </a:solidFill>
                <a:latin typeface="Segoe UI"/>
              </a:rPr>
              <a:t>Selection  </a:t>
            </a:r>
            <a:r>
              <a:rPr sz="1050" b="0" i="0">
                <a:solidFill>
                  <a:srgbClr val="52514E"/>
                </a:solidFill>
                <a:latin typeface="Segoe UI"/>
              </a:rPr>
              <a:t>Fourteen variables most relevant to attrition kept from the 35, covering demographics, role, pay, sentiment and tenure.</a:t>
            </a:r>
          </a:p>
          <a:p>
            <a:pPr algn="l">
              <a:lnSpc>
                <a:spcPct val="122000"/>
              </a:lnSpc>
              <a:spcAft>
                <a:spcPts val="800"/>
              </a:spcAft>
            </a:pPr>
            <a:r>
              <a:rPr sz="1050" b="1" i="0">
                <a:solidFill>
                  <a:srgbClr val="2A78D6"/>
                </a:solidFill>
                <a:latin typeface="Segoe UI"/>
              </a:rPr>
              <a:t>•  </a:t>
            </a:r>
            <a:r>
              <a:rPr sz="1050" b="1" i="0">
                <a:solidFill>
                  <a:srgbClr val="0B0B0B"/>
                </a:solidFill>
                <a:latin typeface="Segoe UI"/>
              </a:rPr>
              <a:t>Binary mapping  </a:t>
            </a:r>
            <a:r>
              <a:rPr sz="1050" b="0" i="0">
                <a:solidFill>
                  <a:srgbClr val="52514E"/>
                </a:solidFill>
                <a:latin typeface="Segoe UI"/>
              </a:rPr>
              <a:t>Attrition and OverTime recoded to 1/0 so group means read directly as attrition rates.</a:t>
            </a:r>
          </a:p>
          <a:p>
            <a:pPr algn="l">
              <a:lnSpc>
                <a:spcPct val="122000"/>
              </a:lnSpc>
              <a:spcAft>
                <a:spcPts val="800"/>
              </a:spcAft>
            </a:pPr>
            <a:r>
              <a:rPr sz="1050" b="1" i="0">
                <a:solidFill>
                  <a:srgbClr val="2A78D6"/>
                </a:solidFill>
                <a:latin typeface="Segoe UI"/>
              </a:rPr>
              <a:t>•  </a:t>
            </a:r>
            <a:r>
              <a:rPr sz="1050" b="1" i="0">
                <a:solidFill>
                  <a:srgbClr val="0B0B0B"/>
                </a:solidFill>
                <a:latin typeface="Segoe UI"/>
              </a:rPr>
              <a:t>Age groups  </a:t>
            </a:r>
            <a:r>
              <a:rPr sz="1050" b="0" i="0">
                <a:solidFill>
                  <a:srgbClr val="52514E"/>
                </a:solidFill>
                <a:latin typeface="Segoe UI"/>
              </a:rPr>
              <a:t>Under 30 · 30–39 · 40–49 · 50+</a:t>
            </a:r>
          </a:p>
          <a:p>
            <a:pPr algn="l">
              <a:lnSpc>
                <a:spcPct val="122000"/>
              </a:lnSpc>
              <a:spcAft>
                <a:spcPts val="800"/>
              </a:spcAft>
            </a:pPr>
            <a:r>
              <a:rPr sz="1050" b="1" i="0">
                <a:solidFill>
                  <a:srgbClr val="2A78D6"/>
                </a:solidFill>
                <a:latin typeface="Segoe UI"/>
              </a:rPr>
              <a:t>•  </a:t>
            </a:r>
            <a:r>
              <a:rPr sz="1050" b="1" i="0">
                <a:solidFill>
                  <a:srgbClr val="0B0B0B"/>
                </a:solidFill>
                <a:latin typeface="Segoe UI"/>
              </a:rPr>
              <a:t>Tenure groups  </a:t>
            </a:r>
            <a:r>
              <a:rPr sz="1050" b="0" i="0">
                <a:solidFill>
                  <a:srgbClr val="52514E"/>
                </a:solidFill>
                <a:latin typeface="Segoe UI"/>
              </a:rPr>
              <a:t>0–2 · 3–5 · 6–10 · 10+ years</a:t>
            </a:r>
          </a:p>
          <a:p>
            <a:pPr algn="l">
              <a:lnSpc>
                <a:spcPct val="122000"/>
              </a:lnSpc>
              <a:spcAft>
                <a:spcPts val="800"/>
              </a:spcAft>
            </a:pPr>
            <a:r>
              <a:rPr sz="1050" b="1" i="0">
                <a:solidFill>
                  <a:srgbClr val="2A78D6"/>
                </a:solidFill>
                <a:latin typeface="Segoe UI"/>
              </a:rPr>
              <a:t>•  </a:t>
            </a:r>
            <a:r>
              <a:rPr sz="1050" b="1" i="0">
                <a:solidFill>
                  <a:srgbClr val="0B0B0B"/>
                </a:solidFill>
                <a:latin typeface="Segoe UI"/>
              </a:rPr>
              <a:t>Validation  </a:t>
            </a:r>
            <a:r>
              <a:rPr sz="1050" b="0" i="0">
                <a:solidFill>
                  <a:srgbClr val="52514E"/>
                </a:solidFill>
                <a:latin typeface="Segoe UI"/>
              </a:rPr>
              <a:t>Result is 1,470 rows × 16 columns with zero nulls, saved as HR_Employee_Attrition_Wrangled.csv.</a:t>
            </a:r>
          </a:p>
        </p:txBody>
      </p:sp>
      <p:pic>
        <p:nvPicPr>
          <p:cNvPr id="8" name="Picture 7" descr="04_department.png"/>
          <p:cNvPicPr>
            <a:picLocks noChangeAspect="1"/>
          </p:cNvPicPr>
          <p:nvPr/>
        </p:nvPicPr>
        <p:blipFill>
          <a:blip r:embed="rId2"/>
          <a:stretch>
            <a:fillRect/>
          </a:stretch>
        </p:blipFill>
        <p:spPr>
          <a:xfrm>
            <a:off x="6099048" y="1817984"/>
            <a:ext cx="5525993" cy="2600239"/>
          </a:xfrm>
          <a:prstGeom prst="rect">
            <a:avLst/>
          </a:prstGeom>
        </p:spPr>
      </p:pic>
      <p:sp>
        <p:nvSpPr>
          <p:cNvPr id="9" name="Rectangle 8"/>
          <p:cNvSpPr/>
          <p:nvPr/>
        </p:nvSpPr>
        <p:spPr>
          <a:xfrm>
            <a:off x="566928" y="4663440"/>
            <a:ext cx="5401040" cy="1481328"/>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4663440"/>
            <a:ext cx="41148" cy="148132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86384" y="4800600"/>
            <a:ext cx="4998704" cy="219456"/>
          </a:xfrm>
          <a:prstGeom prst="rect">
            <a:avLst/>
          </a:prstGeom>
          <a:noFill/>
        </p:spPr>
        <p:txBody>
          <a:bodyPr wrap="square" lIns="0" rIns="0" tIns="0" bIns="0" anchor="t">
            <a:spAutoFit/>
          </a:bodyPr>
          <a:lstStyle/>
          <a:p>
            <a:pPr algn="l">
              <a:lnSpc>
                <a:spcPct val="124000"/>
              </a:lnSpc>
              <a:spcAft>
                <a:spcPts val="0"/>
              </a:spcAft>
            </a:pPr>
            <a:r>
              <a:rPr sz="850" b="1" i="0">
                <a:solidFill>
                  <a:srgbClr val="2A78D6"/>
                </a:solidFill>
                <a:latin typeface="Segoe UI"/>
              </a:rPr>
              <a:t>FINDING</a:t>
            </a:r>
          </a:p>
        </p:txBody>
      </p:sp>
      <p:sp>
        <p:nvSpPr>
          <p:cNvPr id="12" name="TextBox 11"/>
          <p:cNvSpPr txBox="1"/>
          <p:nvPr/>
        </p:nvSpPr>
        <p:spPr>
          <a:xfrm>
            <a:off x="786384" y="5047488"/>
            <a:ext cx="4998704" cy="987552"/>
          </a:xfrm>
          <a:prstGeom prst="rect">
            <a:avLst/>
          </a:prstGeom>
          <a:noFill/>
        </p:spPr>
        <p:txBody>
          <a:bodyPr wrap="square" lIns="0" rIns="0" tIns="0" bIns="0" anchor="t">
            <a:spAutoFit/>
          </a:bodyPr>
          <a:lstStyle/>
          <a:p>
            <a:pPr algn="l">
              <a:lnSpc>
                <a:spcPct val="126000"/>
              </a:lnSpc>
              <a:spcAft>
                <a:spcPts val="0"/>
              </a:spcAft>
            </a:pPr>
            <a:r>
              <a:rPr sz="1150" b="0" i="0">
                <a:solidFill>
                  <a:srgbClr val="0B0B0B"/>
                </a:solidFill>
                <a:latin typeface="Segoe UI"/>
              </a:rPr>
              <a:t>The first departmental cut already separates the business: Sales leaves at 20.63% (92 of 446) and Human Resources at 19.05% (12 of 63), both above the 16.1% company rate, while Research &amp; Development sits below it at 13.84% (133 of 961).</a:t>
            </a:r>
          </a:p>
        </p:txBody>
      </p:sp>
      <p:sp>
        <p:nvSpPr>
          <p:cNvPr id="13" name="Rectangle 12"/>
          <p:cNvSpPr/>
          <p:nvPr/>
        </p:nvSpPr>
        <p:spPr>
          <a:xfrm>
            <a:off x="6224000" y="4663440"/>
            <a:ext cx="5401040" cy="1481328"/>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224000" y="4663440"/>
            <a:ext cx="41148" cy="1481328"/>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43456" y="4800600"/>
            <a:ext cx="4998704" cy="219456"/>
          </a:xfrm>
          <a:prstGeom prst="rect">
            <a:avLst/>
          </a:prstGeom>
          <a:noFill/>
        </p:spPr>
        <p:txBody>
          <a:bodyPr wrap="square" lIns="0" rIns="0" tIns="0" bIns="0" anchor="t">
            <a:spAutoFit/>
          </a:bodyPr>
          <a:lstStyle/>
          <a:p>
            <a:pPr algn="l">
              <a:lnSpc>
                <a:spcPct val="124000"/>
              </a:lnSpc>
              <a:spcAft>
                <a:spcPts val="0"/>
              </a:spcAft>
            </a:pPr>
            <a:r>
              <a:rPr sz="850" b="1" i="0">
                <a:solidFill>
                  <a:srgbClr val="E34948"/>
                </a:solidFill>
                <a:latin typeface="Segoe UI"/>
              </a:rPr>
              <a:t>INTERPRETATION</a:t>
            </a:r>
          </a:p>
        </p:txBody>
      </p:sp>
      <p:sp>
        <p:nvSpPr>
          <p:cNvPr id="16" name="TextBox 15"/>
          <p:cNvSpPr txBox="1"/>
          <p:nvPr/>
        </p:nvSpPr>
        <p:spPr>
          <a:xfrm>
            <a:off x="6443456" y="5047488"/>
            <a:ext cx="4998704" cy="987552"/>
          </a:xfrm>
          <a:prstGeom prst="rect">
            <a:avLst/>
          </a:prstGeom>
          <a:noFill/>
        </p:spPr>
        <p:txBody>
          <a:bodyPr wrap="square" lIns="0" rIns="0" tIns="0" bIns="0" anchor="t">
            <a:spAutoFit/>
          </a:bodyPr>
          <a:lstStyle/>
          <a:p>
            <a:pPr algn="l">
              <a:lnSpc>
                <a:spcPct val="126000"/>
              </a:lnSpc>
              <a:spcAft>
                <a:spcPts val="0"/>
              </a:spcAft>
            </a:pPr>
            <a:r>
              <a:rPr sz="1150" b="0" i="0">
                <a:solidFill>
                  <a:srgbClr val="0B0B0B"/>
                </a:solidFill>
                <a:latin typeface="Segoe UI"/>
              </a:rPr>
              <a:t>Grouping is what makes comparison possible — a 0–2 year band can be set beside an 11+ year band, which 37 distinct tenure values cannot. R&amp;D also holds the largest share of headcount, so its below-average rate still accounts for the largest absolute number of leavers.</a:t>
            </a:r>
          </a:p>
        </p:txBody>
      </p:sp>
      <p:sp>
        <p:nvSpPr>
          <p:cNvPr id="17" name="Rectangle 16"/>
          <p:cNvSpPr/>
          <p:nvPr/>
        </p:nvSpPr>
        <p:spPr>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66928" y="6455664"/>
            <a:ext cx="7961841" cy="219456"/>
          </a:xfrm>
          <a:prstGeom prst="rect">
            <a:avLst/>
          </a:prstGeom>
          <a:noFill/>
        </p:spPr>
        <p:txBody>
          <a:bodyPr wrap="square" lIns="0" rIns="0" tIns="0" bIns="0" anchor="t">
            <a:spAutoFit/>
          </a:bodyPr>
          <a:lstStyle/>
          <a:p>
            <a:pPr algn="l">
              <a:lnSpc>
                <a:spcPct val="124000"/>
              </a:lnSpc>
              <a:spcAft>
                <a:spcPts val="0"/>
              </a:spcAft>
            </a:pPr>
            <a:r>
              <a:rPr sz="850" b="0" i="0">
                <a:solidFill>
                  <a:srgbClr val="898781"/>
                </a:solidFill>
                <a:latin typeface="Segoe UI"/>
              </a:rPr>
              <a:t>notebooks/04-data-wrangling.ipynb</a:t>
            </a:r>
          </a:p>
        </p:txBody>
      </p:sp>
      <p:sp>
        <p:nvSpPr>
          <p:cNvPr id="19" name="TextBox 18"/>
          <p:cNvSpPr txBox="1"/>
          <p:nvPr/>
        </p:nvSpPr>
        <p:spPr>
          <a:xfrm>
            <a:off x="8749932" y="6455664"/>
            <a:ext cx="2875109" cy="219456"/>
          </a:xfrm>
          <a:prstGeom prst="rect">
            <a:avLst/>
          </a:prstGeom>
          <a:noFill/>
        </p:spPr>
        <p:txBody>
          <a:bodyPr wrap="square" lIns="0" rIns="0" tIns="0" bIns="0" anchor="t">
            <a:spAutoFit/>
          </a:bodyPr>
          <a:lstStyle/>
          <a:p>
            <a:pPr algn="r">
              <a:lnSpc>
                <a:spcPct val="124000"/>
              </a:lnSpc>
              <a:spcAft>
                <a:spcPts val="0"/>
              </a:spcAft>
            </a:pPr>
            <a:r>
              <a:rPr sz="850" b="0" i="0">
                <a:solidFill>
                  <a:srgbClr val="898781"/>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8113" cy="219456"/>
          </a:xfrm>
          <a:prstGeom prst="rect">
            <a:avLst/>
          </a:prstGeom>
          <a:noFill/>
        </p:spPr>
        <p:txBody>
          <a:bodyPr wrap="square" lIns="0" rIns="0" tIns="0" bIns="0" anchor="t">
            <a:spAutoFit/>
          </a:bodyPr>
          <a:lstStyle/>
          <a:p>
            <a:pPr algn="l">
              <a:lnSpc>
                <a:spcPct val="124000"/>
              </a:lnSpc>
              <a:spcAft>
                <a:spcPts val="0"/>
              </a:spcAft>
            </a:pPr>
            <a:r>
              <a:rPr sz="950" b="1" i="0">
                <a:solidFill>
                  <a:srgbClr val="2A78D6"/>
                </a:solidFill>
                <a:latin typeface="Segoe UI"/>
              </a:rPr>
              <a:t>EDA STEP 05 · 1 OF 3</a:t>
            </a:r>
          </a:p>
        </p:txBody>
      </p:sp>
      <p:sp>
        <p:nvSpPr>
          <p:cNvPr id="3" name="TextBox 2"/>
          <p:cNvSpPr txBox="1"/>
          <p:nvPr/>
        </p:nvSpPr>
        <p:spPr>
          <a:xfrm>
            <a:off x="566928" y="603504"/>
            <a:ext cx="11058113" cy="475488"/>
          </a:xfrm>
          <a:prstGeom prst="rect">
            <a:avLst/>
          </a:prstGeom>
          <a:noFill/>
        </p:spPr>
        <p:txBody>
          <a:bodyPr wrap="square" lIns="0" rIns="0" tIns="0" bIns="0" anchor="t">
            <a:spAutoFit/>
          </a:bodyPr>
          <a:lstStyle/>
          <a:p>
            <a:pPr algn="l">
              <a:lnSpc>
                <a:spcPct val="124000"/>
              </a:lnSpc>
              <a:spcAft>
                <a:spcPts val="0"/>
              </a:spcAft>
            </a:pPr>
            <a:r>
              <a:rPr sz="2500" b="1" i="0">
                <a:solidFill>
                  <a:srgbClr val="0B0B0B"/>
                </a:solidFill>
                <a:latin typeface="Segoe UI"/>
              </a:rPr>
              <a:t>Step 05 · Where is attrition concentrated?</a:t>
            </a:r>
          </a:p>
        </p:txBody>
      </p:sp>
      <p:sp>
        <p:nvSpPr>
          <p:cNvPr id="4" name="TextBox 3"/>
          <p:cNvSpPr txBox="1"/>
          <p:nvPr/>
        </p:nvSpPr>
        <p:spPr>
          <a:xfrm>
            <a:off x="566928" y="1106424"/>
            <a:ext cx="11058113" cy="274320"/>
          </a:xfrm>
          <a:prstGeom prst="rect">
            <a:avLst/>
          </a:prstGeom>
          <a:noFill/>
        </p:spPr>
        <p:txBody>
          <a:bodyPr wrap="square" lIns="0" rIns="0" tIns="0" bIns="0" anchor="t">
            <a:spAutoFit/>
          </a:bodyPr>
          <a:lstStyle/>
          <a:p>
            <a:pPr algn="l">
              <a:lnSpc>
                <a:spcPct val="124000"/>
              </a:lnSpc>
              <a:spcAft>
                <a:spcPts val="0"/>
              </a:spcAft>
            </a:pPr>
            <a:r>
              <a:rPr sz="1250" b="0" i="0">
                <a:solidFill>
                  <a:srgbClr val="52514E"/>
                </a:solidFill>
                <a:latin typeface="Segoe UI"/>
              </a:rPr>
              <a:t>Objective: find which job roles exceed the 16.1% baseline — and which of them matter once headcount is taken into account.</a:t>
            </a:r>
          </a:p>
        </p:txBody>
      </p:sp>
      <p:sp>
        <p:nvSpPr>
          <p:cNvPr id="5" name="Rectangle 4"/>
          <p:cNvSpPr/>
          <p:nvPr/>
        </p:nvSpPr>
        <p:spPr>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05_jobrole.png"/>
          <p:cNvPicPr>
            <a:picLocks noChangeAspect="1"/>
          </p:cNvPicPr>
          <p:nvPr/>
        </p:nvPicPr>
        <p:blipFill>
          <a:blip r:embed="rId2"/>
          <a:stretch>
            <a:fillRect/>
          </a:stretch>
        </p:blipFill>
        <p:spPr>
          <a:xfrm>
            <a:off x="1021332" y="1645919"/>
            <a:ext cx="5720590" cy="3246120"/>
          </a:xfrm>
          <a:prstGeom prst="rect">
            <a:avLst/>
          </a:prstGeom>
        </p:spPr>
      </p:pic>
      <p:pic>
        <p:nvPicPr>
          <p:cNvPr id="7" name="Picture 6" descr="05_excess_role.png"/>
          <p:cNvPicPr>
            <a:picLocks noChangeAspect="1"/>
          </p:cNvPicPr>
          <p:nvPr/>
        </p:nvPicPr>
        <p:blipFill>
          <a:blip r:embed="rId3"/>
          <a:stretch>
            <a:fillRect/>
          </a:stretch>
        </p:blipFill>
        <p:spPr>
          <a:xfrm>
            <a:off x="7287768" y="1596518"/>
            <a:ext cx="4337273" cy="3335778"/>
          </a:xfrm>
          <a:prstGeom prst="rect">
            <a:avLst/>
          </a:prstGeom>
        </p:spPr>
      </p:pic>
      <p:sp>
        <p:nvSpPr>
          <p:cNvPr id="8" name="Rectangle 7"/>
          <p:cNvSpPr/>
          <p:nvPr/>
        </p:nvSpPr>
        <p:spPr>
          <a:xfrm>
            <a:off x="566928" y="4773168"/>
            <a:ext cx="5401040" cy="137160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66928" y="4773168"/>
            <a:ext cx="41148" cy="13716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86384" y="4910328"/>
            <a:ext cx="4998704" cy="219456"/>
          </a:xfrm>
          <a:prstGeom prst="rect">
            <a:avLst/>
          </a:prstGeom>
          <a:noFill/>
        </p:spPr>
        <p:txBody>
          <a:bodyPr wrap="square" lIns="0" rIns="0" tIns="0" bIns="0" anchor="t">
            <a:spAutoFit/>
          </a:bodyPr>
          <a:lstStyle/>
          <a:p>
            <a:pPr algn="l">
              <a:lnSpc>
                <a:spcPct val="124000"/>
              </a:lnSpc>
              <a:spcAft>
                <a:spcPts val="0"/>
              </a:spcAft>
            </a:pPr>
            <a:r>
              <a:rPr sz="850" b="1" i="0">
                <a:solidFill>
                  <a:srgbClr val="2A78D6"/>
                </a:solidFill>
                <a:latin typeface="Segoe UI"/>
              </a:rPr>
              <a:t>FINDING</a:t>
            </a:r>
          </a:p>
        </p:txBody>
      </p:sp>
      <p:sp>
        <p:nvSpPr>
          <p:cNvPr id="11" name="TextBox 10"/>
          <p:cNvSpPr txBox="1"/>
          <p:nvPr/>
        </p:nvSpPr>
        <p:spPr>
          <a:xfrm>
            <a:off x="786384" y="5157216"/>
            <a:ext cx="4998704" cy="877824"/>
          </a:xfrm>
          <a:prstGeom prst="rect">
            <a:avLst/>
          </a:prstGeom>
          <a:noFill/>
        </p:spPr>
        <p:txBody>
          <a:bodyPr wrap="square" lIns="0" rIns="0" tIns="0" bIns="0" anchor="t">
            <a:spAutoFit/>
          </a:bodyPr>
          <a:lstStyle/>
          <a:p>
            <a:pPr algn="l">
              <a:lnSpc>
                <a:spcPct val="126000"/>
              </a:lnSpc>
              <a:spcAft>
                <a:spcPts val="0"/>
              </a:spcAft>
            </a:pPr>
            <a:r>
              <a:rPr sz="1150" b="0" i="0">
                <a:solidFill>
                  <a:srgbClr val="0B0B0B"/>
                </a:solidFill>
                <a:latin typeface="Segoe UI"/>
              </a:rPr>
              <a:t>Four of nine roles sit above the baseline. Sales Representatives leave at 39.76% — 2.47× the company rate, +23.6 pp — followed by Laboratory Technicians at 23.94% and Human Resources at 23.08%. Both Sales Representatives and Laboratory Technicians account for roughly 20 excess departures each.</a:t>
            </a:r>
          </a:p>
        </p:txBody>
      </p:sp>
      <p:sp>
        <p:nvSpPr>
          <p:cNvPr id="12" name="Rectangle 11"/>
          <p:cNvSpPr/>
          <p:nvPr/>
        </p:nvSpPr>
        <p:spPr>
          <a:xfrm>
            <a:off x="6224000" y="4773168"/>
            <a:ext cx="5401040" cy="1371600"/>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224000" y="4773168"/>
            <a:ext cx="41148" cy="13716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43456" y="4910328"/>
            <a:ext cx="4998704" cy="219456"/>
          </a:xfrm>
          <a:prstGeom prst="rect">
            <a:avLst/>
          </a:prstGeom>
          <a:noFill/>
        </p:spPr>
        <p:txBody>
          <a:bodyPr wrap="square" lIns="0" rIns="0" tIns="0" bIns="0" anchor="t">
            <a:spAutoFit/>
          </a:bodyPr>
          <a:lstStyle/>
          <a:p>
            <a:pPr algn="l">
              <a:lnSpc>
                <a:spcPct val="124000"/>
              </a:lnSpc>
              <a:spcAft>
                <a:spcPts val="0"/>
              </a:spcAft>
            </a:pPr>
            <a:r>
              <a:rPr sz="850" b="1" i="0">
                <a:solidFill>
                  <a:srgbClr val="E34948"/>
                </a:solidFill>
                <a:latin typeface="Segoe UI"/>
              </a:rPr>
              <a:t>INTERPRETATION</a:t>
            </a:r>
          </a:p>
        </p:txBody>
      </p:sp>
      <p:sp>
        <p:nvSpPr>
          <p:cNvPr id="15" name="TextBox 14"/>
          <p:cNvSpPr txBox="1"/>
          <p:nvPr/>
        </p:nvSpPr>
        <p:spPr>
          <a:xfrm>
            <a:off x="6443456" y="5157216"/>
            <a:ext cx="4998704" cy="877824"/>
          </a:xfrm>
          <a:prstGeom prst="rect">
            <a:avLst/>
          </a:prstGeom>
          <a:noFill/>
        </p:spPr>
        <p:txBody>
          <a:bodyPr wrap="square" lIns="0" rIns="0" tIns="0" bIns="0" anchor="t">
            <a:spAutoFit/>
          </a:bodyPr>
          <a:lstStyle/>
          <a:p>
            <a:pPr algn="l">
              <a:lnSpc>
                <a:spcPct val="126000"/>
              </a:lnSpc>
              <a:spcAft>
                <a:spcPts val="0"/>
              </a:spcAft>
            </a:pPr>
            <a:r>
              <a:rPr sz="1150" b="0" i="0">
                <a:solidFill>
                  <a:srgbClr val="0B0B0B"/>
                </a:solidFill>
                <a:latin typeface="Segoe UI"/>
              </a:rPr>
              <a:t>Rate and volume point to different roles. Sales Representatives have the sharpest rate on only 83 people; Laboratory Technicians reach the same excess on 259. Research Directors sit at the opposite end — 2.50%, 0.16× baseline — so attrition is associated with specific operational roles rather than spread evenly.</a:t>
            </a:r>
          </a:p>
        </p:txBody>
      </p:sp>
      <p:sp>
        <p:nvSpPr>
          <p:cNvPr id="16" name="Rectangle 15"/>
          <p:cNvSpPr/>
          <p:nvPr/>
        </p:nvSpPr>
        <p:spPr>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66928" y="6455664"/>
            <a:ext cx="7961841" cy="219456"/>
          </a:xfrm>
          <a:prstGeom prst="rect">
            <a:avLst/>
          </a:prstGeom>
          <a:noFill/>
        </p:spPr>
        <p:txBody>
          <a:bodyPr wrap="square" lIns="0" rIns="0" tIns="0" bIns="0" anchor="t">
            <a:spAutoFit/>
          </a:bodyPr>
          <a:lstStyle/>
          <a:p>
            <a:pPr algn="l">
              <a:lnSpc>
                <a:spcPct val="124000"/>
              </a:lnSpc>
              <a:spcAft>
                <a:spcPts val="0"/>
              </a:spcAft>
            </a:pPr>
            <a:r>
              <a:rPr sz="850" b="0" i="0">
                <a:solidFill>
                  <a:srgbClr val="898781"/>
                </a:solidFill>
                <a:latin typeface="Segoe UI"/>
              </a:rPr>
              <a:t>notebooks/05-exploratory-data-analysis.ipynb</a:t>
            </a:r>
          </a:p>
        </p:txBody>
      </p:sp>
      <p:sp>
        <p:nvSpPr>
          <p:cNvPr id="18" name="TextBox 17"/>
          <p:cNvSpPr txBox="1"/>
          <p:nvPr/>
        </p:nvSpPr>
        <p:spPr>
          <a:xfrm>
            <a:off x="8749932" y="6455664"/>
            <a:ext cx="2875109" cy="219456"/>
          </a:xfrm>
          <a:prstGeom prst="rect">
            <a:avLst/>
          </a:prstGeom>
          <a:noFill/>
        </p:spPr>
        <p:txBody>
          <a:bodyPr wrap="square" lIns="0" rIns="0" tIns="0" bIns="0" anchor="t">
            <a:spAutoFit/>
          </a:bodyPr>
          <a:lstStyle/>
          <a:p>
            <a:pPr algn="r">
              <a:lnSpc>
                <a:spcPct val="124000"/>
              </a:lnSpc>
              <a:spcAft>
                <a:spcPts val="0"/>
              </a:spcAft>
            </a:pPr>
            <a:r>
              <a:rPr sz="850" b="0" i="0">
                <a:solidFill>
                  <a:srgbClr val="898781"/>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8113" cy="219456"/>
          </a:xfrm>
          <a:prstGeom prst="rect">
            <a:avLst/>
          </a:prstGeom>
          <a:noFill/>
        </p:spPr>
        <p:txBody>
          <a:bodyPr wrap="square" lIns="0" rIns="0" tIns="0" bIns="0" anchor="t">
            <a:spAutoFit/>
          </a:bodyPr>
          <a:lstStyle/>
          <a:p>
            <a:pPr algn="l">
              <a:lnSpc>
                <a:spcPct val="124000"/>
              </a:lnSpc>
              <a:spcAft>
                <a:spcPts val="0"/>
              </a:spcAft>
            </a:pPr>
            <a:r>
              <a:rPr sz="950" b="1" i="0">
                <a:solidFill>
                  <a:srgbClr val="2A78D6"/>
                </a:solidFill>
                <a:latin typeface="Segoe UI"/>
              </a:rPr>
              <a:t>EDA STEP 05 · 2 OF 3</a:t>
            </a:r>
          </a:p>
        </p:txBody>
      </p:sp>
      <p:sp>
        <p:nvSpPr>
          <p:cNvPr id="3" name="TextBox 2"/>
          <p:cNvSpPr txBox="1"/>
          <p:nvPr/>
        </p:nvSpPr>
        <p:spPr>
          <a:xfrm>
            <a:off x="566928" y="603504"/>
            <a:ext cx="11058113" cy="475488"/>
          </a:xfrm>
          <a:prstGeom prst="rect">
            <a:avLst/>
          </a:prstGeom>
          <a:noFill/>
        </p:spPr>
        <p:txBody>
          <a:bodyPr wrap="square" lIns="0" rIns="0" tIns="0" bIns="0" anchor="t">
            <a:spAutoFit/>
          </a:bodyPr>
          <a:lstStyle/>
          <a:p>
            <a:pPr algn="l">
              <a:lnSpc>
                <a:spcPct val="124000"/>
              </a:lnSpc>
              <a:spcAft>
                <a:spcPts val="0"/>
              </a:spcAft>
            </a:pPr>
            <a:r>
              <a:rPr sz="2500" b="1" i="0">
                <a:solidFill>
                  <a:srgbClr val="0B0B0B"/>
                </a:solidFill>
                <a:latin typeface="Segoe UI"/>
              </a:rPr>
              <a:t>Step 05 · Department and job level</a:t>
            </a:r>
          </a:p>
        </p:txBody>
      </p:sp>
      <p:sp>
        <p:nvSpPr>
          <p:cNvPr id="4" name="TextBox 3"/>
          <p:cNvSpPr txBox="1"/>
          <p:nvPr/>
        </p:nvSpPr>
        <p:spPr>
          <a:xfrm>
            <a:off x="566928" y="1106424"/>
            <a:ext cx="11058113" cy="274320"/>
          </a:xfrm>
          <a:prstGeom prst="rect">
            <a:avLst/>
          </a:prstGeom>
          <a:noFill/>
        </p:spPr>
        <p:txBody>
          <a:bodyPr wrap="square" lIns="0" rIns="0" tIns="0" bIns="0" anchor="t">
            <a:spAutoFit/>
          </a:bodyPr>
          <a:lstStyle/>
          <a:p>
            <a:pPr algn="l">
              <a:lnSpc>
                <a:spcPct val="124000"/>
              </a:lnSpc>
              <a:spcAft>
                <a:spcPts val="0"/>
              </a:spcAft>
            </a:pPr>
            <a:r>
              <a:rPr sz="1250" b="0" i="0">
                <a:solidFill>
                  <a:srgbClr val="52514E"/>
                </a:solidFill>
                <a:latin typeface="Segoe UI"/>
              </a:rPr>
              <a:t>Objective: test whether the concentration is organisational (which department) or hierarchical (which level).</a:t>
            </a:r>
          </a:p>
        </p:txBody>
      </p:sp>
      <p:sp>
        <p:nvSpPr>
          <p:cNvPr id="5" name="Rectangle 4"/>
          <p:cNvSpPr/>
          <p:nvPr/>
        </p:nvSpPr>
        <p:spPr>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05_joblevel.png"/>
          <p:cNvPicPr>
            <a:picLocks noChangeAspect="1"/>
          </p:cNvPicPr>
          <p:nvPr/>
        </p:nvPicPr>
        <p:blipFill>
          <a:blip r:embed="rId2"/>
          <a:stretch>
            <a:fillRect/>
          </a:stretch>
        </p:blipFill>
        <p:spPr>
          <a:xfrm>
            <a:off x="842972" y="1645919"/>
            <a:ext cx="5254350" cy="3246120"/>
          </a:xfrm>
          <a:prstGeom prst="rect">
            <a:avLst/>
          </a:prstGeom>
        </p:spPr>
      </p:pic>
      <p:sp>
        <p:nvSpPr>
          <p:cNvPr id="7" name="TextBox 6"/>
          <p:cNvSpPr txBox="1"/>
          <p:nvPr/>
        </p:nvSpPr>
        <p:spPr>
          <a:xfrm>
            <a:off x="6647688" y="1700784"/>
            <a:ext cx="4977353" cy="256032"/>
          </a:xfrm>
          <a:prstGeom prst="rect">
            <a:avLst/>
          </a:prstGeom>
          <a:noFill/>
        </p:spPr>
        <p:txBody>
          <a:bodyPr wrap="square" lIns="0" rIns="0" tIns="0" bIns="0" anchor="t">
            <a:spAutoFit/>
          </a:bodyPr>
          <a:lstStyle/>
          <a:p>
            <a:pPr algn="l">
              <a:lnSpc>
                <a:spcPct val="124000"/>
              </a:lnSpc>
              <a:spcAft>
                <a:spcPts val="0"/>
              </a:spcAft>
            </a:pPr>
            <a:r>
              <a:rPr sz="1250" b="1" i="0">
                <a:solidFill>
                  <a:srgbClr val="0B0B0B"/>
                </a:solidFill>
                <a:latin typeface="Segoe UI"/>
              </a:rPr>
              <a:t>What the two cuts show</a:t>
            </a:r>
          </a:p>
        </p:txBody>
      </p:sp>
      <p:sp>
        <p:nvSpPr>
          <p:cNvPr id="8" name="TextBox 7"/>
          <p:cNvSpPr txBox="1"/>
          <p:nvPr/>
        </p:nvSpPr>
        <p:spPr>
          <a:xfrm>
            <a:off x="6647688" y="2048256"/>
            <a:ext cx="4977353" cy="2651760"/>
          </a:xfrm>
          <a:prstGeom prst="rect">
            <a:avLst/>
          </a:prstGeom>
          <a:noFill/>
        </p:spPr>
        <p:txBody>
          <a:bodyPr wrap="square" lIns="0" rIns="0" tIns="0" bIns="0" anchor="t">
            <a:spAutoFit/>
          </a:bodyPr>
          <a:lstStyle/>
          <a:p>
            <a:pPr algn="l">
              <a:lnSpc>
                <a:spcPct val="122000"/>
              </a:lnSpc>
              <a:spcAft>
                <a:spcPts val="900"/>
              </a:spcAft>
            </a:pPr>
            <a:r>
              <a:rPr sz="1050" b="1" i="0">
                <a:solidFill>
                  <a:srgbClr val="2A78D6"/>
                </a:solidFill>
                <a:latin typeface="Segoe UI"/>
              </a:rPr>
              <a:t>•  </a:t>
            </a:r>
            <a:r>
              <a:rPr sz="1050" b="1" i="0">
                <a:solidFill>
                  <a:srgbClr val="0B0B0B"/>
                </a:solidFill>
                <a:latin typeface="Segoe UI"/>
              </a:rPr>
              <a:t>Job level 1  </a:t>
            </a:r>
            <a:r>
              <a:rPr sz="1050" b="0" i="0">
                <a:solidFill>
                  <a:srgbClr val="52514E"/>
                </a:solidFill>
                <a:latin typeface="Segoe UI"/>
              </a:rPr>
              <a:t>26.34% on 543 employees — 1.63× baseline, +10.2 pp, and +55 excess departures, the largest excess of any segment in the project.</a:t>
            </a:r>
          </a:p>
          <a:p>
            <a:pPr algn="l">
              <a:lnSpc>
                <a:spcPct val="122000"/>
              </a:lnSpc>
              <a:spcAft>
                <a:spcPts val="900"/>
              </a:spcAft>
            </a:pPr>
            <a:r>
              <a:rPr sz="1050" b="1" i="0">
                <a:solidFill>
                  <a:srgbClr val="2A78D6"/>
                </a:solidFill>
                <a:latin typeface="Segoe UI"/>
              </a:rPr>
              <a:t>•  </a:t>
            </a:r>
            <a:r>
              <a:rPr sz="1050" b="1" i="0">
                <a:solidFill>
                  <a:srgbClr val="0B0B0B"/>
                </a:solidFill>
                <a:latin typeface="Segoe UI"/>
              </a:rPr>
              <a:t>Levels 2–5  </a:t>
            </a:r>
            <a:r>
              <a:rPr sz="1050" b="0" i="0">
                <a:solidFill>
                  <a:srgbClr val="52514E"/>
                </a:solidFill>
                <a:latin typeface="Segoe UI"/>
              </a:rPr>
              <a:t>All below baseline: 9.74%, 14.68%, 4.72% and 7.25% respectively.</a:t>
            </a:r>
          </a:p>
          <a:p>
            <a:pPr algn="l">
              <a:lnSpc>
                <a:spcPct val="122000"/>
              </a:lnSpc>
              <a:spcAft>
                <a:spcPts val="900"/>
              </a:spcAft>
            </a:pPr>
            <a:r>
              <a:rPr sz="1050" b="1" i="0">
                <a:solidFill>
                  <a:srgbClr val="2A78D6"/>
                </a:solidFill>
                <a:latin typeface="Segoe UI"/>
              </a:rPr>
              <a:t>•  </a:t>
            </a:r>
            <a:r>
              <a:rPr sz="1050" b="1" i="0">
                <a:solidFill>
                  <a:srgbClr val="0B0B0B"/>
                </a:solidFill>
                <a:latin typeface="Segoe UI"/>
              </a:rPr>
              <a:t>Departments  </a:t>
            </a:r>
            <a:r>
              <a:rPr sz="1050" b="0" i="0">
                <a:solidFill>
                  <a:srgbClr val="52514E"/>
                </a:solidFill>
                <a:latin typeface="Segoe UI"/>
              </a:rPr>
              <a:t>Sales 20.63% (+20 excess) and Human Resources 19.05% (+2 excess) sit above baseline; R&amp;D 13.84% sits 22 departures below its expectation.</a:t>
            </a:r>
          </a:p>
          <a:p>
            <a:pPr algn="l">
              <a:lnSpc>
                <a:spcPct val="122000"/>
              </a:lnSpc>
              <a:spcAft>
                <a:spcPts val="900"/>
              </a:spcAft>
            </a:pPr>
            <a:r>
              <a:rPr sz="1050" b="1" i="0">
                <a:solidFill>
                  <a:srgbClr val="2A78D6"/>
                </a:solidFill>
                <a:latin typeface="Segoe UI"/>
              </a:rPr>
              <a:t>•  </a:t>
            </a:r>
            <a:r>
              <a:rPr sz="1050" b="1" i="0">
                <a:solidFill>
                  <a:srgbClr val="0B0B0B"/>
                </a:solidFill>
                <a:latin typeface="Segoe UI"/>
              </a:rPr>
              <a:t>Headcount check  </a:t>
            </a:r>
            <a:r>
              <a:rPr sz="1050" b="0" i="0">
                <a:solidFill>
                  <a:srgbClr val="52514E"/>
                </a:solidFill>
                <a:latin typeface="Segoe UI"/>
              </a:rPr>
              <a:t>Level 1 and level 2 together hold 1,077 of 1,470 employees, so the level-1 result is not a small-sample artefact.</a:t>
            </a:r>
          </a:p>
        </p:txBody>
      </p:sp>
      <p:sp>
        <p:nvSpPr>
          <p:cNvPr id="9" name="Rectangle 8"/>
          <p:cNvSpPr/>
          <p:nvPr/>
        </p:nvSpPr>
        <p:spPr>
          <a:xfrm>
            <a:off x="566928" y="4773168"/>
            <a:ext cx="5401040" cy="137160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4773168"/>
            <a:ext cx="41148" cy="13716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86384" y="4910328"/>
            <a:ext cx="4998704" cy="219456"/>
          </a:xfrm>
          <a:prstGeom prst="rect">
            <a:avLst/>
          </a:prstGeom>
          <a:noFill/>
        </p:spPr>
        <p:txBody>
          <a:bodyPr wrap="square" lIns="0" rIns="0" tIns="0" bIns="0" anchor="t">
            <a:spAutoFit/>
          </a:bodyPr>
          <a:lstStyle/>
          <a:p>
            <a:pPr algn="l">
              <a:lnSpc>
                <a:spcPct val="124000"/>
              </a:lnSpc>
              <a:spcAft>
                <a:spcPts val="0"/>
              </a:spcAft>
            </a:pPr>
            <a:r>
              <a:rPr sz="850" b="1" i="0">
                <a:solidFill>
                  <a:srgbClr val="2A78D6"/>
                </a:solidFill>
                <a:latin typeface="Segoe UI"/>
              </a:rPr>
              <a:t>FINDING</a:t>
            </a:r>
          </a:p>
        </p:txBody>
      </p:sp>
      <p:sp>
        <p:nvSpPr>
          <p:cNvPr id="12" name="TextBox 11"/>
          <p:cNvSpPr txBox="1"/>
          <p:nvPr/>
        </p:nvSpPr>
        <p:spPr>
          <a:xfrm>
            <a:off x="786384" y="5157216"/>
            <a:ext cx="4998704" cy="877824"/>
          </a:xfrm>
          <a:prstGeom prst="rect">
            <a:avLst/>
          </a:prstGeom>
          <a:noFill/>
        </p:spPr>
        <p:txBody>
          <a:bodyPr wrap="square" lIns="0" rIns="0" tIns="0" bIns="0" anchor="t">
            <a:spAutoFit/>
          </a:bodyPr>
          <a:lstStyle/>
          <a:p>
            <a:pPr algn="l">
              <a:lnSpc>
                <a:spcPct val="126000"/>
              </a:lnSpc>
              <a:spcAft>
                <a:spcPts val="0"/>
              </a:spcAft>
            </a:pPr>
            <a:r>
              <a:rPr sz="1150" b="0" i="0">
                <a:solidFill>
                  <a:srgbClr val="0B0B0B"/>
                </a:solidFill>
                <a:latin typeface="Segoe UI"/>
              </a:rPr>
              <a:t>Level is the stronger of the two cuts. Entry-level attrition of 26.34% produces 55 more departures than the baseline would predict — more than the Sales and Human Resources departments' excess combined.</a:t>
            </a:r>
          </a:p>
        </p:txBody>
      </p:sp>
      <p:sp>
        <p:nvSpPr>
          <p:cNvPr id="13" name="Rectangle 12"/>
          <p:cNvSpPr/>
          <p:nvPr/>
        </p:nvSpPr>
        <p:spPr>
          <a:xfrm>
            <a:off x="6224000" y="4773168"/>
            <a:ext cx="5401040" cy="1371600"/>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224000" y="4773168"/>
            <a:ext cx="41148" cy="13716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43456" y="4910328"/>
            <a:ext cx="4998704" cy="219456"/>
          </a:xfrm>
          <a:prstGeom prst="rect">
            <a:avLst/>
          </a:prstGeom>
          <a:noFill/>
        </p:spPr>
        <p:txBody>
          <a:bodyPr wrap="square" lIns="0" rIns="0" tIns="0" bIns="0" anchor="t">
            <a:spAutoFit/>
          </a:bodyPr>
          <a:lstStyle/>
          <a:p>
            <a:pPr algn="l">
              <a:lnSpc>
                <a:spcPct val="124000"/>
              </a:lnSpc>
              <a:spcAft>
                <a:spcPts val="0"/>
              </a:spcAft>
            </a:pPr>
            <a:r>
              <a:rPr sz="850" b="1" i="0">
                <a:solidFill>
                  <a:srgbClr val="E34948"/>
                </a:solidFill>
                <a:latin typeface="Segoe UI"/>
              </a:rPr>
              <a:t>INTERPRETATION</a:t>
            </a:r>
          </a:p>
        </p:txBody>
      </p:sp>
      <p:sp>
        <p:nvSpPr>
          <p:cNvPr id="16" name="TextBox 15"/>
          <p:cNvSpPr txBox="1"/>
          <p:nvPr/>
        </p:nvSpPr>
        <p:spPr>
          <a:xfrm>
            <a:off x="6443456" y="5157216"/>
            <a:ext cx="4998704" cy="877824"/>
          </a:xfrm>
          <a:prstGeom prst="rect">
            <a:avLst/>
          </a:prstGeom>
          <a:noFill/>
        </p:spPr>
        <p:txBody>
          <a:bodyPr wrap="square" lIns="0" rIns="0" tIns="0" bIns="0" anchor="t">
            <a:spAutoFit/>
          </a:bodyPr>
          <a:lstStyle/>
          <a:p>
            <a:pPr algn="l">
              <a:lnSpc>
                <a:spcPct val="126000"/>
              </a:lnSpc>
              <a:spcAft>
                <a:spcPts val="0"/>
              </a:spcAft>
            </a:pPr>
            <a:r>
              <a:rPr sz="1150" b="0" i="0">
                <a:solidFill>
                  <a:srgbClr val="0B0B0B"/>
                </a:solidFill>
                <a:latin typeface="Segoe UI"/>
              </a:rPr>
              <a:t>Seniority is associated with staying, and the relationship is close to monotonic above level 1. The high-attrition roles identified on the previous slide are also predominantly entry-level roles, so department, role and level are not independent signals — they overlap on the same population.</a:t>
            </a:r>
          </a:p>
        </p:txBody>
      </p:sp>
      <p:sp>
        <p:nvSpPr>
          <p:cNvPr id="17" name="Rectangle 16"/>
          <p:cNvSpPr/>
          <p:nvPr/>
        </p:nvSpPr>
        <p:spPr>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66928" y="6455664"/>
            <a:ext cx="7961841" cy="219456"/>
          </a:xfrm>
          <a:prstGeom prst="rect">
            <a:avLst/>
          </a:prstGeom>
          <a:noFill/>
        </p:spPr>
        <p:txBody>
          <a:bodyPr wrap="square" lIns="0" rIns="0" tIns="0" bIns="0" anchor="t">
            <a:spAutoFit/>
          </a:bodyPr>
          <a:lstStyle/>
          <a:p>
            <a:pPr algn="l">
              <a:lnSpc>
                <a:spcPct val="124000"/>
              </a:lnSpc>
              <a:spcAft>
                <a:spcPts val="0"/>
              </a:spcAft>
            </a:pPr>
            <a:r>
              <a:rPr sz="850" b="0" i="0">
                <a:solidFill>
                  <a:srgbClr val="898781"/>
                </a:solidFill>
                <a:latin typeface="Segoe UI"/>
              </a:rPr>
              <a:t>notebooks/05-exploratory-data-analysis.ipynb</a:t>
            </a:r>
          </a:p>
        </p:txBody>
      </p:sp>
      <p:sp>
        <p:nvSpPr>
          <p:cNvPr id="19" name="TextBox 18"/>
          <p:cNvSpPr txBox="1"/>
          <p:nvPr/>
        </p:nvSpPr>
        <p:spPr>
          <a:xfrm>
            <a:off x="8749932" y="6455664"/>
            <a:ext cx="2875109" cy="219456"/>
          </a:xfrm>
          <a:prstGeom prst="rect">
            <a:avLst/>
          </a:prstGeom>
          <a:noFill/>
        </p:spPr>
        <p:txBody>
          <a:bodyPr wrap="square" lIns="0" rIns="0" tIns="0" bIns="0" anchor="t">
            <a:spAutoFit/>
          </a:bodyPr>
          <a:lstStyle/>
          <a:p>
            <a:pPr algn="r">
              <a:lnSpc>
                <a:spcPct val="124000"/>
              </a:lnSpc>
              <a:spcAft>
                <a:spcPts val="0"/>
              </a:spcAft>
            </a:pPr>
            <a:r>
              <a:rPr sz="850" b="0" i="0">
                <a:solidFill>
                  <a:srgbClr val="898781"/>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8113" cy="219456"/>
          </a:xfrm>
          <a:prstGeom prst="rect">
            <a:avLst/>
          </a:prstGeom>
          <a:noFill/>
        </p:spPr>
        <p:txBody>
          <a:bodyPr wrap="square" lIns="0" rIns="0" tIns="0" bIns="0" anchor="t">
            <a:spAutoFit/>
          </a:bodyPr>
          <a:lstStyle/>
          <a:p>
            <a:pPr algn="l">
              <a:lnSpc>
                <a:spcPct val="124000"/>
              </a:lnSpc>
              <a:spcAft>
                <a:spcPts val="0"/>
              </a:spcAft>
            </a:pPr>
            <a:r>
              <a:rPr sz="950" b="1" i="0">
                <a:solidFill>
                  <a:srgbClr val="2A78D6"/>
                </a:solidFill>
                <a:latin typeface="Segoe UI"/>
              </a:rPr>
              <a:t>EDA STEP 05 · 3 OF 3</a:t>
            </a:r>
          </a:p>
        </p:txBody>
      </p:sp>
      <p:sp>
        <p:nvSpPr>
          <p:cNvPr id="3" name="TextBox 2"/>
          <p:cNvSpPr txBox="1"/>
          <p:nvPr/>
        </p:nvSpPr>
        <p:spPr>
          <a:xfrm>
            <a:off x="566928" y="603504"/>
            <a:ext cx="11058113" cy="475488"/>
          </a:xfrm>
          <a:prstGeom prst="rect">
            <a:avLst/>
          </a:prstGeom>
          <a:noFill/>
        </p:spPr>
        <p:txBody>
          <a:bodyPr wrap="square" lIns="0" rIns="0" tIns="0" bIns="0" anchor="t">
            <a:spAutoFit/>
          </a:bodyPr>
          <a:lstStyle/>
          <a:p>
            <a:pPr algn="l">
              <a:lnSpc>
                <a:spcPct val="124000"/>
              </a:lnSpc>
              <a:spcAft>
                <a:spcPts val="0"/>
              </a:spcAft>
            </a:pPr>
            <a:r>
              <a:rPr sz="2500" b="1" i="0">
                <a:solidFill>
                  <a:srgbClr val="0B0B0B"/>
                </a:solidFill>
                <a:latin typeface="Segoe UI"/>
              </a:rPr>
              <a:t>Step 05 · Is attrition an early-tenure phenomenon?</a:t>
            </a:r>
          </a:p>
        </p:txBody>
      </p:sp>
      <p:sp>
        <p:nvSpPr>
          <p:cNvPr id="4" name="TextBox 3"/>
          <p:cNvSpPr txBox="1"/>
          <p:nvPr/>
        </p:nvSpPr>
        <p:spPr>
          <a:xfrm>
            <a:off x="566928" y="1106424"/>
            <a:ext cx="11058113" cy="274320"/>
          </a:xfrm>
          <a:prstGeom prst="rect">
            <a:avLst/>
          </a:prstGeom>
          <a:noFill/>
        </p:spPr>
        <p:txBody>
          <a:bodyPr wrap="square" lIns="0" rIns="0" tIns="0" bIns="0" anchor="t">
            <a:spAutoFit/>
          </a:bodyPr>
          <a:lstStyle/>
          <a:p>
            <a:pPr algn="l">
              <a:lnSpc>
                <a:spcPct val="124000"/>
              </a:lnSpc>
              <a:spcAft>
                <a:spcPts val="0"/>
              </a:spcAft>
            </a:pPr>
            <a:r>
              <a:rPr sz="1250" b="0" i="0">
                <a:solidFill>
                  <a:srgbClr val="52514E"/>
                </a:solidFill>
                <a:latin typeface="Segoe UI"/>
              </a:rPr>
              <a:t>Objective: separate “new to the company” from “early in a career” and find when the risk period ends.</a:t>
            </a:r>
          </a:p>
        </p:txBody>
      </p:sp>
      <p:sp>
        <p:nvSpPr>
          <p:cNvPr id="5" name="Rectangle 4"/>
          <p:cNvSpPr/>
          <p:nvPr/>
        </p:nvSpPr>
        <p:spPr>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05_tenure.png"/>
          <p:cNvPicPr>
            <a:picLocks noChangeAspect="1"/>
          </p:cNvPicPr>
          <p:nvPr/>
        </p:nvPicPr>
        <p:blipFill>
          <a:blip r:embed="rId2"/>
          <a:stretch>
            <a:fillRect/>
          </a:stretch>
        </p:blipFill>
        <p:spPr>
          <a:xfrm>
            <a:off x="888443" y="1609344"/>
            <a:ext cx="4340448" cy="2788920"/>
          </a:xfrm>
          <a:prstGeom prst="rect">
            <a:avLst/>
          </a:prstGeom>
        </p:spPr>
      </p:pic>
      <p:pic>
        <p:nvPicPr>
          <p:cNvPr id="7" name="Picture 6" descr="05_tenure_curve.png"/>
          <p:cNvPicPr>
            <a:picLocks noChangeAspect="1"/>
          </p:cNvPicPr>
          <p:nvPr/>
        </p:nvPicPr>
        <p:blipFill>
          <a:blip r:embed="rId3"/>
          <a:stretch>
            <a:fillRect/>
          </a:stretch>
        </p:blipFill>
        <p:spPr>
          <a:xfrm>
            <a:off x="6428898" y="1609344"/>
            <a:ext cx="4500531" cy="2788920"/>
          </a:xfrm>
          <a:prstGeom prst="rect">
            <a:avLst/>
          </a:prstGeom>
        </p:spPr>
      </p:pic>
      <p:pic>
        <p:nvPicPr>
          <p:cNvPr id="8" name="Picture 7" descr="05_early_signals.png"/>
          <p:cNvPicPr>
            <a:picLocks noChangeAspect="1"/>
          </p:cNvPicPr>
          <p:nvPr/>
        </p:nvPicPr>
        <p:blipFill>
          <a:blip r:embed="rId4"/>
          <a:stretch>
            <a:fillRect/>
          </a:stretch>
        </p:blipFill>
        <p:spPr>
          <a:xfrm>
            <a:off x="3436704" y="4425696"/>
            <a:ext cx="5318560" cy="1481328"/>
          </a:xfrm>
          <a:prstGeom prst="rect">
            <a:avLst/>
          </a:prstGeom>
        </p:spPr>
      </p:pic>
      <p:sp>
        <p:nvSpPr>
          <p:cNvPr id="9" name="Rectangle 8"/>
          <p:cNvSpPr/>
          <p:nvPr/>
        </p:nvSpPr>
        <p:spPr>
          <a:xfrm>
            <a:off x="566928" y="5138928"/>
            <a:ext cx="5401040" cy="100584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5138928"/>
            <a:ext cx="41148" cy="100584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86384" y="5276088"/>
            <a:ext cx="4998704" cy="219456"/>
          </a:xfrm>
          <a:prstGeom prst="rect">
            <a:avLst/>
          </a:prstGeom>
          <a:noFill/>
        </p:spPr>
        <p:txBody>
          <a:bodyPr wrap="square" lIns="0" rIns="0" tIns="0" bIns="0" anchor="t">
            <a:spAutoFit/>
          </a:bodyPr>
          <a:lstStyle/>
          <a:p>
            <a:pPr algn="l">
              <a:lnSpc>
                <a:spcPct val="124000"/>
              </a:lnSpc>
              <a:spcAft>
                <a:spcPts val="0"/>
              </a:spcAft>
            </a:pPr>
            <a:r>
              <a:rPr sz="850" b="1" i="0">
                <a:solidFill>
                  <a:srgbClr val="2A78D6"/>
                </a:solidFill>
                <a:latin typeface="Segoe UI"/>
              </a:rPr>
              <a:t>FINDING</a:t>
            </a:r>
          </a:p>
        </p:txBody>
      </p:sp>
      <p:sp>
        <p:nvSpPr>
          <p:cNvPr id="12" name="TextBox 11"/>
          <p:cNvSpPr txBox="1"/>
          <p:nvPr/>
        </p:nvSpPr>
        <p:spPr>
          <a:xfrm>
            <a:off x="786384" y="5522976"/>
            <a:ext cx="4998704" cy="512064"/>
          </a:xfrm>
          <a:prstGeom prst="rect">
            <a:avLst/>
          </a:prstGeom>
          <a:noFill/>
        </p:spPr>
        <p:txBody>
          <a:bodyPr wrap="square" lIns="0" rIns="0" tIns="0" bIns="0" anchor="t">
            <a:spAutoFit/>
          </a:bodyPr>
          <a:lstStyle/>
          <a:p>
            <a:pPr algn="l">
              <a:lnSpc>
                <a:spcPct val="126000"/>
              </a:lnSpc>
              <a:spcAft>
                <a:spcPts val="0"/>
              </a:spcAft>
            </a:pPr>
            <a:r>
              <a:rPr sz="1150" b="0" i="0">
                <a:solidFill>
                  <a:srgbClr val="0B0B0B"/>
                </a:solidFill>
                <a:latin typeface="Segoe UI"/>
              </a:rPr>
              <a:t>Attrition is an early-tenure phenomenon. It runs at 29.82% in the first two years (342 employees, 1.85× baseline, +47 excess), then falls to 13.82%, 12.28% and 8.13% across the later bands.</a:t>
            </a:r>
          </a:p>
        </p:txBody>
      </p:sp>
      <p:sp>
        <p:nvSpPr>
          <p:cNvPr id="13" name="Rectangle 12"/>
          <p:cNvSpPr/>
          <p:nvPr/>
        </p:nvSpPr>
        <p:spPr>
          <a:xfrm>
            <a:off x="6224000" y="5138928"/>
            <a:ext cx="5401040" cy="1005840"/>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224000" y="5138928"/>
            <a:ext cx="41148" cy="100584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43456" y="5276088"/>
            <a:ext cx="4998704" cy="219456"/>
          </a:xfrm>
          <a:prstGeom prst="rect">
            <a:avLst/>
          </a:prstGeom>
          <a:noFill/>
        </p:spPr>
        <p:txBody>
          <a:bodyPr wrap="square" lIns="0" rIns="0" tIns="0" bIns="0" anchor="t">
            <a:spAutoFit/>
          </a:bodyPr>
          <a:lstStyle/>
          <a:p>
            <a:pPr algn="l">
              <a:lnSpc>
                <a:spcPct val="124000"/>
              </a:lnSpc>
              <a:spcAft>
                <a:spcPts val="0"/>
              </a:spcAft>
            </a:pPr>
            <a:r>
              <a:rPr sz="850" b="1" i="0">
                <a:solidFill>
                  <a:srgbClr val="E34948"/>
                </a:solidFill>
                <a:latin typeface="Segoe UI"/>
              </a:rPr>
              <a:t>INTERPRETATION</a:t>
            </a:r>
          </a:p>
        </p:txBody>
      </p:sp>
      <p:sp>
        <p:nvSpPr>
          <p:cNvPr id="16" name="TextBox 15"/>
          <p:cNvSpPr txBox="1"/>
          <p:nvPr/>
        </p:nvSpPr>
        <p:spPr>
          <a:xfrm>
            <a:off x="6443456" y="5522976"/>
            <a:ext cx="4998704" cy="512064"/>
          </a:xfrm>
          <a:prstGeom prst="rect">
            <a:avLst/>
          </a:prstGeom>
          <a:noFill/>
        </p:spPr>
        <p:txBody>
          <a:bodyPr wrap="square" lIns="0" rIns="0" tIns="0" bIns="0" anchor="t">
            <a:spAutoFit/>
          </a:bodyPr>
          <a:lstStyle/>
          <a:p>
            <a:pPr algn="l">
              <a:lnSpc>
                <a:spcPct val="126000"/>
              </a:lnSpc>
              <a:spcAft>
                <a:spcPts val="0"/>
              </a:spcAft>
            </a:pPr>
            <a:r>
              <a:rPr sz="1150" b="0" i="0">
                <a:solidFill>
                  <a:srgbClr val="0B0B0B"/>
                </a:solidFill>
                <a:latin typeface="Segoe UI"/>
              </a:rPr>
              <a:t>Three independent clocks agree: first year in role 27.91%, first year with a manager 28.32%, first two years of a whole career 43.90%. Risk is concentrated in the first two years, with no second mid-career peak.</a:t>
            </a:r>
          </a:p>
        </p:txBody>
      </p:sp>
      <p:sp>
        <p:nvSpPr>
          <p:cNvPr id="17" name="Rectangle 16"/>
          <p:cNvSpPr/>
          <p:nvPr/>
        </p:nvSpPr>
        <p:spPr>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66928" y="6455664"/>
            <a:ext cx="7961841" cy="219456"/>
          </a:xfrm>
          <a:prstGeom prst="rect">
            <a:avLst/>
          </a:prstGeom>
          <a:noFill/>
        </p:spPr>
        <p:txBody>
          <a:bodyPr wrap="square" lIns="0" rIns="0" tIns="0" bIns="0" anchor="t">
            <a:spAutoFit/>
          </a:bodyPr>
          <a:lstStyle/>
          <a:p>
            <a:pPr algn="l">
              <a:lnSpc>
                <a:spcPct val="124000"/>
              </a:lnSpc>
              <a:spcAft>
                <a:spcPts val="0"/>
              </a:spcAft>
            </a:pPr>
            <a:r>
              <a:rPr sz="850" b="0" i="0">
                <a:solidFill>
                  <a:srgbClr val="898781"/>
                </a:solidFill>
                <a:latin typeface="Segoe UI"/>
              </a:rPr>
              <a:t>notebooks/05-exploratory-data-analysis.ipynb</a:t>
            </a:r>
          </a:p>
        </p:txBody>
      </p:sp>
      <p:sp>
        <p:nvSpPr>
          <p:cNvPr id="19" name="TextBox 18"/>
          <p:cNvSpPr txBox="1"/>
          <p:nvPr/>
        </p:nvSpPr>
        <p:spPr>
          <a:xfrm>
            <a:off x="8749932" y="6455664"/>
            <a:ext cx="2875109" cy="219456"/>
          </a:xfrm>
          <a:prstGeom prst="rect">
            <a:avLst/>
          </a:prstGeom>
          <a:noFill/>
        </p:spPr>
        <p:txBody>
          <a:bodyPr wrap="square" lIns="0" rIns="0" tIns="0" bIns="0" anchor="t">
            <a:spAutoFit/>
          </a:bodyPr>
          <a:lstStyle/>
          <a:p>
            <a:pPr algn="r">
              <a:lnSpc>
                <a:spcPct val="124000"/>
              </a:lnSpc>
              <a:spcAft>
                <a:spcPts val="0"/>
              </a:spcAft>
            </a:pPr>
            <a:r>
              <a:rPr sz="850" b="0" i="0">
                <a:solidFill>
                  <a:srgbClr val="898781"/>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8113" cy="219456"/>
          </a:xfrm>
          <a:prstGeom prst="rect">
            <a:avLst/>
          </a:prstGeom>
          <a:noFill/>
        </p:spPr>
        <p:txBody>
          <a:bodyPr wrap="square" lIns="0" rIns="0" tIns="0" bIns="0" anchor="t">
            <a:spAutoFit/>
          </a:bodyPr>
          <a:lstStyle/>
          <a:p>
            <a:pPr algn="l">
              <a:lnSpc>
                <a:spcPct val="124000"/>
              </a:lnSpc>
              <a:spcAft>
                <a:spcPts val="0"/>
              </a:spcAft>
            </a:pPr>
            <a:r>
              <a:rPr sz="950" b="1" i="0">
                <a:solidFill>
                  <a:srgbClr val="2A78D6"/>
                </a:solidFill>
                <a:latin typeface="Segoe UI"/>
              </a:rPr>
              <a:t>EDA STEP 06</a:t>
            </a:r>
          </a:p>
        </p:txBody>
      </p:sp>
      <p:sp>
        <p:nvSpPr>
          <p:cNvPr id="3" name="TextBox 2"/>
          <p:cNvSpPr txBox="1"/>
          <p:nvPr/>
        </p:nvSpPr>
        <p:spPr>
          <a:xfrm>
            <a:off x="566928" y="603504"/>
            <a:ext cx="11058113" cy="475488"/>
          </a:xfrm>
          <a:prstGeom prst="rect">
            <a:avLst/>
          </a:prstGeom>
          <a:noFill/>
        </p:spPr>
        <p:txBody>
          <a:bodyPr wrap="square" lIns="0" rIns="0" tIns="0" bIns="0" anchor="t">
            <a:spAutoFit/>
          </a:bodyPr>
          <a:lstStyle/>
          <a:p>
            <a:pPr algn="l">
              <a:lnSpc>
                <a:spcPct val="124000"/>
              </a:lnSpc>
              <a:spcAft>
                <a:spcPts val="0"/>
              </a:spcAft>
            </a:pPr>
            <a:r>
              <a:rPr sz="2500" b="1" i="0">
                <a:solidFill>
                  <a:srgbClr val="0B0B0B"/>
                </a:solidFill>
                <a:latin typeface="Segoe UI"/>
              </a:rPr>
              <a:t>Step 06 · Finding how the data is distributed</a:t>
            </a:r>
          </a:p>
        </p:txBody>
      </p:sp>
      <p:sp>
        <p:nvSpPr>
          <p:cNvPr id="4" name="TextBox 3"/>
          <p:cNvSpPr txBox="1"/>
          <p:nvPr/>
        </p:nvSpPr>
        <p:spPr>
          <a:xfrm>
            <a:off x="566928" y="1106424"/>
            <a:ext cx="11058113" cy="274320"/>
          </a:xfrm>
          <a:prstGeom prst="rect">
            <a:avLst/>
          </a:prstGeom>
          <a:noFill/>
        </p:spPr>
        <p:txBody>
          <a:bodyPr wrap="square" lIns="0" rIns="0" tIns="0" bIns="0" anchor="t">
            <a:spAutoFit/>
          </a:bodyPr>
          <a:lstStyle/>
          <a:p>
            <a:pPr algn="l">
              <a:lnSpc>
                <a:spcPct val="124000"/>
              </a:lnSpc>
              <a:spcAft>
                <a:spcPts val="0"/>
              </a:spcAft>
            </a:pPr>
            <a:r>
              <a:rPr sz="1250" b="0" i="0">
                <a:solidFill>
                  <a:srgbClr val="52514E"/>
                </a:solidFill>
                <a:latin typeface="Segoe UI"/>
              </a:rPr>
              <a:t>Objective: profile the shape of every numeric feature before trusting any mean, correlation or bin edge drawn from it.</a:t>
            </a:r>
          </a:p>
        </p:txBody>
      </p:sp>
      <p:sp>
        <p:nvSpPr>
          <p:cNvPr id="5" name="Rectangle 4"/>
          <p:cNvSpPr/>
          <p:nvPr/>
        </p:nvSpPr>
        <p:spPr>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06_distribution_method.png"/>
          <p:cNvPicPr>
            <a:picLocks noChangeAspect="1"/>
          </p:cNvPicPr>
          <p:nvPr/>
        </p:nvPicPr>
        <p:blipFill>
          <a:blip r:embed="rId2"/>
          <a:stretch>
            <a:fillRect/>
          </a:stretch>
        </p:blipFill>
        <p:spPr>
          <a:xfrm>
            <a:off x="2542273" y="1655064"/>
            <a:ext cx="7107422" cy="1920240"/>
          </a:xfrm>
          <a:prstGeom prst="rect">
            <a:avLst/>
          </a:prstGeom>
        </p:spPr>
      </p:pic>
      <p:sp>
        <p:nvSpPr>
          <p:cNvPr id="7" name="TextBox 6"/>
          <p:cNvSpPr txBox="1"/>
          <p:nvPr/>
        </p:nvSpPr>
        <p:spPr>
          <a:xfrm>
            <a:off x="566928" y="3730752"/>
            <a:ext cx="5669280" cy="256032"/>
          </a:xfrm>
          <a:prstGeom prst="rect">
            <a:avLst/>
          </a:prstGeom>
          <a:noFill/>
        </p:spPr>
        <p:txBody>
          <a:bodyPr wrap="square" lIns="0" rIns="0" tIns="0" bIns="0" anchor="t">
            <a:spAutoFit/>
          </a:bodyPr>
          <a:lstStyle/>
          <a:p>
            <a:pPr algn="l">
              <a:lnSpc>
                <a:spcPct val="124000"/>
              </a:lnSpc>
              <a:spcAft>
                <a:spcPts val="0"/>
              </a:spcAft>
            </a:pPr>
            <a:r>
              <a:rPr sz="1250" b="1" i="0">
                <a:solidFill>
                  <a:srgbClr val="0B0B0B"/>
                </a:solidFill>
                <a:latin typeface="Segoe UI"/>
              </a:rPr>
              <a:t>Analysis performed</a:t>
            </a:r>
          </a:p>
        </p:txBody>
      </p:sp>
      <p:sp>
        <p:nvSpPr>
          <p:cNvPr id="8" name="TextBox 7"/>
          <p:cNvSpPr txBox="1"/>
          <p:nvPr/>
        </p:nvSpPr>
        <p:spPr>
          <a:xfrm>
            <a:off x="566928" y="4078224"/>
            <a:ext cx="5669280" cy="1737360"/>
          </a:xfrm>
          <a:prstGeom prst="rect">
            <a:avLst/>
          </a:prstGeom>
          <a:noFill/>
        </p:spPr>
        <p:txBody>
          <a:bodyPr wrap="square" lIns="0" rIns="0" tIns="0" bIns="0" anchor="t">
            <a:spAutoFit/>
          </a:bodyPr>
          <a:lstStyle/>
          <a:p>
            <a:pPr algn="l">
              <a:lnSpc>
                <a:spcPct val="122000"/>
              </a:lnSpc>
              <a:spcAft>
                <a:spcPts val="800"/>
              </a:spcAft>
            </a:pPr>
            <a:r>
              <a:rPr sz="1050" b="1" i="0">
                <a:solidFill>
                  <a:srgbClr val="2A78D6"/>
                </a:solidFill>
                <a:latin typeface="Segoe UI"/>
              </a:rPr>
              <a:t>•  </a:t>
            </a:r>
            <a:r>
              <a:rPr sz="1050" b="1" i="0">
                <a:solidFill>
                  <a:srgbClr val="0B0B0B"/>
                </a:solidFill>
                <a:latin typeface="Segoe UI"/>
              </a:rPr>
              <a:t>Coverage  </a:t>
            </a:r>
            <a:r>
              <a:rPr sz="1050" b="0" i="0">
                <a:solidFill>
                  <a:srgbClr val="52514E"/>
                </a:solidFill>
                <a:latin typeface="Segoe UI"/>
              </a:rPr>
              <a:t>All 26 numeric columns summarised, then 23 charted individually — the two constant columns and PerformanceRating were excluded as uninformative.</a:t>
            </a:r>
          </a:p>
          <a:p>
            <a:pPr algn="l">
              <a:lnSpc>
                <a:spcPct val="122000"/>
              </a:lnSpc>
              <a:spcAft>
                <a:spcPts val="800"/>
              </a:spcAft>
            </a:pPr>
            <a:r>
              <a:rPr sz="1050" b="1" i="0">
                <a:solidFill>
                  <a:srgbClr val="2A78D6"/>
                </a:solidFill>
                <a:latin typeface="Segoe UI"/>
              </a:rPr>
              <a:t>•  </a:t>
            </a:r>
            <a:r>
              <a:rPr sz="1050" b="1" i="0">
                <a:solidFill>
                  <a:srgbClr val="0B0B0B"/>
                </a:solidFill>
                <a:latin typeface="Segoe UI"/>
              </a:rPr>
              <a:t>Two treatments  </a:t>
            </a:r>
            <a:r>
              <a:rPr sz="1050" b="0" i="0">
                <a:solidFill>
                  <a:srgbClr val="52514E"/>
                </a:solidFill>
                <a:latin typeface="Segoe UI"/>
              </a:rPr>
              <a:t>Columns with more than ten distinct values were binned as histograms; columns with ten or fewer were drawn as value counts, so an ordinal scale is never smoothed into a curve it does not have.</a:t>
            </a:r>
          </a:p>
          <a:p>
            <a:pPr algn="l">
              <a:lnSpc>
                <a:spcPct val="122000"/>
              </a:lnSpc>
              <a:spcAft>
                <a:spcPts val="800"/>
              </a:spcAft>
            </a:pPr>
            <a:r>
              <a:rPr sz="1050" b="1" i="0">
                <a:solidFill>
                  <a:srgbClr val="2A78D6"/>
                </a:solidFill>
                <a:latin typeface="Segoe UI"/>
              </a:rPr>
              <a:t>•  </a:t>
            </a:r>
            <a:r>
              <a:rPr sz="1050" b="1" i="0">
                <a:solidFill>
                  <a:srgbClr val="0B0B0B"/>
                </a:solidFill>
                <a:latin typeface="Segoe UI"/>
              </a:rPr>
              <a:t>Paired boxplot  </a:t>
            </a:r>
            <a:r>
              <a:rPr sz="1050" b="0" i="0">
                <a:solidFill>
                  <a:srgbClr val="52514E"/>
                </a:solidFill>
                <a:latin typeface="Segoe UI"/>
              </a:rPr>
              <a:t>Every feature was shown with a boxplot beside its histogram, making the median, the spread and the tail visible in one read.</a:t>
            </a:r>
          </a:p>
        </p:txBody>
      </p:sp>
      <p:sp>
        <p:nvSpPr>
          <p:cNvPr id="9" name="Rectangle 8"/>
          <p:cNvSpPr/>
          <p:nvPr/>
        </p:nvSpPr>
        <p:spPr>
          <a:xfrm>
            <a:off x="6601968" y="3730752"/>
            <a:ext cx="5023073" cy="1060704"/>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601968" y="3730752"/>
            <a:ext cx="41148" cy="10607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821424" y="3867912"/>
            <a:ext cx="4620737" cy="219456"/>
          </a:xfrm>
          <a:prstGeom prst="rect">
            <a:avLst/>
          </a:prstGeom>
          <a:noFill/>
        </p:spPr>
        <p:txBody>
          <a:bodyPr wrap="square" lIns="0" rIns="0" tIns="0" bIns="0" anchor="t">
            <a:spAutoFit/>
          </a:bodyPr>
          <a:lstStyle/>
          <a:p>
            <a:pPr algn="l">
              <a:lnSpc>
                <a:spcPct val="124000"/>
              </a:lnSpc>
              <a:spcAft>
                <a:spcPts val="0"/>
              </a:spcAft>
            </a:pPr>
            <a:r>
              <a:rPr sz="850" b="1" i="0">
                <a:solidFill>
                  <a:srgbClr val="2A78D6"/>
                </a:solidFill>
                <a:latin typeface="Segoe UI"/>
              </a:rPr>
              <a:t>FINDING</a:t>
            </a:r>
          </a:p>
        </p:txBody>
      </p:sp>
      <p:sp>
        <p:nvSpPr>
          <p:cNvPr id="12" name="TextBox 11"/>
          <p:cNvSpPr txBox="1"/>
          <p:nvPr/>
        </p:nvSpPr>
        <p:spPr>
          <a:xfrm>
            <a:off x="6821424" y="4114800"/>
            <a:ext cx="4620737" cy="566927"/>
          </a:xfrm>
          <a:prstGeom prst="rect">
            <a:avLst/>
          </a:prstGeom>
          <a:noFill/>
        </p:spPr>
        <p:txBody>
          <a:bodyPr wrap="square" lIns="0" rIns="0" tIns="0" bIns="0" anchor="t">
            <a:spAutoFit/>
          </a:bodyPr>
          <a:lstStyle/>
          <a:p>
            <a:pPr algn="l">
              <a:lnSpc>
                <a:spcPct val="126000"/>
              </a:lnSpc>
              <a:spcAft>
                <a:spcPts val="0"/>
              </a:spcAft>
            </a:pPr>
            <a:r>
              <a:rPr sz="1150" b="0" i="0">
                <a:solidFill>
                  <a:srgbClr val="0B0B0B"/>
                </a:solidFill>
                <a:latin typeface="Segoe UI"/>
              </a:rPr>
              <a:t>The pay, tenure and experience variables are all right-skewed with long upper tails, while the survey scales are discrete and clustered around their midpoints.</a:t>
            </a:r>
          </a:p>
        </p:txBody>
      </p:sp>
      <p:sp>
        <p:nvSpPr>
          <p:cNvPr id="13" name="Rectangle 12"/>
          <p:cNvSpPr/>
          <p:nvPr/>
        </p:nvSpPr>
        <p:spPr>
          <a:xfrm>
            <a:off x="6601968" y="4901184"/>
            <a:ext cx="5023073" cy="1188720"/>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601968" y="4901184"/>
            <a:ext cx="41148" cy="118872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821424" y="5038344"/>
            <a:ext cx="4620737" cy="219456"/>
          </a:xfrm>
          <a:prstGeom prst="rect">
            <a:avLst/>
          </a:prstGeom>
          <a:noFill/>
        </p:spPr>
        <p:txBody>
          <a:bodyPr wrap="square" lIns="0" rIns="0" tIns="0" bIns="0" anchor="t">
            <a:spAutoFit/>
          </a:bodyPr>
          <a:lstStyle/>
          <a:p>
            <a:pPr algn="l">
              <a:lnSpc>
                <a:spcPct val="124000"/>
              </a:lnSpc>
              <a:spcAft>
                <a:spcPts val="0"/>
              </a:spcAft>
            </a:pPr>
            <a:r>
              <a:rPr sz="850" b="1" i="0">
                <a:solidFill>
                  <a:srgbClr val="E34948"/>
                </a:solidFill>
                <a:latin typeface="Segoe UI"/>
              </a:rPr>
              <a:t>INTERPRETATION</a:t>
            </a:r>
          </a:p>
        </p:txBody>
      </p:sp>
      <p:sp>
        <p:nvSpPr>
          <p:cNvPr id="16" name="TextBox 15"/>
          <p:cNvSpPr txBox="1"/>
          <p:nvPr/>
        </p:nvSpPr>
        <p:spPr>
          <a:xfrm>
            <a:off x="6821424" y="5285232"/>
            <a:ext cx="4620737" cy="694944"/>
          </a:xfrm>
          <a:prstGeom prst="rect">
            <a:avLst/>
          </a:prstGeom>
          <a:noFill/>
        </p:spPr>
        <p:txBody>
          <a:bodyPr wrap="square" lIns="0" rIns="0" tIns="0" bIns="0" anchor="t">
            <a:spAutoFit/>
          </a:bodyPr>
          <a:lstStyle/>
          <a:p>
            <a:pPr algn="l">
              <a:lnSpc>
                <a:spcPct val="126000"/>
              </a:lnSpc>
              <a:spcAft>
                <a:spcPts val="0"/>
              </a:spcAft>
            </a:pPr>
            <a:r>
              <a:rPr sz="1150" b="0" i="0">
                <a:solidFill>
                  <a:srgbClr val="0B0B0B"/>
                </a:solidFill>
                <a:latin typeface="Segoe UI"/>
              </a:rPr>
              <a:t>Skew has consequences downstream: it is why the median is the honest summary for income and tenure, why the IQR rule in step 07 flags so many high earners, and why the analysis compares grouped bands rather than group means.</a:t>
            </a:r>
          </a:p>
        </p:txBody>
      </p:sp>
      <p:sp>
        <p:nvSpPr>
          <p:cNvPr id="17" name="Rectangle 16"/>
          <p:cNvSpPr/>
          <p:nvPr/>
        </p:nvSpPr>
        <p:spPr>
          <a:xfrm>
            <a:off x="566928" y="5230368"/>
            <a:ext cx="11058113" cy="87782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66928" y="5230368"/>
            <a:ext cx="41148" cy="877824"/>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86384" y="5367528"/>
            <a:ext cx="10655777" cy="219456"/>
          </a:xfrm>
          <a:prstGeom prst="rect">
            <a:avLst/>
          </a:prstGeom>
          <a:noFill/>
        </p:spPr>
        <p:txBody>
          <a:bodyPr wrap="square" lIns="0" rIns="0" tIns="0" bIns="0" anchor="t">
            <a:spAutoFit/>
          </a:bodyPr>
          <a:lstStyle/>
          <a:p>
            <a:pPr algn="l">
              <a:lnSpc>
                <a:spcPct val="124000"/>
              </a:lnSpc>
              <a:spcAft>
                <a:spcPts val="0"/>
              </a:spcAft>
            </a:pPr>
            <a:r>
              <a:rPr sz="850" b="1" i="0">
                <a:solidFill>
                  <a:srgbClr val="898781"/>
                </a:solidFill>
                <a:latin typeface="Segoe UI"/>
              </a:rPr>
              <a:t>CONCLUSION</a:t>
            </a:r>
          </a:p>
        </p:txBody>
      </p:sp>
      <p:sp>
        <p:nvSpPr>
          <p:cNvPr id="20" name="TextBox 19"/>
          <p:cNvSpPr txBox="1"/>
          <p:nvPr/>
        </p:nvSpPr>
        <p:spPr>
          <a:xfrm>
            <a:off x="786384" y="5614416"/>
            <a:ext cx="10655777" cy="384047"/>
          </a:xfrm>
          <a:prstGeom prst="rect">
            <a:avLst/>
          </a:prstGeom>
          <a:noFill/>
        </p:spPr>
        <p:txBody>
          <a:bodyPr wrap="square" lIns="0" rIns="0" tIns="0" bIns="0" anchor="t">
            <a:spAutoFit/>
          </a:bodyPr>
          <a:lstStyle/>
          <a:p>
            <a:pPr algn="l">
              <a:lnSpc>
                <a:spcPct val="126000"/>
              </a:lnSpc>
              <a:spcAft>
                <a:spcPts val="0"/>
              </a:spcAft>
            </a:pPr>
            <a:r>
              <a:rPr sz="1150" b="0" i="0">
                <a:solidFill>
                  <a:srgbClr val="0B0B0B"/>
                </a:solidFill>
                <a:latin typeface="Segoe UI"/>
              </a:rPr>
              <a:t>Profiling the shape first is what justifies the choices made later — banded comparisons, median-based summaries, and an outlier review that asks whether a flagged value is wrong rather than merely large.</a:t>
            </a:r>
          </a:p>
        </p:txBody>
      </p:sp>
      <p:sp>
        <p:nvSpPr>
          <p:cNvPr id="21" name="Rectangle 20"/>
          <p:cNvSpPr/>
          <p:nvPr/>
        </p:nvSpPr>
        <p:spPr>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66928" y="6455664"/>
            <a:ext cx="7961841" cy="219456"/>
          </a:xfrm>
          <a:prstGeom prst="rect">
            <a:avLst/>
          </a:prstGeom>
          <a:noFill/>
        </p:spPr>
        <p:txBody>
          <a:bodyPr wrap="square" lIns="0" rIns="0" tIns="0" bIns="0" anchor="t">
            <a:spAutoFit/>
          </a:bodyPr>
          <a:lstStyle/>
          <a:p>
            <a:pPr algn="l">
              <a:lnSpc>
                <a:spcPct val="124000"/>
              </a:lnSpc>
              <a:spcAft>
                <a:spcPts val="0"/>
              </a:spcAft>
            </a:pPr>
            <a:r>
              <a:rPr sz="850" b="0" i="0">
                <a:solidFill>
                  <a:srgbClr val="898781"/>
                </a:solidFill>
                <a:latin typeface="Segoe UI"/>
              </a:rPr>
              <a:t>notebooks/06-finding-how-data-distributed.ipynb</a:t>
            </a:r>
          </a:p>
        </p:txBody>
      </p:sp>
      <p:sp>
        <p:nvSpPr>
          <p:cNvPr id="23" name="TextBox 22"/>
          <p:cNvSpPr txBox="1"/>
          <p:nvPr/>
        </p:nvSpPr>
        <p:spPr>
          <a:xfrm>
            <a:off x="8749932" y="6455664"/>
            <a:ext cx="2875109" cy="219456"/>
          </a:xfrm>
          <a:prstGeom prst="rect">
            <a:avLst/>
          </a:prstGeom>
          <a:noFill/>
        </p:spPr>
        <p:txBody>
          <a:bodyPr wrap="square" lIns="0" rIns="0" tIns="0" bIns="0" anchor="t">
            <a:spAutoFit/>
          </a:bodyPr>
          <a:lstStyle/>
          <a:p>
            <a:pPr algn="r">
              <a:lnSpc>
                <a:spcPct val="124000"/>
              </a:lnSpc>
              <a:spcAft>
                <a:spcPts val="0"/>
              </a:spcAft>
            </a:pPr>
            <a:r>
              <a:rPr sz="850" b="0" i="0">
                <a:solidFill>
                  <a:srgbClr val="898781"/>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8113" cy="219456"/>
          </a:xfrm>
          <a:prstGeom prst="rect">
            <a:avLst/>
          </a:prstGeom>
          <a:noFill/>
        </p:spPr>
        <p:txBody>
          <a:bodyPr wrap="square" lIns="0" rIns="0" tIns="0" bIns="0" anchor="t">
            <a:spAutoFit/>
          </a:bodyPr>
          <a:lstStyle/>
          <a:p>
            <a:pPr algn="l">
              <a:lnSpc>
                <a:spcPct val="124000"/>
              </a:lnSpc>
              <a:spcAft>
                <a:spcPts val="0"/>
              </a:spcAft>
            </a:pPr>
            <a:r>
              <a:rPr sz="950" b="1" i="0">
                <a:solidFill>
                  <a:srgbClr val="2A78D6"/>
                </a:solidFill>
                <a:latin typeface="Segoe UI"/>
              </a:rPr>
              <a:t>EDA STEP 07</a:t>
            </a:r>
          </a:p>
        </p:txBody>
      </p:sp>
      <p:sp>
        <p:nvSpPr>
          <p:cNvPr id="3" name="TextBox 2"/>
          <p:cNvSpPr txBox="1"/>
          <p:nvPr/>
        </p:nvSpPr>
        <p:spPr>
          <a:xfrm>
            <a:off x="566928" y="603504"/>
            <a:ext cx="11058113" cy="475488"/>
          </a:xfrm>
          <a:prstGeom prst="rect">
            <a:avLst/>
          </a:prstGeom>
          <a:noFill/>
        </p:spPr>
        <p:txBody>
          <a:bodyPr wrap="square" lIns="0" rIns="0" tIns="0" bIns="0" anchor="t">
            <a:spAutoFit/>
          </a:bodyPr>
          <a:lstStyle/>
          <a:p>
            <a:pPr algn="l">
              <a:lnSpc>
                <a:spcPct val="124000"/>
              </a:lnSpc>
              <a:spcAft>
                <a:spcPts val="0"/>
              </a:spcAft>
            </a:pPr>
            <a:r>
              <a:rPr sz="2500" b="1" i="0">
                <a:solidFill>
                  <a:srgbClr val="0B0B0B"/>
                </a:solidFill>
                <a:latin typeface="Segoe UI"/>
              </a:rPr>
              <a:t>Step 07 · Finding outliers</a:t>
            </a:r>
          </a:p>
        </p:txBody>
      </p:sp>
      <p:sp>
        <p:nvSpPr>
          <p:cNvPr id="4" name="TextBox 3"/>
          <p:cNvSpPr txBox="1"/>
          <p:nvPr/>
        </p:nvSpPr>
        <p:spPr>
          <a:xfrm>
            <a:off x="566928" y="1106424"/>
            <a:ext cx="11058113" cy="274320"/>
          </a:xfrm>
          <a:prstGeom prst="rect">
            <a:avLst/>
          </a:prstGeom>
          <a:noFill/>
        </p:spPr>
        <p:txBody>
          <a:bodyPr wrap="square" lIns="0" rIns="0" tIns="0" bIns="0" anchor="t">
            <a:spAutoFit/>
          </a:bodyPr>
          <a:lstStyle/>
          <a:p>
            <a:pPr algn="l">
              <a:lnSpc>
                <a:spcPct val="124000"/>
              </a:lnSpc>
              <a:spcAft>
                <a:spcPts val="0"/>
              </a:spcAft>
            </a:pPr>
            <a:r>
              <a:rPr sz="1250" b="0" i="0">
                <a:solidFill>
                  <a:srgbClr val="52514E"/>
                </a:solidFill>
                <a:latin typeface="Segoe UI"/>
              </a:rPr>
              <a:t>Objective: identify unusually high or low values with the IQR rule, then decide whether each is a data error or a real employee.</a:t>
            </a:r>
          </a:p>
        </p:txBody>
      </p:sp>
      <p:sp>
        <p:nvSpPr>
          <p:cNvPr id="5" name="Rectangle 4"/>
          <p:cNvSpPr/>
          <p:nvPr/>
        </p:nvSpPr>
        <p:spPr>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07_outliers.png"/>
          <p:cNvPicPr>
            <a:picLocks noChangeAspect="1"/>
          </p:cNvPicPr>
          <p:nvPr/>
        </p:nvPicPr>
        <p:blipFill>
          <a:blip r:embed="rId2"/>
          <a:stretch>
            <a:fillRect/>
          </a:stretch>
        </p:blipFill>
        <p:spPr>
          <a:xfrm>
            <a:off x="1048438" y="1655064"/>
            <a:ext cx="5300618" cy="3154680"/>
          </a:xfrm>
          <a:prstGeom prst="rect">
            <a:avLst/>
          </a:prstGeom>
        </p:spPr>
      </p:pic>
      <p:sp>
        <p:nvSpPr>
          <p:cNvPr id="7" name="TextBox 6"/>
          <p:cNvSpPr txBox="1"/>
          <p:nvPr/>
        </p:nvSpPr>
        <p:spPr>
          <a:xfrm>
            <a:off x="7013448" y="1700784"/>
            <a:ext cx="4611593" cy="256032"/>
          </a:xfrm>
          <a:prstGeom prst="rect">
            <a:avLst/>
          </a:prstGeom>
          <a:noFill/>
        </p:spPr>
        <p:txBody>
          <a:bodyPr wrap="square" lIns="0" rIns="0" tIns="0" bIns="0" anchor="t">
            <a:spAutoFit/>
          </a:bodyPr>
          <a:lstStyle/>
          <a:p>
            <a:pPr algn="l">
              <a:lnSpc>
                <a:spcPct val="124000"/>
              </a:lnSpc>
              <a:spcAft>
                <a:spcPts val="0"/>
              </a:spcAft>
            </a:pPr>
            <a:r>
              <a:rPr sz="1250" b="1" i="0">
                <a:solidFill>
                  <a:srgbClr val="0B0B0B"/>
                </a:solidFill>
                <a:latin typeface="Segoe UI"/>
              </a:rPr>
              <a:t>Analysis performed</a:t>
            </a:r>
          </a:p>
        </p:txBody>
      </p:sp>
      <p:sp>
        <p:nvSpPr>
          <p:cNvPr id="8" name="TextBox 7"/>
          <p:cNvSpPr txBox="1"/>
          <p:nvPr/>
        </p:nvSpPr>
        <p:spPr>
          <a:xfrm>
            <a:off x="7013448" y="2048256"/>
            <a:ext cx="4611593" cy="1828800"/>
          </a:xfrm>
          <a:prstGeom prst="rect">
            <a:avLst/>
          </a:prstGeom>
          <a:noFill/>
        </p:spPr>
        <p:txBody>
          <a:bodyPr wrap="square" lIns="0" rIns="0" tIns="0" bIns="0" anchor="t">
            <a:spAutoFit/>
          </a:bodyPr>
          <a:lstStyle/>
          <a:p>
            <a:pPr algn="l">
              <a:lnSpc>
                <a:spcPct val="122000"/>
              </a:lnSpc>
              <a:spcAft>
                <a:spcPts val="800"/>
              </a:spcAft>
            </a:pPr>
            <a:r>
              <a:rPr sz="1050" b="1" i="0">
                <a:solidFill>
                  <a:srgbClr val="2A78D6"/>
                </a:solidFill>
                <a:latin typeface="Segoe UI"/>
              </a:rPr>
              <a:t>•  </a:t>
            </a:r>
            <a:r>
              <a:rPr sz="1050" b="1" i="0">
                <a:solidFill>
                  <a:srgbClr val="0B0B0B"/>
                </a:solidFill>
                <a:latin typeface="Segoe UI"/>
              </a:rPr>
              <a:t>Scope  </a:t>
            </a:r>
            <a:r>
              <a:rPr sz="1050" b="0" i="0">
                <a:solidFill>
                  <a:srgbClr val="52514E"/>
                </a:solidFill>
                <a:latin typeface="Segoe UI"/>
              </a:rPr>
              <a:t>Fourteen genuinely continuous columns. Identifiers, constant columns and rating scales such as JobLevel and JobSatisfaction were excluded — a category code has no meaningful upper fence.</a:t>
            </a:r>
          </a:p>
          <a:p>
            <a:pPr algn="l">
              <a:lnSpc>
                <a:spcPct val="122000"/>
              </a:lnSpc>
              <a:spcAft>
                <a:spcPts val="800"/>
              </a:spcAft>
            </a:pPr>
            <a:r>
              <a:rPr sz="1050" b="1" i="0">
                <a:solidFill>
                  <a:srgbClr val="2A78D6"/>
                </a:solidFill>
                <a:latin typeface="Segoe UI"/>
              </a:rPr>
              <a:t>•  </a:t>
            </a:r>
            <a:r>
              <a:rPr sz="1050" b="1" i="0">
                <a:solidFill>
                  <a:srgbClr val="0B0B0B"/>
                </a:solidFill>
                <a:latin typeface="Segoe UI"/>
              </a:rPr>
              <a:t>Rule  </a:t>
            </a:r>
            <a:r>
              <a:rPr sz="1050" b="0" i="0">
                <a:solidFill>
                  <a:srgbClr val="52514E"/>
                </a:solidFill>
                <a:latin typeface="Segoe UI"/>
              </a:rPr>
              <a:t>Values below Q1 − 1.5×IQR or above Q3 + 1.5×IQR were flagged.</a:t>
            </a:r>
          </a:p>
          <a:p>
            <a:pPr algn="l">
              <a:lnSpc>
                <a:spcPct val="122000"/>
              </a:lnSpc>
              <a:spcAft>
                <a:spcPts val="800"/>
              </a:spcAft>
            </a:pPr>
            <a:r>
              <a:rPr sz="1050" b="1" i="0">
                <a:solidFill>
                  <a:srgbClr val="2A78D6"/>
                </a:solidFill>
                <a:latin typeface="Segoe UI"/>
              </a:rPr>
              <a:t>•  </a:t>
            </a:r>
            <a:r>
              <a:rPr sz="1050" b="1" i="0">
                <a:solidFill>
                  <a:srgbClr val="0B0B0B"/>
                </a:solidFill>
                <a:latin typeface="Segoe UI"/>
              </a:rPr>
              <a:t>Review  </a:t>
            </a:r>
            <a:r>
              <a:rPr sz="1050" b="0" i="0">
                <a:solidFill>
                  <a:srgbClr val="52514E"/>
                </a:solidFill>
                <a:latin typeface="Segoe UI"/>
              </a:rPr>
              <a:t>The 114 MonthlyIncome flags were inspected individually against job level, role and total experience.</a:t>
            </a:r>
          </a:p>
        </p:txBody>
      </p:sp>
      <p:sp>
        <p:nvSpPr>
          <p:cNvPr id="9" name="Rectangle 8"/>
          <p:cNvSpPr/>
          <p:nvPr/>
        </p:nvSpPr>
        <p:spPr>
          <a:xfrm>
            <a:off x="7013448" y="3913632"/>
            <a:ext cx="4611593" cy="91440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13448" y="3913632"/>
            <a:ext cx="41148" cy="9144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32904" y="4050792"/>
            <a:ext cx="4209257" cy="219456"/>
          </a:xfrm>
          <a:prstGeom prst="rect">
            <a:avLst/>
          </a:prstGeom>
          <a:noFill/>
        </p:spPr>
        <p:txBody>
          <a:bodyPr wrap="square" lIns="0" rIns="0" tIns="0" bIns="0" anchor="t">
            <a:spAutoFit/>
          </a:bodyPr>
          <a:lstStyle/>
          <a:p>
            <a:pPr algn="l">
              <a:lnSpc>
                <a:spcPct val="124000"/>
              </a:lnSpc>
              <a:spcAft>
                <a:spcPts val="0"/>
              </a:spcAft>
            </a:pPr>
            <a:r>
              <a:rPr sz="850" b="1" i="0">
                <a:solidFill>
                  <a:srgbClr val="2A78D6"/>
                </a:solidFill>
                <a:latin typeface="Segoe UI"/>
              </a:rPr>
              <a:t>FINDING</a:t>
            </a:r>
          </a:p>
        </p:txBody>
      </p:sp>
      <p:sp>
        <p:nvSpPr>
          <p:cNvPr id="12" name="TextBox 11"/>
          <p:cNvSpPr txBox="1"/>
          <p:nvPr/>
        </p:nvSpPr>
        <p:spPr>
          <a:xfrm>
            <a:off x="7232904" y="4297680"/>
            <a:ext cx="4209257" cy="420623"/>
          </a:xfrm>
          <a:prstGeom prst="rect">
            <a:avLst/>
          </a:prstGeom>
          <a:noFill/>
        </p:spPr>
        <p:txBody>
          <a:bodyPr wrap="square" lIns="0" rIns="0" tIns="0" bIns="0" anchor="t">
            <a:spAutoFit/>
          </a:bodyPr>
          <a:lstStyle/>
          <a:p>
            <a:pPr algn="l">
              <a:lnSpc>
                <a:spcPct val="126000"/>
              </a:lnSpc>
              <a:spcAft>
                <a:spcPts val="0"/>
              </a:spcAft>
            </a:pPr>
            <a:r>
              <a:rPr sz="1150" b="0" i="0">
                <a:solidFill>
                  <a:srgbClr val="0B0B0B"/>
                </a:solidFill>
                <a:latin typeface="Segoe UI"/>
              </a:rPr>
              <a:t>Eight of the 14 columns carry flagged values. All 114 MonthlyIncome flags exceed the $16,581 upper fence — every one is a level 4 or 5 Manager or Research Director with 21 to 35 years of experience.</a:t>
            </a:r>
          </a:p>
        </p:txBody>
      </p:sp>
      <p:sp>
        <p:nvSpPr>
          <p:cNvPr id="13" name="Rectangle 12"/>
          <p:cNvSpPr/>
          <p:nvPr/>
        </p:nvSpPr>
        <p:spPr>
          <a:xfrm>
            <a:off x="566928" y="4882896"/>
            <a:ext cx="5401040" cy="1261872"/>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4882896"/>
            <a:ext cx="41148" cy="1261872"/>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86384" y="5020056"/>
            <a:ext cx="4998704" cy="219456"/>
          </a:xfrm>
          <a:prstGeom prst="rect">
            <a:avLst/>
          </a:prstGeom>
          <a:noFill/>
        </p:spPr>
        <p:txBody>
          <a:bodyPr wrap="square" lIns="0" rIns="0" tIns="0" bIns="0" anchor="t">
            <a:spAutoFit/>
          </a:bodyPr>
          <a:lstStyle/>
          <a:p>
            <a:pPr algn="l">
              <a:lnSpc>
                <a:spcPct val="124000"/>
              </a:lnSpc>
              <a:spcAft>
                <a:spcPts val="0"/>
              </a:spcAft>
            </a:pPr>
            <a:r>
              <a:rPr sz="850" b="1" i="0">
                <a:solidFill>
                  <a:srgbClr val="E34948"/>
                </a:solidFill>
                <a:latin typeface="Segoe UI"/>
              </a:rPr>
              <a:t>INTERPRETATION</a:t>
            </a:r>
          </a:p>
        </p:txBody>
      </p:sp>
      <p:sp>
        <p:nvSpPr>
          <p:cNvPr id="16" name="TextBox 15"/>
          <p:cNvSpPr txBox="1"/>
          <p:nvPr/>
        </p:nvSpPr>
        <p:spPr>
          <a:xfrm>
            <a:off x="786384" y="5266944"/>
            <a:ext cx="4998704" cy="768095"/>
          </a:xfrm>
          <a:prstGeom prst="rect">
            <a:avLst/>
          </a:prstGeom>
          <a:noFill/>
        </p:spPr>
        <p:txBody>
          <a:bodyPr wrap="square" lIns="0" rIns="0" tIns="0" bIns="0" anchor="t">
            <a:spAutoFit/>
          </a:bodyPr>
          <a:lstStyle/>
          <a:p>
            <a:pPr algn="l">
              <a:lnSpc>
                <a:spcPct val="126000"/>
              </a:lnSpc>
              <a:spcAft>
                <a:spcPts val="0"/>
              </a:spcAft>
            </a:pPr>
            <a:r>
              <a:rPr sz="1150" b="0" i="0">
                <a:solidFill>
                  <a:srgbClr val="0B0B0B"/>
                </a:solidFill>
                <a:latin typeface="Segoe UI"/>
              </a:rPr>
              <a:t>These are not errors, they are the senior tail of a right-skewed pay distribution. TrainingTimesLastYear is flagged at 16.19% for a different reason: it takes only seven values with a one-unit IQR, so the fence sits at 4.5 and any employee with five or six sessions falls outside it.</a:t>
            </a:r>
          </a:p>
        </p:txBody>
      </p:sp>
      <p:sp>
        <p:nvSpPr>
          <p:cNvPr id="17" name="Rectangle 16"/>
          <p:cNvSpPr/>
          <p:nvPr/>
        </p:nvSpPr>
        <p:spPr>
          <a:xfrm>
            <a:off x="6224000" y="4882896"/>
            <a:ext cx="5401040" cy="1261872"/>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224000" y="4882896"/>
            <a:ext cx="41148" cy="1261872"/>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443456" y="5020056"/>
            <a:ext cx="4998704" cy="219456"/>
          </a:xfrm>
          <a:prstGeom prst="rect">
            <a:avLst/>
          </a:prstGeom>
          <a:noFill/>
        </p:spPr>
        <p:txBody>
          <a:bodyPr wrap="square" lIns="0" rIns="0" tIns="0" bIns="0" anchor="t">
            <a:spAutoFit/>
          </a:bodyPr>
          <a:lstStyle/>
          <a:p>
            <a:pPr algn="l">
              <a:lnSpc>
                <a:spcPct val="124000"/>
              </a:lnSpc>
              <a:spcAft>
                <a:spcPts val="0"/>
              </a:spcAft>
            </a:pPr>
            <a:r>
              <a:rPr sz="850" b="1" i="0">
                <a:solidFill>
                  <a:srgbClr val="898781"/>
                </a:solidFill>
                <a:latin typeface="Segoe UI"/>
              </a:rPr>
              <a:t>CONCLUSION</a:t>
            </a:r>
          </a:p>
        </p:txBody>
      </p:sp>
      <p:sp>
        <p:nvSpPr>
          <p:cNvPr id="20" name="TextBox 19"/>
          <p:cNvSpPr txBox="1"/>
          <p:nvPr/>
        </p:nvSpPr>
        <p:spPr>
          <a:xfrm>
            <a:off x="6443456" y="5266944"/>
            <a:ext cx="4998704" cy="768095"/>
          </a:xfrm>
          <a:prstGeom prst="rect">
            <a:avLst/>
          </a:prstGeom>
          <a:noFill/>
        </p:spPr>
        <p:txBody>
          <a:bodyPr wrap="square" lIns="0" rIns="0" tIns="0" bIns="0" anchor="t">
            <a:spAutoFit/>
          </a:bodyPr>
          <a:lstStyle/>
          <a:p>
            <a:pPr algn="l">
              <a:lnSpc>
                <a:spcPct val="126000"/>
              </a:lnSpc>
              <a:spcAft>
                <a:spcPts val="0"/>
              </a:spcAft>
            </a:pPr>
            <a:r>
              <a:rPr sz="1150" b="0" i="0">
                <a:solidFill>
                  <a:srgbClr val="0B0B0B"/>
                </a:solidFill>
                <a:latin typeface="Segoe UI"/>
              </a:rPr>
              <a:t>All flagged values were retained. Removing them would delete exactly the senior, long-tenured, well-paid employees whose low attrition rates are central to the analysis — and would bias the results rather than clean them.</a:t>
            </a:r>
          </a:p>
        </p:txBody>
      </p:sp>
      <p:sp>
        <p:nvSpPr>
          <p:cNvPr id="21" name="Rectangle 20"/>
          <p:cNvSpPr/>
          <p:nvPr/>
        </p:nvSpPr>
        <p:spPr>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66928" y="6455664"/>
            <a:ext cx="7961841" cy="219456"/>
          </a:xfrm>
          <a:prstGeom prst="rect">
            <a:avLst/>
          </a:prstGeom>
          <a:noFill/>
        </p:spPr>
        <p:txBody>
          <a:bodyPr wrap="square" lIns="0" rIns="0" tIns="0" bIns="0" anchor="t">
            <a:spAutoFit/>
          </a:bodyPr>
          <a:lstStyle/>
          <a:p>
            <a:pPr algn="l">
              <a:lnSpc>
                <a:spcPct val="124000"/>
              </a:lnSpc>
              <a:spcAft>
                <a:spcPts val="0"/>
              </a:spcAft>
            </a:pPr>
            <a:r>
              <a:rPr sz="850" b="0" i="0">
                <a:solidFill>
                  <a:srgbClr val="898781"/>
                </a:solidFill>
                <a:latin typeface="Segoe UI"/>
              </a:rPr>
              <a:t>notebooks/07-finding-outliers.ipynb</a:t>
            </a:r>
          </a:p>
        </p:txBody>
      </p:sp>
      <p:sp>
        <p:nvSpPr>
          <p:cNvPr id="23" name="TextBox 22"/>
          <p:cNvSpPr txBox="1"/>
          <p:nvPr/>
        </p:nvSpPr>
        <p:spPr>
          <a:xfrm>
            <a:off x="8749932" y="6455664"/>
            <a:ext cx="2875109" cy="219456"/>
          </a:xfrm>
          <a:prstGeom prst="rect">
            <a:avLst/>
          </a:prstGeom>
          <a:noFill/>
        </p:spPr>
        <p:txBody>
          <a:bodyPr wrap="square" lIns="0" rIns="0" tIns="0" bIns="0" anchor="t">
            <a:spAutoFit/>
          </a:bodyPr>
          <a:lstStyle/>
          <a:p>
            <a:pPr algn="r">
              <a:lnSpc>
                <a:spcPct val="124000"/>
              </a:lnSpc>
              <a:spcAft>
                <a:spcPts val="0"/>
              </a:spcAft>
            </a:pPr>
            <a:r>
              <a:rPr sz="850" b="0" i="0">
                <a:solidFill>
                  <a:srgbClr val="898781"/>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8113" cy="219456"/>
          </a:xfrm>
          <a:prstGeom prst="rect">
            <a:avLst/>
          </a:prstGeom>
          <a:noFill/>
        </p:spPr>
        <p:txBody>
          <a:bodyPr wrap="square" lIns="0" rIns="0" tIns="0" bIns="0" anchor="t">
            <a:spAutoFit/>
          </a:bodyPr>
          <a:lstStyle/>
          <a:p>
            <a:pPr algn="l">
              <a:lnSpc>
                <a:spcPct val="124000"/>
              </a:lnSpc>
              <a:spcAft>
                <a:spcPts val="0"/>
              </a:spcAft>
            </a:pPr>
            <a:r>
              <a:rPr sz="950" b="1" i="0">
                <a:solidFill>
                  <a:srgbClr val="2A78D6"/>
                </a:solidFill>
                <a:latin typeface="Segoe UI"/>
              </a:rPr>
              <a:t>EDA STEP 08</a:t>
            </a:r>
          </a:p>
        </p:txBody>
      </p:sp>
      <p:sp>
        <p:nvSpPr>
          <p:cNvPr id="3" name="TextBox 2"/>
          <p:cNvSpPr txBox="1"/>
          <p:nvPr/>
        </p:nvSpPr>
        <p:spPr>
          <a:xfrm>
            <a:off x="566928" y="603504"/>
            <a:ext cx="11058113" cy="475488"/>
          </a:xfrm>
          <a:prstGeom prst="rect">
            <a:avLst/>
          </a:prstGeom>
          <a:noFill/>
        </p:spPr>
        <p:txBody>
          <a:bodyPr wrap="square" lIns="0" rIns="0" tIns="0" bIns="0" anchor="t">
            <a:spAutoFit/>
          </a:bodyPr>
          <a:lstStyle/>
          <a:p>
            <a:pPr algn="l">
              <a:lnSpc>
                <a:spcPct val="124000"/>
              </a:lnSpc>
              <a:spcAft>
                <a:spcPts val="0"/>
              </a:spcAft>
            </a:pPr>
            <a:r>
              <a:rPr sz="2500" b="1" i="0">
                <a:solidFill>
                  <a:srgbClr val="0B0B0B"/>
                </a:solidFill>
                <a:latin typeface="Segoe UI"/>
              </a:rPr>
              <a:t>Step 08 · Finding correlation</a:t>
            </a:r>
          </a:p>
        </p:txBody>
      </p:sp>
      <p:sp>
        <p:nvSpPr>
          <p:cNvPr id="4" name="TextBox 3"/>
          <p:cNvSpPr txBox="1"/>
          <p:nvPr/>
        </p:nvSpPr>
        <p:spPr>
          <a:xfrm>
            <a:off x="566928" y="1106424"/>
            <a:ext cx="11058113" cy="274320"/>
          </a:xfrm>
          <a:prstGeom prst="rect">
            <a:avLst/>
          </a:prstGeom>
          <a:noFill/>
        </p:spPr>
        <p:txBody>
          <a:bodyPr wrap="square" lIns="0" rIns="0" tIns="0" bIns="0" anchor="t">
            <a:spAutoFit/>
          </a:bodyPr>
          <a:lstStyle/>
          <a:p>
            <a:pPr algn="l">
              <a:lnSpc>
                <a:spcPct val="124000"/>
              </a:lnSpc>
              <a:spcAft>
                <a:spcPts val="0"/>
              </a:spcAft>
            </a:pPr>
            <a:r>
              <a:rPr sz="1250" b="0" i="0">
                <a:solidFill>
                  <a:srgbClr val="52514E"/>
                </a:solidFill>
                <a:latin typeface="Segoe UI"/>
              </a:rPr>
              <a:t>Objective: screen every variable at once — both as grouped attrition rates and as a direct correlation with leaving.</a:t>
            </a:r>
          </a:p>
        </p:txBody>
      </p:sp>
      <p:sp>
        <p:nvSpPr>
          <p:cNvPr id="5" name="Rectangle 4"/>
          <p:cNvSpPr/>
          <p:nvPr/>
        </p:nvSpPr>
        <p:spPr>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08_group_gaps.png"/>
          <p:cNvPicPr>
            <a:picLocks noChangeAspect="1"/>
          </p:cNvPicPr>
          <p:nvPr/>
        </p:nvPicPr>
        <p:blipFill>
          <a:blip r:embed="rId2"/>
          <a:stretch>
            <a:fillRect/>
          </a:stretch>
        </p:blipFill>
        <p:spPr>
          <a:xfrm>
            <a:off x="573431" y="1627632"/>
            <a:ext cx="6479232" cy="3310128"/>
          </a:xfrm>
          <a:prstGeom prst="rect">
            <a:avLst/>
          </a:prstGeom>
        </p:spPr>
      </p:pic>
      <p:pic>
        <p:nvPicPr>
          <p:cNvPr id="7" name="Picture 6" descr="08_correlations.png"/>
          <p:cNvPicPr>
            <a:picLocks noChangeAspect="1"/>
          </p:cNvPicPr>
          <p:nvPr/>
        </p:nvPicPr>
        <p:blipFill>
          <a:blip r:embed="rId3"/>
          <a:stretch>
            <a:fillRect/>
          </a:stretch>
        </p:blipFill>
        <p:spPr>
          <a:xfrm>
            <a:off x="7196328" y="1597895"/>
            <a:ext cx="4428713" cy="3369600"/>
          </a:xfrm>
          <a:prstGeom prst="rect">
            <a:avLst/>
          </a:prstGeom>
        </p:spPr>
      </p:pic>
      <p:sp>
        <p:nvSpPr>
          <p:cNvPr id="8" name="Rectangle 7"/>
          <p:cNvSpPr/>
          <p:nvPr/>
        </p:nvSpPr>
        <p:spPr>
          <a:xfrm>
            <a:off x="566928" y="4956048"/>
            <a:ext cx="5401040" cy="118872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66928" y="4956048"/>
            <a:ext cx="41148" cy="11887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86384" y="5093208"/>
            <a:ext cx="4998704" cy="219456"/>
          </a:xfrm>
          <a:prstGeom prst="rect">
            <a:avLst/>
          </a:prstGeom>
          <a:noFill/>
        </p:spPr>
        <p:txBody>
          <a:bodyPr wrap="square" lIns="0" rIns="0" tIns="0" bIns="0" anchor="t">
            <a:spAutoFit/>
          </a:bodyPr>
          <a:lstStyle/>
          <a:p>
            <a:pPr algn="l">
              <a:lnSpc>
                <a:spcPct val="124000"/>
              </a:lnSpc>
              <a:spcAft>
                <a:spcPts val="0"/>
              </a:spcAft>
            </a:pPr>
            <a:r>
              <a:rPr sz="850" b="1" i="0">
                <a:solidFill>
                  <a:srgbClr val="2A78D6"/>
                </a:solidFill>
                <a:latin typeface="Segoe UI"/>
              </a:rPr>
              <a:t>FINDING</a:t>
            </a:r>
          </a:p>
        </p:txBody>
      </p:sp>
      <p:sp>
        <p:nvSpPr>
          <p:cNvPr id="11" name="TextBox 10"/>
          <p:cNvSpPr txBox="1"/>
          <p:nvPr/>
        </p:nvSpPr>
        <p:spPr>
          <a:xfrm>
            <a:off x="786384" y="5340096"/>
            <a:ext cx="4998704" cy="694944"/>
          </a:xfrm>
          <a:prstGeom prst="rect">
            <a:avLst/>
          </a:prstGeom>
          <a:noFill/>
        </p:spPr>
        <p:txBody>
          <a:bodyPr wrap="square" lIns="0" rIns="0" tIns="0" bIns="0" anchor="t">
            <a:spAutoFit/>
          </a:bodyPr>
          <a:lstStyle/>
          <a:p>
            <a:pPr algn="l">
              <a:lnSpc>
                <a:spcPct val="126000"/>
              </a:lnSpc>
              <a:spcAft>
                <a:spcPts val="0"/>
              </a:spcAft>
            </a:pPr>
            <a:r>
              <a:rPr sz="1150" b="0" i="0">
                <a:solidFill>
                  <a:srgbClr val="0B0B0B"/>
                </a:solidFill>
                <a:latin typeface="Segoe UI"/>
              </a:rPr>
              <a:t>Overtime is the strongest single condition: 30.53% of the 416 employees working overtime left, against 10.44% of those who did not — a 14.4 pp gap, 1.89× baseline. Yet no numeric correlation with leaving exceeds −0.171 in magnitude.</a:t>
            </a:r>
          </a:p>
        </p:txBody>
      </p:sp>
      <p:sp>
        <p:nvSpPr>
          <p:cNvPr id="12" name="Rectangle 11"/>
          <p:cNvSpPr/>
          <p:nvPr/>
        </p:nvSpPr>
        <p:spPr>
          <a:xfrm>
            <a:off x="6224000" y="4956048"/>
            <a:ext cx="5401040" cy="1188720"/>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224000" y="4956048"/>
            <a:ext cx="41148" cy="118872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43456" y="5093208"/>
            <a:ext cx="4998704" cy="219456"/>
          </a:xfrm>
          <a:prstGeom prst="rect">
            <a:avLst/>
          </a:prstGeom>
          <a:noFill/>
        </p:spPr>
        <p:txBody>
          <a:bodyPr wrap="square" lIns="0" rIns="0" tIns="0" bIns="0" anchor="t">
            <a:spAutoFit/>
          </a:bodyPr>
          <a:lstStyle/>
          <a:p>
            <a:pPr algn="l">
              <a:lnSpc>
                <a:spcPct val="124000"/>
              </a:lnSpc>
              <a:spcAft>
                <a:spcPts val="0"/>
              </a:spcAft>
            </a:pPr>
            <a:r>
              <a:rPr sz="850" b="1" i="0">
                <a:solidFill>
                  <a:srgbClr val="E34948"/>
                </a:solidFill>
                <a:latin typeface="Segoe UI"/>
              </a:rPr>
              <a:t>INTERPRETATION</a:t>
            </a:r>
          </a:p>
        </p:txBody>
      </p:sp>
      <p:sp>
        <p:nvSpPr>
          <p:cNvPr id="15" name="TextBox 14"/>
          <p:cNvSpPr txBox="1"/>
          <p:nvPr/>
        </p:nvSpPr>
        <p:spPr>
          <a:xfrm>
            <a:off x="6443456" y="5340096"/>
            <a:ext cx="4998704" cy="694944"/>
          </a:xfrm>
          <a:prstGeom prst="rect">
            <a:avLst/>
          </a:prstGeom>
          <a:noFill/>
        </p:spPr>
        <p:txBody>
          <a:bodyPr wrap="square" lIns="0" rIns="0" tIns="0" bIns="0" anchor="t">
            <a:spAutoFit/>
          </a:bodyPr>
          <a:lstStyle/>
          <a:p>
            <a:pPr algn="l">
              <a:lnSpc>
                <a:spcPct val="126000"/>
              </a:lnSpc>
              <a:spcAft>
                <a:spcPts val="0"/>
              </a:spcAft>
            </a:pPr>
            <a:r>
              <a:rPr sz="1150" b="0" i="0">
                <a:solidFill>
                  <a:srgbClr val="0B0B0B"/>
                </a:solidFill>
                <a:latin typeface="Segoe UI"/>
              </a:rPr>
              <a:t>The two panels disagree for a reason: a Pearson coefficient on a binary target measures a straight-line relationship across the whole range and is weak by construction. Grouped rates are the interpretable view; correlations are a screening tool, not an explanation.</a:t>
            </a:r>
          </a:p>
        </p:txBody>
      </p:sp>
      <p:sp>
        <p:nvSpPr>
          <p:cNvPr id="16" name="Rectangle 15"/>
          <p:cNvSpPr/>
          <p:nvPr/>
        </p:nvSpPr>
        <p:spPr>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66928" y="6455664"/>
            <a:ext cx="7961841" cy="219456"/>
          </a:xfrm>
          <a:prstGeom prst="rect">
            <a:avLst/>
          </a:prstGeom>
          <a:noFill/>
        </p:spPr>
        <p:txBody>
          <a:bodyPr wrap="square" lIns="0" rIns="0" tIns="0" bIns="0" anchor="t">
            <a:spAutoFit/>
          </a:bodyPr>
          <a:lstStyle/>
          <a:p>
            <a:pPr algn="l">
              <a:lnSpc>
                <a:spcPct val="124000"/>
              </a:lnSpc>
              <a:spcAft>
                <a:spcPts val="0"/>
              </a:spcAft>
            </a:pPr>
            <a:r>
              <a:rPr sz="850" b="0" i="0">
                <a:solidFill>
                  <a:srgbClr val="898781"/>
                </a:solidFill>
                <a:latin typeface="Segoe UI"/>
              </a:rPr>
              <a:t>notebooks/08-finding-correlation.ipynb</a:t>
            </a:r>
          </a:p>
        </p:txBody>
      </p:sp>
      <p:sp>
        <p:nvSpPr>
          <p:cNvPr id="18" name="TextBox 17"/>
          <p:cNvSpPr txBox="1"/>
          <p:nvPr/>
        </p:nvSpPr>
        <p:spPr>
          <a:xfrm>
            <a:off x="8749932" y="6455664"/>
            <a:ext cx="2875109" cy="219456"/>
          </a:xfrm>
          <a:prstGeom prst="rect">
            <a:avLst/>
          </a:prstGeom>
          <a:noFill/>
        </p:spPr>
        <p:txBody>
          <a:bodyPr wrap="square" lIns="0" rIns="0" tIns="0" bIns="0" anchor="t">
            <a:spAutoFit/>
          </a:bodyPr>
          <a:lstStyle/>
          <a:p>
            <a:pPr algn="r">
              <a:lnSpc>
                <a:spcPct val="124000"/>
              </a:lnSpc>
              <a:spcAft>
                <a:spcPts val="0"/>
              </a:spcAft>
            </a:pPr>
            <a:r>
              <a:rPr sz="850" b="0" i="0">
                <a:solidFill>
                  <a:srgbClr val="898781"/>
                </a:solidFill>
                <a:latin typeface="Segoe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8113" cy="219456"/>
          </a:xfrm>
          <a:prstGeom prst="rect">
            <a:avLst/>
          </a:prstGeom>
          <a:noFill/>
        </p:spPr>
        <p:txBody>
          <a:bodyPr wrap="square" lIns="0" rIns="0" tIns="0" bIns="0" anchor="t">
            <a:spAutoFit/>
          </a:bodyPr>
          <a:lstStyle/>
          <a:p>
            <a:pPr algn="l">
              <a:lnSpc>
                <a:spcPct val="124000"/>
              </a:lnSpc>
              <a:spcAft>
                <a:spcPts val="0"/>
              </a:spcAft>
            </a:pPr>
            <a:r>
              <a:rPr sz="950" b="1" i="0">
                <a:solidFill>
                  <a:srgbClr val="2A78D6"/>
                </a:solidFill>
                <a:latin typeface="Segoe UI"/>
              </a:rPr>
              <a:t>EDA STEP 09</a:t>
            </a:r>
          </a:p>
        </p:txBody>
      </p:sp>
      <p:sp>
        <p:nvSpPr>
          <p:cNvPr id="3" name="TextBox 2"/>
          <p:cNvSpPr txBox="1"/>
          <p:nvPr/>
        </p:nvSpPr>
        <p:spPr>
          <a:xfrm>
            <a:off x="566928" y="603504"/>
            <a:ext cx="11058113" cy="475488"/>
          </a:xfrm>
          <a:prstGeom prst="rect">
            <a:avLst/>
          </a:prstGeom>
          <a:noFill/>
        </p:spPr>
        <p:txBody>
          <a:bodyPr wrap="square" lIns="0" rIns="0" tIns="0" bIns="0" anchor="t">
            <a:spAutoFit/>
          </a:bodyPr>
          <a:lstStyle/>
          <a:p>
            <a:pPr algn="l">
              <a:lnSpc>
                <a:spcPct val="124000"/>
              </a:lnSpc>
              <a:spcAft>
                <a:spcPts val="0"/>
              </a:spcAft>
            </a:pPr>
            <a:r>
              <a:rPr sz="2500" b="1" i="0">
                <a:solidFill>
                  <a:srgbClr val="0B0B0B"/>
                </a:solidFill>
                <a:latin typeface="Segoe UI"/>
              </a:rPr>
              <a:t>Step 09 · Visualizing distribution</a:t>
            </a:r>
          </a:p>
        </p:txBody>
      </p:sp>
      <p:sp>
        <p:nvSpPr>
          <p:cNvPr id="4" name="TextBox 3"/>
          <p:cNvSpPr txBox="1"/>
          <p:nvPr/>
        </p:nvSpPr>
        <p:spPr>
          <a:xfrm>
            <a:off x="566928" y="1106424"/>
            <a:ext cx="11058113" cy="274320"/>
          </a:xfrm>
          <a:prstGeom prst="rect">
            <a:avLst/>
          </a:prstGeom>
          <a:noFill/>
        </p:spPr>
        <p:txBody>
          <a:bodyPr wrap="square" lIns="0" rIns="0" tIns="0" bIns="0" anchor="t">
            <a:spAutoFit/>
          </a:bodyPr>
          <a:lstStyle/>
          <a:p>
            <a:pPr algn="l">
              <a:lnSpc>
                <a:spcPct val="124000"/>
              </a:lnSpc>
              <a:spcAft>
                <a:spcPts val="0"/>
              </a:spcAft>
            </a:pPr>
            <a:r>
              <a:rPr sz="1250" b="0" i="0">
                <a:solidFill>
                  <a:srgbClr val="52514E"/>
                </a:solidFill>
                <a:latin typeface="Segoe UI"/>
              </a:rPr>
              <a:t>Objective: describe the workforce itself — age, pay, tenure and experience — so the segment rates have a population to sit in.</a:t>
            </a:r>
          </a:p>
        </p:txBody>
      </p:sp>
      <p:sp>
        <p:nvSpPr>
          <p:cNvPr id="5" name="Rectangle 4"/>
          <p:cNvSpPr/>
          <p:nvPr/>
        </p:nvSpPr>
        <p:spPr>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09_distributions.png"/>
          <p:cNvPicPr>
            <a:picLocks noChangeAspect="1"/>
          </p:cNvPicPr>
          <p:nvPr/>
        </p:nvPicPr>
        <p:blipFill>
          <a:blip r:embed="rId2"/>
          <a:stretch>
            <a:fillRect/>
          </a:stretch>
        </p:blipFill>
        <p:spPr>
          <a:xfrm>
            <a:off x="799790" y="1627632"/>
            <a:ext cx="6437995" cy="3291840"/>
          </a:xfrm>
          <a:prstGeom prst="rect">
            <a:avLst/>
          </a:prstGeom>
        </p:spPr>
      </p:pic>
      <p:sp>
        <p:nvSpPr>
          <p:cNvPr id="7" name="TextBox 6"/>
          <p:cNvSpPr txBox="1"/>
          <p:nvPr/>
        </p:nvSpPr>
        <p:spPr>
          <a:xfrm>
            <a:off x="7607808" y="1682496"/>
            <a:ext cx="4017233" cy="256032"/>
          </a:xfrm>
          <a:prstGeom prst="rect">
            <a:avLst/>
          </a:prstGeom>
          <a:noFill/>
        </p:spPr>
        <p:txBody>
          <a:bodyPr wrap="square" lIns="0" rIns="0" tIns="0" bIns="0" anchor="t">
            <a:spAutoFit/>
          </a:bodyPr>
          <a:lstStyle/>
          <a:p>
            <a:pPr algn="l">
              <a:lnSpc>
                <a:spcPct val="124000"/>
              </a:lnSpc>
              <a:spcAft>
                <a:spcPts val="0"/>
              </a:spcAft>
            </a:pPr>
            <a:r>
              <a:rPr sz="1250" b="1" i="0">
                <a:solidFill>
                  <a:srgbClr val="0B0B0B"/>
                </a:solidFill>
                <a:latin typeface="Segoe UI"/>
              </a:rPr>
              <a:t>Finding</a:t>
            </a:r>
          </a:p>
        </p:txBody>
      </p:sp>
      <p:sp>
        <p:nvSpPr>
          <p:cNvPr id="8" name="TextBox 7"/>
          <p:cNvSpPr txBox="1"/>
          <p:nvPr/>
        </p:nvSpPr>
        <p:spPr>
          <a:xfrm>
            <a:off x="7607808" y="2011680"/>
            <a:ext cx="4017233" cy="2103120"/>
          </a:xfrm>
          <a:prstGeom prst="rect">
            <a:avLst/>
          </a:prstGeom>
          <a:noFill/>
        </p:spPr>
        <p:txBody>
          <a:bodyPr wrap="square" lIns="0" rIns="0" tIns="0" bIns="0" anchor="t">
            <a:spAutoFit/>
          </a:bodyPr>
          <a:lstStyle/>
          <a:p>
            <a:pPr algn="l">
              <a:lnSpc>
                <a:spcPct val="122000"/>
              </a:lnSpc>
              <a:spcAft>
                <a:spcPts val="800"/>
              </a:spcAft>
            </a:pPr>
            <a:r>
              <a:rPr sz="1050" b="1" i="0">
                <a:solidFill>
                  <a:srgbClr val="2A78D6"/>
                </a:solidFill>
                <a:latin typeface="Segoe UI"/>
              </a:rPr>
              <a:t>•  </a:t>
            </a:r>
            <a:r>
              <a:rPr sz="1050" b="1" i="0">
                <a:solidFill>
                  <a:srgbClr val="0B0B0B"/>
                </a:solidFill>
                <a:latin typeface="Segoe UI"/>
              </a:rPr>
              <a:t>Age  </a:t>
            </a:r>
            <a:r>
              <a:rPr sz="1050" b="0" i="0">
                <a:solidFill>
                  <a:srgbClr val="52514E"/>
                </a:solidFill>
                <a:latin typeface="Segoe UI"/>
              </a:rPr>
              <a:t>18 to 60, mean 36.9, median 36.0 — close to symmetric with a mild right skew.</a:t>
            </a:r>
          </a:p>
          <a:p>
            <a:pPr algn="l">
              <a:lnSpc>
                <a:spcPct val="122000"/>
              </a:lnSpc>
              <a:spcAft>
                <a:spcPts val="800"/>
              </a:spcAft>
            </a:pPr>
            <a:r>
              <a:rPr sz="1050" b="1" i="0">
                <a:solidFill>
                  <a:srgbClr val="2A78D6"/>
                </a:solidFill>
                <a:latin typeface="Segoe UI"/>
              </a:rPr>
              <a:t>•  </a:t>
            </a:r>
            <a:r>
              <a:rPr sz="1050" b="1" i="0">
                <a:solidFill>
                  <a:srgbClr val="0B0B0B"/>
                </a:solidFill>
                <a:latin typeface="Segoe UI"/>
              </a:rPr>
              <a:t>Monthly income  </a:t>
            </a:r>
            <a:r>
              <a:rPr sz="1050" b="0" i="0">
                <a:solidFill>
                  <a:srgbClr val="52514E"/>
                </a:solidFill>
                <a:latin typeface="Segoe UI"/>
              </a:rPr>
              <a:t>Mean $6,503 against a median of $4,919 — strongly right-skewed.</a:t>
            </a:r>
          </a:p>
          <a:p>
            <a:pPr algn="l">
              <a:lnSpc>
                <a:spcPct val="122000"/>
              </a:lnSpc>
              <a:spcAft>
                <a:spcPts val="800"/>
              </a:spcAft>
            </a:pPr>
            <a:r>
              <a:rPr sz="1050" b="1" i="0">
                <a:solidFill>
                  <a:srgbClr val="2A78D6"/>
                </a:solidFill>
                <a:latin typeface="Segoe UI"/>
              </a:rPr>
              <a:t>•  </a:t>
            </a:r>
            <a:r>
              <a:rPr sz="1050" b="1" i="0">
                <a:solidFill>
                  <a:srgbClr val="0B0B0B"/>
                </a:solidFill>
                <a:latin typeface="Segoe UI"/>
              </a:rPr>
              <a:t>Years at company  </a:t>
            </a:r>
            <a:r>
              <a:rPr sz="1050" b="0" i="0">
                <a:solidFill>
                  <a:srgbClr val="52514E"/>
                </a:solidFill>
                <a:latin typeface="Segoe UI"/>
              </a:rPr>
              <a:t>Mean 7.0 against a median of 5.0; most employees sit between 2 and 10 years.</a:t>
            </a:r>
          </a:p>
          <a:p>
            <a:pPr algn="l">
              <a:lnSpc>
                <a:spcPct val="122000"/>
              </a:lnSpc>
              <a:spcAft>
                <a:spcPts val="800"/>
              </a:spcAft>
            </a:pPr>
            <a:r>
              <a:rPr sz="1050" b="1" i="0">
                <a:solidFill>
                  <a:srgbClr val="2A78D6"/>
                </a:solidFill>
                <a:latin typeface="Segoe UI"/>
              </a:rPr>
              <a:t>•  </a:t>
            </a:r>
            <a:r>
              <a:rPr sz="1050" b="1" i="0">
                <a:solidFill>
                  <a:srgbClr val="0B0B0B"/>
                </a:solidFill>
                <a:latin typeface="Segoe UI"/>
              </a:rPr>
              <a:t>Total working years  </a:t>
            </a:r>
            <a:r>
              <a:rPr sz="1050" b="0" i="0">
                <a:solidFill>
                  <a:srgbClr val="52514E"/>
                </a:solidFill>
                <a:latin typeface="Segoe UI"/>
              </a:rPr>
              <a:t>Mean 11.3 against a median of 10.0, concentrated between 5 and 12 years.</a:t>
            </a:r>
          </a:p>
        </p:txBody>
      </p:sp>
      <p:sp>
        <p:nvSpPr>
          <p:cNvPr id="9" name="Rectangle 8"/>
          <p:cNvSpPr/>
          <p:nvPr/>
        </p:nvSpPr>
        <p:spPr>
          <a:xfrm>
            <a:off x="7607808" y="4005072"/>
            <a:ext cx="4017233" cy="969264"/>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607808" y="4005072"/>
            <a:ext cx="41148" cy="969264"/>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827264" y="4142232"/>
            <a:ext cx="3614897" cy="219456"/>
          </a:xfrm>
          <a:prstGeom prst="rect">
            <a:avLst/>
          </a:prstGeom>
          <a:noFill/>
        </p:spPr>
        <p:txBody>
          <a:bodyPr wrap="square" lIns="0" rIns="0" tIns="0" bIns="0" anchor="t">
            <a:spAutoFit/>
          </a:bodyPr>
          <a:lstStyle/>
          <a:p>
            <a:pPr algn="l">
              <a:lnSpc>
                <a:spcPct val="124000"/>
              </a:lnSpc>
              <a:spcAft>
                <a:spcPts val="0"/>
              </a:spcAft>
            </a:pPr>
            <a:r>
              <a:rPr sz="850" b="1" i="0">
                <a:solidFill>
                  <a:srgbClr val="E34948"/>
                </a:solidFill>
                <a:latin typeface="Segoe UI"/>
              </a:rPr>
              <a:t>INTERPRETATION</a:t>
            </a:r>
          </a:p>
        </p:txBody>
      </p:sp>
      <p:sp>
        <p:nvSpPr>
          <p:cNvPr id="12" name="TextBox 11"/>
          <p:cNvSpPr txBox="1"/>
          <p:nvPr/>
        </p:nvSpPr>
        <p:spPr>
          <a:xfrm>
            <a:off x="7827264" y="4389120"/>
            <a:ext cx="3614897" cy="475488"/>
          </a:xfrm>
          <a:prstGeom prst="rect">
            <a:avLst/>
          </a:prstGeom>
          <a:noFill/>
        </p:spPr>
        <p:txBody>
          <a:bodyPr wrap="square" lIns="0" rIns="0" tIns="0" bIns="0" anchor="t">
            <a:spAutoFit/>
          </a:bodyPr>
          <a:lstStyle/>
          <a:p>
            <a:pPr algn="l">
              <a:lnSpc>
                <a:spcPct val="126000"/>
              </a:lnSpc>
              <a:spcAft>
                <a:spcPts val="0"/>
              </a:spcAft>
            </a:pPr>
            <a:r>
              <a:rPr sz="1150" b="0" i="0">
                <a:solidFill>
                  <a:srgbClr val="0B0B0B"/>
                </a:solidFill>
                <a:latin typeface="Segoe UI"/>
              </a:rPr>
              <a:t>Where mean and median diverge, the median is the honest description of a typical employee — a small group of senior, high-earning, long-tenured people pulls every average upward.</a:t>
            </a:r>
          </a:p>
        </p:txBody>
      </p:sp>
      <p:sp>
        <p:nvSpPr>
          <p:cNvPr id="13" name="Rectangle 12"/>
          <p:cNvSpPr/>
          <p:nvPr/>
        </p:nvSpPr>
        <p:spPr>
          <a:xfrm>
            <a:off x="566928" y="4956048"/>
            <a:ext cx="11058113" cy="11887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4956048"/>
            <a:ext cx="41148" cy="1188720"/>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86384" y="5093208"/>
            <a:ext cx="10655777" cy="219456"/>
          </a:xfrm>
          <a:prstGeom prst="rect">
            <a:avLst/>
          </a:prstGeom>
          <a:noFill/>
        </p:spPr>
        <p:txBody>
          <a:bodyPr wrap="square" lIns="0" rIns="0" tIns="0" bIns="0" anchor="t">
            <a:spAutoFit/>
          </a:bodyPr>
          <a:lstStyle/>
          <a:p>
            <a:pPr algn="l">
              <a:lnSpc>
                <a:spcPct val="124000"/>
              </a:lnSpc>
              <a:spcAft>
                <a:spcPts val="0"/>
              </a:spcAft>
            </a:pPr>
            <a:r>
              <a:rPr sz="850" b="1" i="0">
                <a:solidFill>
                  <a:srgbClr val="898781"/>
                </a:solidFill>
                <a:latin typeface="Segoe UI"/>
              </a:rPr>
              <a:t>CONCLUSION</a:t>
            </a:r>
          </a:p>
        </p:txBody>
      </p:sp>
      <p:sp>
        <p:nvSpPr>
          <p:cNvPr id="16" name="TextBox 15"/>
          <p:cNvSpPr txBox="1"/>
          <p:nvPr/>
        </p:nvSpPr>
        <p:spPr>
          <a:xfrm>
            <a:off x="786384" y="5340096"/>
            <a:ext cx="10655777" cy="694944"/>
          </a:xfrm>
          <a:prstGeom prst="rect">
            <a:avLst/>
          </a:prstGeom>
          <a:noFill/>
        </p:spPr>
        <p:txBody>
          <a:bodyPr wrap="square" lIns="0" rIns="0" tIns="0" bIns="0" anchor="t">
            <a:spAutoFit/>
          </a:bodyPr>
          <a:lstStyle/>
          <a:p>
            <a:pPr algn="l">
              <a:lnSpc>
                <a:spcPct val="126000"/>
              </a:lnSpc>
              <a:spcAft>
                <a:spcPts val="0"/>
              </a:spcAft>
            </a:pPr>
            <a:r>
              <a:rPr sz="1150" b="0" i="0">
                <a:solidFill>
                  <a:srgbClr val="0B0B0B"/>
                </a:solidFill>
                <a:latin typeface="Segoe UI"/>
              </a:rPr>
              <a:t>These charts describe the population, not the leaving. They matter to the argument in one specific way: the workforce is concentrated in exactly the early-tenure, lower-income, entry-level bands that the attrition analysis identified as highest-risk — which is why those segments carry large headcounts as well as high rates. The notebook states plainly that distributions alone establish nothing about what causes attrition.</a:t>
            </a:r>
          </a:p>
        </p:txBody>
      </p:sp>
      <p:sp>
        <p:nvSpPr>
          <p:cNvPr id="17" name="Rectangle 16"/>
          <p:cNvSpPr/>
          <p:nvPr/>
        </p:nvSpPr>
        <p:spPr>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66928" y="6455664"/>
            <a:ext cx="7961841" cy="219456"/>
          </a:xfrm>
          <a:prstGeom prst="rect">
            <a:avLst/>
          </a:prstGeom>
          <a:noFill/>
        </p:spPr>
        <p:txBody>
          <a:bodyPr wrap="square" lIns="0" rIns="0" tIns="0" bIns="0" anchor="t">
            <a:spAutoFit/>
          </a:bodyPr>
          <a:lstStyle/>
          <a:p>
            <a:pPr algn="l">
              <a:lnSpc>
                <a:spcPct val="124000"/>
              </a:lnSpc>
              <a:spcAft>
                <a:spcPts val="0"/>
              </a:spcAft>
            </a:pPr>
            <a:r>
              <a:rPr sz="850" b="0" i="0">
                <a:solidFill>
                  <a:srgbClr val="898781"/>
                </a:solidFill>
                <a:latin typeface="Segoe UI"/>
              </a:rPr>
              <a:t>notebooks/09-visualizing-distribution.ipynb · contributor: Asif Hassan</a:t>
            </a:r>
          </a:p>
        </p:txBody>
      </p:sp>
      <p:sp>
        <p:nvSpPr>
          <p:cNvPr id="19" name="TextBox 18"/>
          <p:cNvSpPr txBox="1"/>
          <p:nvPr/>
        </p:nvSpPr>
        <p:spPr>
          <a:xfrm>
            <a:off x="8749932" y="6455664"/>
            <a:ext cx="2875109" cy="219456"/>
          </a:xfrm>
          <a:prstGeom prst="rect">
            <a:avLst/>
          </a:prstGeom>
          <a:noFill/>
        </p:spPr>
        <p:txBody>
          <a:bodyPr wrap="square" lIns="0" rIns="0" tIns="0" bIns="0" anchor="t">
            <a:spAutoFit/>
          </a:bodyPr>
          <a:lstStyle/>
          <a:p>
            <a:pPr algn="r">
              <a:lnSpc>
                <a:spcPct val="124000"/>
              </a:lnSpc>
              <a:spcAft>
                <a:spcPts val="0"/>
              </a:spcAft>
            </a:pPr>
            <a:r>
              <a:rPr sz="850" b="0" i="0">
                <a:solidFill>
                  <a:srgbClr val="898781"/>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8113" cy="219456"/>
          </a:xfrm>
          <a:prstGeom prst="rect">
            <a:avLst/>
          </a:prstGeom>
          <a:noFill/>
        </p:spPr>
        <p:txBody>
          <a:bodyPr wrap="square" lIns="0" rIns="0" tIns="0" bIns="0" anchor="t">
            <a:spAutoFit/>
          </a:bodyPr>
          <a:lstStyle/>
          <a:p>
            <a:pPr algn="l">
              <a:lnSpc>
                <a:spcPct val="124000"/>
              </a:lnSpc>
              <a:spcAft>
                <a:spcPts val="0"/>
              </a:spcAft>
            </a:pPr>
            <a:r>
              <a:rPr sz="950" b="1" i="0">
                <a:solidFill>
                  <a:srgbClr val="2A78D6"/>
                </a:solidFill>
                <a:latin typeface="Segoe UI"/>
              </a:rPr>
              <a:t>EDA STEP 10</a:t>
            </a:r>
          </a:p>
        </p:txBody>
      </p:sp>
      <p:sp>
        <p:nvSpPr>
          <p:cNvPr id="3" name="TextBox 2"/>
          <p:cNvSpPr txBox="1"/>
          <p:nvPr/>
        </p:nvSpPr>
        <p:spPr>
          <a:xfrm>
            <a:off x="566928" y="603504"/>
            <a:ext cx="11058113" cy="475488"/>
          </a:xfrm>
          <a:prstGeom prst="rect">
            <a:avLst/>
          </a:prstGeom>
          <a:noFill/>
        </p:spPr>
        <p:txBody>
          <a:bodyPr wrap="square" lIns="0" rIns="0" tIns="0" bIns="0" anchor="t">
            <a:spAutoFit/>
          </a:bodyPr>
          <a:lstStyle/>
          <a:p>
            <a:pPr algn="l">
              <a:lnSpc>
                <a:spcPct val="124000"/>
              </a:lnSpc>
              <a:spcAft>
                <a:spcPts val="0"/>
              </a:spcAft>
            </a:pPr>
            <a:r>
              <a:rPr sz="2500" b="1" i="0">
                <a:solidFill>
                  <a:srgbClr val="0B0B0B"/>
                </a:solidFill>
                <a:latin typeface="Segoe UI"/>
              </a:rPr>
              <a:t>Step 10 · Regression model</a:t>
            </a:r>
          </a:p>
        </p:txBody>
      </p:sp>
      <p:sp>
        <p:nvSpPr>
          <p:cNvPr id="4" name="TextBox 3"/>
          <p:cNvSpPr txBox="1"/>
          <p:nvPr/>
        </p:nvSpPr>
        <p:spPr>
          <a:xfrm>
            <a:off x="566928" y="1106424"/>
            <a:ext cx="11058113" cy="274320"/>
          </a:xfrm>
          <a:prstGeom prst="rect">
            <a:avLst/>
          </a:prstGeom>
          <a:noFill/>
        </p:spPr>
        <p:txBody>
          <a:bodyPr wrap="square" lIns="0" rIns="0" tIns="0" bIns="0" anchor="t">
            <a:spAutoFit/>
          </a:bodyPr>
          <a:lstStyle/>
          <a:p>
            <a:pPr algn="l">
              <a:lnSpc>
                <a:spcPct val="124000"/>
              </a:lnSpc>
              <a:spcAft>
                <a:spcPts val="0"/>
              </a:spcAft>
            </a:pPr>
            <a:r>
              <a:rPr sz="1250" b="0" i="0">
                <a:solidFill>
                  <a:srgbClr val="52514E"/>
                </a:solidFill>
                <a:latin typeface="Segoe UI"/>
              </a:rPr>
              <a:t>Objective: check whether the patterns found descriptively also separate leavers from stayers when fitted together.</a:t>
            </a:r>
          </a:p>
        </p:txBody>
      </p:sp>
      <p:sp>
        <p:nvSpPr>
          <p:cNvPr id="5" name="Rectangle 4"/>
          <p:cNvSpPr/>
          <p:nvPr/>
        </p:nvSpPr>
        <p:spPr>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10_confusion.png"/>
          <p:cNvPicPr>
            <a:picLocks noChangeAspect="1"/>
          </p:cNvPicPr>
          <p:nvPr/>
        </p:nvPicPr>
        <p:blipFill>
          <a:blip r:embed="rId2"/>
          <a:stretch>
            <a:fillRect/>
          </a:stretch>
        </p:blipFill>
        <p:spPr>
          <a:xfrm>
            <a:off x="721547" y="1792224"/>
            <a:ext cx="2936881" cy="2468880"/>
          </a:xfrm>
          <a:prstGeom prst="rect">
            <a:avLst/>
          </a:prstGeom>
        </p:spPr>
      </p:pic>
      <p:pic>
        <p:nvPicPr>
          <p:cNvPr id="7" name="Picture 6" descr="10_coefficients.png"/>
          <p:cNvPicPr>
            <a:picLocks noChangeAspect="1"/>
          </p:cNvPicPr>
          <p:nvPr/>
        </p:nvPicPr>
        <p:blipFill>
          <a:blip r:embed="rId3"/>
          <a:stretch>
            <a:fillRect/>
          </a:stretch>
        </p:blipFill>
        <p:spPr>
          <a:xfrm>
            <a:off x="5117252" y="1572768"/>
            <a:ext cx="5386463" cy="3063240"/>
          </a:xfrm>
          <a:prstGeom prst="rect">
            <a:avLst/>
          </a:prstGeom>
        </p:spPr>
      </p:pic>
      <p:sp>
        <p:nvSpPr>
          <p:cNvPr id="8" name="Rectangle 7"/>
          <p:cNvSpPr/>
          <p:nvPr/>
        </p:nvSpPr>
        <p:spPr>
          <a:xfrm>
            <a:off x="566928" y="4352544"/>
            <a:ext cx="1549907" cy="932688"/>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66928" y="4352544"/>
            <a:ext cx="41148" cy="93268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04672" y="4507992"/>
            <a:ext cx="1147572" cy="475488"/>
          </a:xfrm>
          <a:prstGeom prst="rect">
            <a:avLst/>
          </a:prstGeom>
          <a:noFill/>
        </p:spPr>
        <p:txBody>
          <a:bodyPr wrap="square" lIns="0" rIns="0" tIns="0" bIns="0" anchor="t">
            <a:spAutoFit/>
          </a:bodyPr>
          <a:lstStyle/>
          <a:p>
            <a:pPr algn="l">
              <a:lnSpc>
                <a:spcPct val="124000"/>
              </a:lnSpc>
              <a:spcAft>
                <a:spcPts val="0"/>
              </a:spcAft>
            </a:pPr>
            <a:r>
              <a:rPr sz="2900" b="1" i="0">
                <a:solidFill>
                  <a:srgbClr val="0B0B0B"/>
                </a:solidFill>
                <a:latin typeface="Segoe UI"/>
              </a:rPr>
              <a:t>86.0%</a:t>
            </a:r>
          </a:p>
        </p:txBody>
      </p:sp>
      <p:sp>
        <p:nvSpPr>
          <p:cNvPr id="11" name="TextBox 10"/>
          <p:cNvSpPr txBox="1"/>
          <p:nvPr/>
        </p:nvSpPr>
        <p:spPr>
          <a:xfrm>
            <a:off x="804672" y="5010912"/>
            <a:ext cx="1147572" cy="219456"/>
          </a:xfrm>
          <a:prstGeom prst="rect">
            <a:avLst/>
          </a:prstGeom>
          <a:noFill/>
        </p:spPr>
        <p:txBody>
          <a:bodyPr wrap="square" lIns="0" rIns="0" tIns="0" bIns="0" anchor="t">
            <a:spAutoFit/>
          </a:bodyPr>
          <a:lstStyle/>
          <a:p>
            <a:pPr algn="l">
              <a:lnSpc>
                <a:spcPct val="124000"/>
              </a:lnSpc>
              <a:spcAft>
                <a:spcPts val="0"/>
              </a:spcAft>
            </a:pPr>
            <a:r>
              <a:rPr sz="1050" b="1" i="0">
                <a:solidFill>
                  <a:srgbClr val="52514E"/>
                </a:solidFill>
                <a:latin typeface="Segoe UI"/>
              </a:rPr>
              <a:t>Accuracy</a:t>
            </a:r>
          </a:p>
        </p:txBody>
      </p:sp>
      <p:sp>
        <p:nvSpPr>
          <p:cNvPr id="12" name="TextBox 11"/>
          <p:cNvSpPr txBox="1"/>
          <p:nvPr/>
        </p:nvSpPr>
        <p:spPr>
          <a:xfrm>
            <a:off x="804672" y="5248656"/>
            <a:ext cx="1147572" cy="237744"/>
          </a:xfrm>
          <a:prstGeom prst="rect">
            <a:avLst/>
          </a:prstGeom>
          <a:noFill/>
        </p:spPr>
        <p:txBody>
          <a:bodyPr wrap="square" lIns="0" rIns="0" tIns="0" bIns="0" anchor="t">
            <a:spAutoFit/>
          </a:bodyPr>
          <a:lstStyle/>
          <a:p>
            <a:pPr algn="l">
              <a:lnSpc>
                <a:spcPct val="124000"/>
              </a:lnSpc>
              <a:spcAft>
                <a:spcPts val="0"/>
              </a:spcAft>
            </a:pPr>
            <a:r>
              <a:rPr sz="850" b="0" i="0">
                <a:solidFill>
                  <a:srgbClr val="898781"/>
                </a:solidFill>
                <a:latin typeface="Segoe UI"/>
              </a:rPr>
              <a:t>294 held-out rows</a:t>
            </a:r>
          </a:p>
        </p:txBody>
      </p:sp>
      <p:sp>
        <p:nvSpPr>
          <p:cNvPr id="13" name="Rectangle 12"/>
          <p:cNvSpPr/>
          <p:nvPr/>
        </p:nvSpPr>
        <p:spPr>
          <a:xfrm>
            <a:off x="2263140" y="4352544"/>
            <a:ext cx="1549907" cy="932688"/>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2263140" y="4352544"/>
            <a:ext cx="41148" cy="93268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500884" y="4507992"/>
            <a:ext cx="1147572" cy="475488"/>
          </a:xfrm>
          <a:prstGeom prst="rect">
            <a:avLst/>
          </a:prstGeom>
          <a:noFill/>
        </p:spPr>
        <p:txBody>
          <a:bodyPr wrap="square" lIns="0" rIns="0" tIns="0" bIns="0" anchor="t">
            <a:spAutoFit/>
          </a:bodyPr>
          <a:lstStyle/>
          <a:p>
            <a:pPr algn="l">
              <a:lnSpc>
                <a:spcPct val="124000"/>
              </a:lnSpc>
              <a:spcAft>
                <a:spcPts val="0"/>
              </a:spcAft>
            </a:pPr>
            <a:r>
              <a:rPr sz="2900" b="1" i="0">
                <a:solidFill>
                  <a:srgbClr val="0B0B0B"/>
                </a:solidFill>
                <a:latin typeface="Segoe UI"/>
              </a:rPr>
              <a:t>0.811</a:t>
            </a:r>
          </a:p>
        </p:txBody>
      </p:sp>
      <p:sp>
        <p:nvSpPr>
          <p:cNvPr id="16" name="TextBox 15"/>
          <p:cNvSpPr txBox="1"/>
          <p:nvPr/>
        </p:nvSpPr>
        <p:spPr>
          <a:xfrm>
            <a:off x="2500884" y="5010912"/>
            <a:ext cx="1147572" cy="219456"/>
          </a:xfrm>
          <a:prstGeom prst="rect">
            <a:avLst/>
          </a:prstGeom>
          <a:noFill/>
        </p:spPr>
        <p:txBody>
          <a:bodyPr wrap="square" lIns="0" rIns="0" tIns="0" bIns="0" anchor="t">
            <a:spAutoFit/>
          </a:bodyPr>
          <a:lstStyle/>
          <a:p>
            <a:pPr algn="l">
              <a:lnSpc>
                <a:spcPct val="124000"/>
              </a:lnSpc>
              <a:spcAft>
                <a:spcPts val="0"/>
              </a:spcAft>
            </a:pPr>
            <a:r>
              <a:rPr sz="1050" b="1" i="0">
                <a:solidFill>
                  <a:srgbClr val="52514E"/>
                </a:solidFill>
                <a:latin typeface="Segoe UI"/>
              </a:rPr>
              <a:t>ROC-AUC</a:t>
            </a:r>
          </a:p>
        </p:txBody>
      </p:sp>
      <p:sp>
        <p:nvSpPr>
          <p:cNvPr id="17" name="TextBox 16"/>
          <p:cNvSpPr txBox="1"/>
          <p:nvPr/>
        </p:nvSpPr>
        <p:spPr>
          <a:xfrm>
            <a:off x="2500884" y="5248656"/>
            <a:ext cx="1147572" cy="237744"/>
          </a:xfrm>
          <a:prstGeom prst="rect">
            <a:avLst/>
          </a:prstGeom>
          <a:noFill/>
        </p:spPr>
        <p:txBody>
          <a:bodyPr wrap="square" lIns="0" rIns="0" tIns="0" bIns="0" anchor="t">
            <a:spAutoFit/>
          </a:bodyPr>
          <a:lstStyle/>
          <a:p>
            <a:pPr algn="l">
              <a:lnSpc>
                <a:spcPct val="124000"/>
              </a:lnSpc>
              <a:spcAft>
                <a:spcPts val="0"/>
              </a:spcAft>
            </a:pPr>
            <a:r>
              <a:rPr sz="850" b="0" i="0">
                <a:solidFill>
                  <a:srgbClr val="898781"/>
                </a:solidFill>
                <a:latin typeface="Segoe UI"/>
              </a:rPr>
              <a:t>ranking quality</a:t>
            </a:r>
          </a:p>
        </p:txBody>
      </p:sp>
      <p:sp>
        <p:nvSpPr>
          <p:cNvPr id="18" name="Rectangle 17"/>
          <p:cNvSpPr/>
          <p:nvPr/>
        </p:nvSpPr>
        <p:spPr>
          <a:xfrm>
            <a:off x="566928" y="4846320"/>
            <a:ext cx="5401040" cy="1298448"/>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846320"/>
            <a:ext cx="41148" cy="12984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86384" y="4983480"/>
            <a:ext cx="4998704" cy="219456"/>
          </a:xfrm>
          <a:prstGeom prst="rect">
            <a:avLst/>
          </a:prstGeom>
          <a:noFill/>
        </p:spPr>
        <p:txBody>
          <a:bodyPr wrap="square" lIns="0" rIns="0" tIns="0" bIns="0" anchor="t">
            <a:spAutoFit/>
          </a:bodyPr>
          <a:lstStyle/>
          <a:p>
            <a:pPr algn="l">
              <a:lnSpc>
                <a:spcPct val="124000"/>
              </a:lnSpc>
              <a:spcAft>
                <a:spcPts val="0"/>
              </a:spcAft>
            </a:pPr>
            <a:r>
              <a:rPr sz="850" b="1" i="0">
                <a:solidFill>
                  <a:srgbClr val="2A78D6"/>
                </a:solidFill>
                <a:latin typeface="Segoe UI"/>
              </a:rPr>
              <a:t>FINDING</a:t>
            </a:r>
          </a:p>
        </p:txBody>
      </p:sp>
      <p:sp>
        <p:nvSpPr>
          <p:cNvPr id="21" name="TextBox 20"/>
          <p:cNvSpPr txBox="1"/>
          <p:nvPr/>
        </p:nvSpPr>
        <p:spPr>
          <a:xfrm>
            <a:off x="786384" y="5230368"/>
            <a:ext cx="4998704" cy="804671"/>
          </a:xfrm>
          <a:prstGeom prst="rect">
            <a:avLst/>
          </a:prstGeom>
          <a:noFill/>
        </p:spPr>
        <p:txBody>
          <a:bodyPr wrap="square" lIns="0" rIns="0" tIns="0" bIns="0" anchor="t">
            <a:spAutoFit/>
          </a:bodyPr>
          <a:lstStyle/>
          <a:p>
            <a:pPr algn="l">
              <a:lnSpc>
                <a:spcPct val="126000"/>
              </a:lnSpc>
              <a:spcAft>
                <a:spcPts val="0"/>
              </a:spcAft>
            </a:pPr>
            <a:r>
              <a:rPr sz="1150" b="0" i="0">
                <a:solidFill>
                  <a:srgbClr val="0B0B0B"/>
                </a:solidFill>
                <a:latin typeface="Segoe UI"/>
              </a:rPr>
              <a:t>86.0% accuracy is misleading: the model recalls only 34% of actual leavers (16 of 47) at 62% precision, while recalling 96% of stayers. ROC-AUC of 0.811 says it ranks risk reasonably even though its yes/no calls on leavers are poor.</a:t>
            </a:r>
          </a:p>
        </p:txBody>
      </p:sp>
      <p:sp>
        <p:nvSpPr>
          <p:cNvPr id="22" name="Rectangle 21"/>
          <p:cNvSpPr/>
          <p:nvPr/>
        </p:nvSpPr>
        <p:spPr>
          <a:xfrm>
            <a:off x="6224000" y="4846320"/>
            <a:ext cx="5401040" cy="1298448"/>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6224000" y="4846320"/>
            <a:ext cx="41148" cy="1298448"/>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43456" y="4983480"/>
            <a:ext cx="4998704" cy="219456"/>
          </a:xfrm>
          <a:prstGeom prst="rect">
            <a:avLst/>
          </a:prstGeom>
          <a:noFill/>
        </p:spPr>
        <p:txBody>
          <a:bodyPr wrap="square" lIns="0" rIns="0" tIns="0" bIns="0" anchor="t">
            <a:spAutoFit/>
          </a:bodyPr>
          <a:lstStyle/>
          <a:p>
            <a:pPr algn="l">
              <a:lnSpc>
                <a:spcPct val="124000"/>
              </a:lnSpc>
              <a:spcAft>
                <a:spcPts val="0"/>
              </a:spcAft>
            </a:pPr>
            <a:r>
              <a:rPr sz="850" b="1" i="0">
                <a:solidFill>
                  <a:srgbClr val="E34948"/>
                </a:solidFill>
                <a:latin typeface="Segoe UI"/>
              </a:rPr>
              <a:t>INTERPRETATION</a:t>
            </a:r>
          </a:p>
        </p:txBody>
      </p:sp>
      <p:sp>
        <p:nvSpPr>
          <p:cNvPr id="25" name="TextBox 24"/>
          <p:cNvSpPr txBox="1"/>
          <p:nvPr/>
        </p:nvSpPr>
        <p:spPr>
          <a:xfrm>
            <a:off x="6443456" y="5230368"/>
            <a:ext cx="4998704" cy="804671"/>
          </a:xfrm>
          <a:prstGeom prst="rect">
            <a:avLst/>
          </a:prstGeom>
          <a:noFill/>
        </p:spPr>
        <p:txBody>
          <a:bodyPr wrap="square" lIns="0" rIns="0" tIns="0" bIns="0" anchor="t">
            <a:spAutoFit/>
          </a:bodyPr>
          <a:lstStyle/>
          <a:p>
            <a:pPr algn="l">
              <a:lnSpc>
                <a:spcPct val="126000"/>
              </a:lnSpc>
              <a:spcAft>
                <a:spcPts val="0"/>
              </a:spcAft>
            </a:pPr>
            <a:r>
              <a:rPr sz="1150" b="0" i="0">
                <a:solidFill>
                  <a:srgbClr val="0B0B0B"/>
                </a:solidFill>
                <a:latin typeface="Segoe UI"/>
              </a:rPr>
              <a:t>The coefficients agree with the descriptive work — overtime is the largest positive weight at +1.80, and Research Director the largest negative at −1.05. A coefficient is still an association inside this model, not a cause, and magnitudes are not directly comparable because only the continuous features were scaled.</a:t>
            </a:r>
          </a:p>
        </p:txBody>
      </p:sp>
      <p:sp>
        <p:nvSpPr>
          <p:cNvPr id="26" name="Rectangle 25"/>
          <p:cNvSpPr/>
          <p:nvPr/>
        </p:nvSpPr>
        <p:spPr>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66928" y="6455664"/>
            <a:ext cx="7961841" cy="219456"/>
          </a:xfrm>
          <a:prstGeom prst="rect">
            <a:avLst/>
          </a:prstGeom>
          <a:noFill/>
        </p:spPr>
        <p:txBody>
          <a:bodyPr wrap="square" lIns="0" rIns="0" tIns="0" bIns="0" anchor="t">
            <a:spAutoFit/>
          </a:bodyPr>
          <a:lstStyle/>
          <a:p>
            <a:pPr algn="l">
              <a:lnSpc>
                <a:spcPct val="124000"/>
              </a:lnSpc>
              <a:spcAft>
                <a:spcPts val="0"/>
              </a:spcAft>
            </a:pPr>
            <a:r>
              <a:rPr sz="850" b="0" i="0">
                <a:solidFill>
                  <a:srgbClr val="898781"/>
                </a:solidFill>
                <a:latin typeface="Segoe UI"/>
              </a:rPr>
              <a:t>notebooks/10-regression-model.ipynb</a:t>
            </a:r>
          </a:p>
        </p:txBody>
      </p:sp>
      <p:sp>
        <p:nvSpPr>
          <p:cNvPr id="28" name="TextBox 27"/>
          <p:cNvSpPr txBox="1"/>
          <p:nvPr/>
        </p:nvSpPr>
        <p:spPr>
          <a:xfrm>
            <a:off x="8749932" y="6455664"/>
            <a:ext cx="2875109" cy="219456"/>
          </a:xfrm>
          <a:prstGeom prst="rect">
            <a:avLst/>
          </a:prstGeom>
          <a:noFill/>
        </p:spPr>
        <p:txBody>
          <a:bodyPr wrap="square" lIns="0" rIns="0" tIns="0" bIns="0" anchor="t">
            <a:spAutoFit/>
          </a:bodyPr>
          <a:lstStyle/>
          <a:p>
            <a:pPr algn="r">
              <a:lnSpc>
                <a:spcPct val="124000"/>
              </a:lnSpc>
              <a:spcAft>
                <a:spcPts val="0"/>
              </a:spcAft>
            </a:pPr>
            <a:r>
              <a:rPr sz="850" b="0" i="0">
                <a:solidFill>
                  <a:srgbClr val="898781"/>
                </a:solidFill>
                <a:latin typeface="Segoe U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8113" cy="219456"/>
          </a:xfrm>
          <a:prstGeom prst="rect">
            <a:avLst/>
          </a:prstGeom>
          <a:noFill/>
        </p:spPr>
        <p:txBody>
          <a:bodyPr wrap="square" lIns="0" rIns="0" tIns="0" bIns="0" anchor="t">
            <a:spAutoFit/>
          </a:bodyPr>
          <a:lstStyle/>
          <a:p>
            <a:pPr algn="l">
              <a:lnSpc>
                <a:spcPct val="124000"/>
              </a:lnSpc>
              <a:spcAft>
                <a:spcPts val="0"/>
              </a:spcAft>
            </a:pPr>
            <a:r>
              <a:rPr sz="950" b="1" i="0">
                <a:solidFill>
                  <a:srgbClr val="2A78D6"/>
                </a:solidFill>
                <a:latin typeface="Segoe UI"/>
              </a:rPr>
              <a:t>KEY FINDINGS</a:t>
            </a:r>
          </a:p>
        </p:txBody>
      </p:sp>
      <p:sp>
        <p:nvSpPr>
          <p:cNvPr id="3" name="TextBox 2"/>
          <p:cNvSpPr txBox="1"/>
          <p:nvPr/>
        </p:nvSpPr>
        <p:spPr>
          <a:xfrm>
            <a:off x="566928" y="603504"/>
            <a:ext cx="11058113" cy="475488"/>
          </a:xfrm>
          <a:prstGeom prst="rect">
            <a:avLst/>
          </a:prstGeom>
          <a:noFill/>
        </p:spPr>
        <p:txBody>
          <a:bodyPr wrap="square" lIns="0" rIns="0" tIns="0" bIns="0" anchor="t">
            <a:spAutoFit/>
          </a:bodyPr>
          <a:lstStyle/>
          <a:p>
            <a:pPr algn="l">
              <a:lnSpc>
                <a:spcPct val="124000"/>
              </a:lnSpc>
              <a:spcAft>
                <a:spcPts val="0"/>
              </a:spcAft>
            </a:pPr>
            <a:r>
              <a:rPr sz="2500" b="1" i="0">
                <a:solidFill>
                  <a:srgbClr val="0B0B0B"/>
                </a:solidFill>
                <a:latin typeface="Segoe UI"/>
              </a:rPr>
              <a:t>What the analysis established</a:t>
            </a:r>
          </a:p>
        </p:txBody>
      </p:sp>
      <p:sp>
        <p:nvSpPr>
          <p:cNvPr id="4" name="TextBox 3"/>
          <p:cNvSpPr txBox="1"/>
          <p:nvPr/>
        </p:nvSpPr>
        <p:spPr>
          <a:xfrm>
            <a:off x="566928" y="1106424"/>
            <a:ext cx="11058113" cy="274320"/>
          </a:xfrm>
          <a:prstGeom prst="rect">
            <a:avLst/>
          </a:prstGeom>
          <a:noFill/>
        </p:spPr>
        <p:txBody>
          <a:bodyPr wrap="square" lIns="0" rIns="0" tIns="0" bIns="0" anchor="t">
            <a:spAutoFit/>
          </a:bodyPr>
          <a:lstStyle/>
          <a:p>
            <a:pPr algn="l">
              <a:lnSpc>
                <a:spcPct val="124000"/>
              </a:lnSpc>
              <a:spcAft>
                <a:spcPts val="0"/>
              </a:spcAft>
            </a:pPr>
            <a:r>
              <a:rPr sz="1250" b="0" i="0">
                <a:solidFill>
                  <a:srgbClr val="52514E"/>
                </a:solidFill>
                <a:latin typeface="Segoe UI"/>
              </a:rPr>
              <a:t>Ranked by strength of evidence — gap size, segment headcount and how many independent measures agree.</a:t>
            </a:r>
          </a:p>
        </p:txBody>
      </p:sp>
      <p:sp>
        <p:nvSpPr>
          <p:cNvPr id="5" name="Rectangle 4"/>
          <p:cNvSpPr/>
          <p:nvPr/>
        </p:nvSpPr>
        <p:spPr>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66928" y="1700784"/>
            <a:ext cx="11058113" cy="722376"/>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66928" y="1700784"/>
            <a:ext cx="41148" cy="72237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68096" y="1883664"/>
            <a:ext cx="310896" cy="329184"/>
          </a:xfrm>
          <a:prstGeom prst="rect">
            <a:avLst/>
          </a:prstGeom>
          <a:noFill/>
        </p:spPr>
        <p:txBody>
          <a:bodyPr wrap="square" lIns="0" rIns="0" tIns="0" bIns="0" anchor="t">
            <a:spAutoFit/>
          </a:bodyPr>
          <a:lstStyle/>
          <a:p>
            <a:pPr algn="l">
              <a:lnSpc>
                <a:spcPct val="124000"/>
              </a:lnSpc>
              <a:spcAft>
                <a:spcPts val="0"/>
              </a:spcAft>
            </a:pPr>
            <a:r>
              <a:rPr sz="1700" b="1" i="0">
                <a:solidFill>
                  <a:srgbClr val="2A78D6"/>
                </a:solidFill>
                <a:latin typeface="Segoe UI"/>
              </a:rPr>
              <a:t>1</a:t>
            </a:r>
          </a:p>
        </p:txBody>
      </p:sp>
      <p:sp>
        <p:nvSpPr>
          <p:cNvPr id="9" name="TextBox 8"/>
          <p:cNvSpPr txBox="1"/>
          <p:nvPr/>
        </p:nvSpPr>
        <p:spPr>
          <a:xfrm>
            <a:off x="1133856" y="1792224"/>
            <a:ext cx="3493008" cy="566928"/>
          </a:xfrm>
          <a:prstGeom prst="rect">
            <a:avLst/>
          </a:prstGeom>
          <a:noFill/>
        </p:spPr>
        <p:txBody>
          <a:bodyPr wrap="square" lIns="0" rIns="0" tIns="0" bIns="0" anchor="ctr">
            <a:spAutoFit/>
          </a:bodyPr>
          <a:lstStyle/>
          <a:p>
            <a:pPr algn="l">
              <a:lnSpc>
                <a:spcPct val="116000"/>
              </a:lnSpc>
              <a:spcAft>
                <a:spcPts val="0"/>
              </a:spcAft>
            </a:pPr>
            <a:r>
              <a:rPr sz="1150" b="1" i="0">
                <a:solidFill>
                  <a:srgbClr val="0B0B0B"/>
                </a:solidFill>
                <a:latin typeface="Segoe UI"/>
              </a:rPr>
              <a:t>Attrition is an early-tenure phenomenon</a:t>
            </a:r>
          </a:p>
        </p:txBody>
      </p:sp>
      <p:sp>
        <p:nvSpPr>
          <p:cNvPr id="10" name="TextBox 9"/>
          <p:cNvSpPr txBox="1"/>
          <p:nvPr/>
        </p:nvSpPr>
        <p:spPr>
          <a:xfrm>
            <a:off x="4736592" y="1792224"/>
            <a:ext cx="3529584" cy="566928"/>
          </a:xfrm>
          <a:prstGeom prst="rect">
            <a:avLst/>
          </a:prstGeom>
          <a:noFill/>
        </p:spPr>
        <p:txBody>
          <a:bodyPr wrap="square" lIns="0" rIns="0" tIns="0" bIns="0" anchor="ctr">
            <a:spAutoFit/>
          </a:bodyPr>
          <a:lstStyle/>
          <a:p>
            <a:pPr algn="l">
              <a:lnSpc>
                <a:spcPct val="120000"/>
              </a:lnSpc>
              <a:spcAft>
                <a:spcPts val="0"/>
              </a:spcAft>
            </a:pPr>
            <a:r>
              <a:rPr sz="930" b="0" i="0">
                <a:solidFill>
                  <a:srgbClr val="52514E"/>
                </a:solidFill>
                <a:latin typeface="Segoe UI"/>
              </a:rPr>
              <a:t>29.82% in the first two years vs 8.13% after eleven; 27.91% in a first year in role; 28.32% in a first year with a manager; 43.90% in a first two years of career</a:t>
            </a:r>
          </a:p>
        </p:txBody>
      </p:sp>
      <p:sp>
        <p:nvSpPr>
          <p:cNvPr id="11" name="TextBox 10"/>
          <p:cNvSpPr txBox="1"/>
          <p:nvPr/>
        </p:nvSpPr>
        <p:spPr>
          <a:xfrm>
            <a:off x="8375903" y="1792224"/>
            <a:ext cx="3066257" cy="566928"/>
          </a:xfrm>
          <a:prstGeom prst="rect">
            <a:avLst/>
          </a:prstGeom>
          <a:noFill/>
        </p:spPr>
        <p:txBody>
          <a:bodyPr wrap="square" lIns="0" rIns="0" tIns="0" bIns="0" anchor="ctr">
            <a:spAutoFit/>
          </a:bodyPr>
          <a:lstStyle/>
          <a:p>
            <a:pPr algn="l">
              <a:lnSpc>
                <a:spcPct val="120000"/>
              </a:lnSpc>
              <a:spcAft>
                <a:spcPts val="0"/>
              </a:spcAft>
            </a:pPr>
            <a:r>
              <a:rPr sz="930" b="0" i="0">
                <a:solidFill>
                  <a:srgbClr val="52514E"/>
                </a:solidFill>
                <a:latin typeface="Segoe UI"/>
              </a:rPr>
              <a:t>The strongest result in the project — four independent tenure clocks agree, on large segments. Retention effort has a clear window.</a:t>
            </a:r>
          </a:p>
        </p:txBody>
      </p:sp>
      <p:sp>
        <p:nvSpPr>
          <p:cNvPr id="12" name="Rectangle 11"/>
          <p:cNvSpPr/>
          <p:nvPr/>
        </p:nvSpPr>
        <p:spPr>
          <a:xfrm>
            <a:off x="566928" y="2473452"/>
            <a:ext cx="11058113" cy="722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2473452"/>
            <a:ext cx="41148" cy="72237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68096" y="2656332"/>
            <a:ext cx="310896" cy="329184"/>
          </a:xfrm>
          <a:prstGeom prst="rect">
            <a:avLst/>
          </a:prstGeom>
          <a:noFill/>
        </p:spPr>
        <p:txBody>
          <a:bodyPr wrap="square" lIns="0" rIns="0" tIns="0" bIns="0" anchor="t">
            <a:spAutoFit/>
          </a:bodyPr>
          <a:lstStyle/>
          <a:p>
            <a:pPr algn="l">
              <a:lnSpc>
                <a:spcPct val="124000"/>
              </a:lnSpc>
              <a:spcAft>
                <a:spcPts val="0"/>
              </a:spcAft>
            </a:pPr>
            <a:r>
              <a:rPr sz="1700" b="1" i="0">
                <a:solidFill>
                  <a:srgbClr val="2A78D6"/>
                </a:solidFill>
                <a:latin typeface="Segoe UI"/>
              </a:rPr>
              <a:t>2</a:t>
            </a:r>
          </a:p>
        </p:txBody>
      </p:sp>
      <p:sp>
        <p:nvSpPr>
          <p:cNvPr id="15" name="TextBox 14"/>
          <p:cNvSpPr txBox="1"/>
          <p:nvPr/>
        </p:nvSpPr>
        <p:spPr>
          <a:xfrm>
            <a:off x="1133856" y="2564892"/>
            <a:ext cx="3493008" cy="566928"/>
          </a:xfrm>
          <a:prstGeom prst="rect">
            <a:avLst/>
          </a:prstGeom>
          <a:noFill/>
        </p:spPr>
        <p:txBody>
          <a:bodyPr wrap="square" lIns="0" rIns="0" tIns="0" bIns="0" anchor="ctr">
            <a:spAutoFit/>
          </a:bodyPr>
          <a:lstStyle/>
          <a:p>
            <a:pPr algn="l">
              <a:lnSpc>
                <a:spcPct val="116000"/>
              </a:lnSpc>
              <a:spcAft>
                <a:spcPts val="0"/>
              </a:spcAft>
            </a:pPr>
            <a:r>
              <a:rPr sz="1150" b="1" i="0">
                <a:solidFill>
                  <a:srgbClr val="0B0B0B"/>
                </a:solidFill>
                <a:latin typeface="Segoe UI"/>
              </a:rPr>
              <a:t>Seniority travels with staying</a:t>
            </a:r>
          </a:p>
        </p:txBody>
      </p:sp>
      <p:sp>
        <p:nvSpPr>
          <p:cNvPr id="16" name="TextBox 15"/>
          <p:cNvSpPr txBox="1"/>
          <p:nvPr/>
        </p:nvSpPr>
        <p:spPr>
          <a:xfrm>
            <a:off x="4736592" y="2564892"/>
            <a:ext cx="3529584" cy="566928"/>
          </a:xfrm>
          <a:prstGeom prst="rect">
            <a:avLst/>
          </a:prstGeom>
          <a:noFill/>
        </p:spPr>
        <p:txBody>
          <a:bodyPr wrap="square" lIns="0" rIns="0" tIns="0" bIns="0" anchor="ctr">
            <a:spAutoFit/>
          </a:bodyPr>
          <a:lstStyle/>
          <a:p>
            <a:pPr algn="l">
              <a:lnSpc>
                <a:spcPct val="120000"/>
              </a:lnSpc>
              <a:spcAft>
                <a:spcPts val="0"/>
              </a:spcAft>
            </a:pPr>
            <a:r>
              <a:rPr sz="930" b="0" i="0">
                <a:solidFill>
                  <a:srgbClr val="52514E"/>
                </a:solidFill>
                <a:latin typeface="Segoe UI"/>
              </a:rPr>
              <a:t>Job level 1: 26.34% on 543 employees, +55 excess departures. Levels 2–5 all below baseline, down to 4.72%</a:t>
            </a:r>
          </a:p>
        </p:txBody>
      </p:sp>
      <p:sp>
        <p:nvSpPr>
          <p:cNvPr id="17" name="TextBox 16"/>
          <p:cNvSpPr txBox="1"/>
          <p:nvPr/>
        </p:nvSpPr>
        <p:spPr>
          <a:xfrm>
            <a:off x="8375903" y="2564892"/>
            <a:ext cx="3066257" cy="566928"/>
          </a:xfrm>
          <a:prstGeom prst="rect">
            <a:avLst/>
          </a:prstGeom>
          <a:noFill/>
        </p:spPr>
        <p:txBody>
          <a:bodyPr wrap="square" lIns="0" rIns="0" tIns="0" bIns="0" anchor="ctr">
            <a:spAutoFit/>
          </a:bodyPr>
          <a:lstStyle/>
          <a:p>
            <a:pPr algn="l">
              <a:lnSpc>
                <a:spcPct val="120000"/>
              </a:lnSpc>
              <a:spcAft>
                <a:spcPts val="0"/>
              </a:spcAft>
            </a:pPr>
            <a:r>
              <a:rPr sz="930" b="0" i="0">
                <a:solidFill>
                  <a:srgbClr val="52514E"/>
                </a:solidFill>
                <a:latin typeface="Segoe UI"/>
              </a:rPr>
              <a:t>The largest excess of any single segment. Entry level is where the volume of preventable loss sits.</a:t>
            </a:r>
          </a:p>
        </p:txBody>
      </p:sp>
      <p:sp>
        <p:nvSpPr>
          <p:cNvPr id="18" name="Rectangle 17"/>
          <p:cNvSpPr/>
          <p:nvPr/>
        </p:nvSpPr>
        <p:spPr>
          <a:xfrm>
            <a:off x="566928" y="3246120"/>
            <a:ext cx="11058113" cy="722376"/>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3246120"/>
            <a:ext cx="41148" cy="72237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8096" y="3429000"/>
            <a:ext cx="310896" cy="329184"/>
          </a:xfrm>
          <a:prstGeom prst="rect">
            <a:avLst/>
          </a:prstGeom>
          <a:noFill/>
        </p:spPr>
        <p:txBody>
          <a:bodyPr wrap="square" lIns="0" rIns="0" tIns="0" bIns="0" anchor="t">
            <a:spAutoFit/>
          </a:bodyPr>
          <a:lstStyle/>
          <a:p>
            <a:pPr algn="l">
              <a:lnSpc>
                <a:spcPct val="124000"/>
              </a:lnSpc>
              <a:spcAft>
                <a:spcPts val="0"/>
              </a:spcAft>
            </a:pPr>
            <a:r>
              <a:rPr sz="1700" b="1" i="0">
                <a:solidFill>
                  <a:srgbClr val="2A78D6"/>
                </a:solidFill>
                <a:latin typeface="Segoe UI"/>
              </a:rPr>
              <a:t>3</a:t>
            </a:r>
          </a:p>
        </p:txBody>
      </p:sp>
      <p:sp>
        <p:nvSpPr>
          <p:cNvPr id="21" name="TextBox 20"/>
          <p:cNvSpPr txBox="1"/>
          <p:nvPr/>
        </p:nvSpPr>
        <p:spPr>
          <a:xfrm>
            <a:off x="1133856" y="3337560"/>
            <a:ext cx="3493008" cy="566928"/>
          </a:xfrm>
          <a:prstGeom prst="rect">
            <a:avLst/>
          </a:prstGeom>
          <a:noFill/>
        </p:spPr>
        <p:txBody>
          <a:bodyPr wrap="square" lIns="0" rIns="0" tIns="0" bIns="0" anchor="ctr">
            <a:spAutoFit/>
          </a:bodyPr>
          <a:lstStyle/>
          <a:p>
            <a:pPr algn="l">
              <a:lnSpc>
                <a:spcPct val="116000"/>
              </a:lnSpc>
              <a:spcAft>
                <a:spcPts val="0"/>
              </a:spcAft>
            </a:pPr>
            <a:r>
              <a:rPr sz="1150" b="1" i="0">
                <a:solidFill>
                  <a:srgbClr val="0B0B0B"/>
                </a:solidFill>
                <a:latin typeface="Segoe UI"/>
              </a:rPr>
              <a:t>Overtime carries the largest single-condition gap</a:t>
            </a:r>
          </a:p>
        </p:txBody>
      </p:sp>
      <p:sp>
        <p:nvSpPr>
          <p:cNvPr id="22" name="TextBox 21"/>
          <p:cNvSpPr txBox="1"/>
          <p:nvPr/>
        </p:nvSpPr>
        <p:spPr>
          <a:xfrm>
            <a:off x="4736592" y="3337560"/>
            <a:ext cx="3529584" cy="566928"/>
          </a:xfrm>
          <a:prstGeom prst="rect">
            <a:avLst/>
          </a:prstGeom>
          <a:noFill/>
        </p:spPr>
        <p:txBody>
          <a:bodyPr wrap="square" lIns="0" rIns="0" tIns="0" bIns="0" anchor="ctr">
            <a:spAutoFit/>
          </a:bodyPr>
          <a:lstStyle/>
          <a:p>
            <a:pPr algn="l">
              <a:lnSpc>
                <a:spcPct val="120000"/>
              </a:lnSpc>
              <a:spcAft>
                <a:spcPts val="0"/>
              </a:spcAft>
            </a:pPr>
            <a:r>
              <a:rPr sz="930" b="0" i="0">
                <a:solidFill>
                  <a:srgbClr val="52514E"/>
                </a:solidFill>
                <a:latin typeface="Segoe UI"/>
              </a:rPr>
              <a:t>30.53% of 416 employees working overtime left, vs 10.44% of 1,054 who did not — +14.4 pp; largest positive model coefficient at +1.80</a:t>
            </a:r>
          </a:p>
        </p:txBody>
      </p:sp>
      <p:sp>
        <p:nvSpPr>
          <p:cNvPr id="23" name="TextBox 22"/>
          <p:cNvSpPr txBox="1"/>
          <p:nvPr/>
        </p:nvSpPr>
        <p:spPr>
          <a:xfrm>
            <a:off x="8375903" y="3337560"/>
            <a:ext cx="3066257" cy="566928"/>
          </a:xfrm>
          <a:prstGeom prst="rect">
            <a:avLst/>
          </a:prstGeom>
          <a:noFill/>
        </p:spPr>
        <p:txBody>
          <a:bodyPr wrap="square" lIns="0" rIns="0" tIns="0" bIns="0" anchor="ctr">
            <a:spAutoFit/>
          </a:bodyPr>
          <a:lstStyle/>
          <a:p>
            <a:pPr algn="l">
              <a:lnSpc>
                <a:spcPct val="120000"/>
              </a:lnSpc>
              <a:spcAft>
                <a:spcPts val="0"/>
              </a:spcAft>
            </a:pPr>
            <a:r>
              <a:rPr sz="930" b="0" i="0">
                <a:solidFill>
                  <a:srgbClr val="52514E"/>
                </a:solidFill>
                <a:latin typeface="Segoe UI"/>
              </a:rPr>
              <a:t>Both the descriptive rates and the fitted model agree, on a large group. The most actionable-looking association in the data.</a:t>
            </a:r>
          </a:p>
        </p:txBody>
      </p:sp>
      <p:sp>
        <p:nvSpPr>
          <p:cNvPr id="24" name="Rectangle 23"/>
          <p:cNvSpPr/>
          <p:nvPr/>
        </p:nvSpPr>
        <p:spPr>
          <a:xfrm>
            <a:off x="566928" y="4018788"/>
            <a:ext cx="11058113" cy="722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566928" y="4018788"/>
            <a:ext cx="41148" cy="72237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8096" y="4201668"/>
            <a:ext cx="310896" cy="329184"/>
          </a:xfrm>
          <a:prstGeom prst="rect">
            <a:avLst/>
          </a:prstGeom>
          <a:noFill/>
        </p:spPr>
        <p:txBody>
          <a:bodyPr wrap="square" lIns="0" rIns="0" tIns="0" bIns="0" anchor="t">
            <a:spAutoFit/>
          </a:bodyPr>
          <a:lstStyle/>
          <a:p>
            <a:pPr algn="l">
              <a:lnSpc>
                <a:spcPct val="124000"/>
              </a:lnSpc>
              <a:spcAft>
                <a:spcPts val="0"/>
              </a:spcAft>
            </a:pPr>
            <a:r>
              <a:rPr sz="1700" b="1" i="0">
                <a:solidFill>
                  <a:srgbClr val="2A78D6"/>
                </a:solidFill>
                <a:latin typeface="Segoe UI"/>
              </a:rPr>
              <a:t>4</a:t>
            </a:r>
          </a:p>
        </p:txBody>
      </p:sp>
      <p:sp>
        <p:nvSpPr>
          <p:cNvPr id="27" name="TextBox 26"/>
          <p:cNvSpPr txBox="1"/>
          <p:nvPr/>
        </p:nvSpPr>
        <p:spPr>
          <a:xfrm>
            <a:off x="1133856" y="4110228"/>
            <a:ext cx="3493008" cy="566928"/>
          </a:xfrm>
          <a:prstGeom prst="rect">
            <a:avLst/>
          </a:prstGeom>
          <a:noFill/>
        </p:spPr>
        <p:txBody>
          <a:bodyPr wrap="square" lIns="0" rIns="0" tIns="0" bIns="0" anchor="ctr">
            <a:spAutoFit/>
          </a:bodyPr>
          <a:lstStyle/>
          <a:p>
            <a:pPr algn="l">
              <a:lnSpc>
                <a:spcPct val="116000"/>
              </a:lnSpc>
              <a:spcAft>
                <a:spcPts val="0"/>
              </a:spcAft>
            </a:pPr>
            <a:r>
              <a:rPr sz="1150" b="1" i="0">
                <a:solidFill>
                  <a:srgbClr val="0B0B0B"/>
                </a:solidFill>
                <a:latin typeface="Segoe UI"/>
              </a:rPr>
              <a:t>Attrition concentrates in specific operational roles</a:t>
            </a:r>
          </a:p>
        </p:txBody>
      </p:sp>
      <p:sp>
        <p:nvSpPr>
          <p:cNvPr id="28" name="TextBox 27"/>
          <p:cNvSpPr txBox="1"/>
          <p:nvPr/>
        </p:nvSpPr>
        <p:spPr>
          <a:xfrm>
            <a:off x="4736592" y="4110228"/>
            <a:ext cx="3529584" cy="566928"/>
          </a:xfrm>
          <a:prstGeom prst="rect">
            <a:avLst/>
          </a:prstGeom>
          <a:noFill/>
        </p:spPr>
        <p:txBody>
          <a:bodyPr wrap="square" lIns="0" rIns="0" tIns="0" bIns="0" anchor="ctr">
            <a:spAutoFit/>
          </a:bodyPr>
          <a:lstStyle/>
          <a:p>
            <a:pPr algn="l">
              <a:lnSpc>
                <a:spcPct val="120000"/>
              </a:lnSpc>
              <a:spcAft>
                <a:spcPts val="0"/>
              </a:spcAft>
            </a:pPr>
            <a:r>
              <a:rPr sz="930" b="0" i="0">
                <a:solidFill>
                  <a:srgbClr val="52514E"/>
                </a:solidFill>
                <a:latin typeface="Segoe UI"/>
              </a:rPr>
              <a:t>Sales Representative 39.76% (2.47× baseline); Laboratory Technician 23.94%; both ~+20 excess departures</a:t>
            </a:r>
          </a:p>
        </p:txBody>
      </p:sp>
      <p:sp>
        <p:nvSpPr>
          <p:cNvPr id="29" name="TextBox 28"/>
          <p:cNvSpPr txBox="1"/>
          <p:nvPr/>
        </p:nvSpPr>
        <p:spPr>
          <a:xfrm>
            <a:off x="8375903" y="4110228"/>
            <a:ext cx="3066257" cy="566928"/>
          </a:xfrm>
          <a:prstGeom prst="rect">
            <a:avLst/>
          </a:prstGeom>
          <a:noFill/>
        </p:spPr>
        <p:txBody>
          <a:bodyPr wrap="square" lIns="0" rIns="0" tIns="0" bIns="0" anchor="ctr">
            <a:spAutoFit/>
          </a:bodyPr>
          <a:lstStyle/>
          <a:p>
            <a:pPr algn="l">
              <a:lnSpc>
                <a:spcPct val="120000"/>
              </a:lnSpc>
              <a:spcAft>
                <a:spcPts val="0"/>
              </a:spcAft>
            </a:pPr>
            <a:r>
              <a:rPr sz="930" b="0" i="0">
                <a:solidFill>
                  <a:srgbClr val="52514E"/>
                </a:solidFill>
                <a:latin typeface="Segoe UI"/>
              </a:rPr>
              <a:t>Rate and volume point to different roles, so targeting needs both views. These are also largely entry-level roles.</a:t>
            </a:r>
          </a:p>
        </p:txBody>
      </p:sp>
      <p:sp>
        <p:nvSpPr>
          <p:cNvPr id="30" name="Rectangle 29"/>
          <p:cNvSpPr/>
          <p:nvPr/>
        </p:nvSpPr>
        <p:spPr>
          <a:xfrm>
            <a:off x="566928" y="4791456"/>
            <a:ext cx="11058113" cy="722376"/>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566928" y="4791456"/>
            <a:ext cx="41148" cy="722376"/>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68096" y="4974336"/>
            <a:ext cx="310896" cy="329184"/>
          </a:xfrm>
          <a:prstGeom prst="rect">
            <a:avLst/>
          </a:prstGeom>
          <a:noFill/>
        </p:spPr>
        <p:txBody>
          <a:bodyPr wrap="square" lIns="0" rIns="0" tIns="0" bIns="0" anchor="t">
            <a:spAutoFit/>
          </a:bodyPr>
          <a:lstStyle/>
          <a:p>
            <a:pPr algn="l">
              <a:lnSpc>
                <a:spcPct val="124000"/>
              </a:lnSpc>
              <a:spcAft>
                <a:spcPts val="0"/>
              </a:spcAft>
            </a:pPr>
            <a:r>
              <a:rPr sz="1700" b="1" i="0">
                <a:solidFill>
                  <a:srgbClr val="898781"/>
                </a:solidFill>
                <a:latin typeface="Segoe UI"/>
              </a:rPr>
              <a:t>5</a:t>
            </a:r>
          </a:p>
        </p:txBody>
      </p:sp>
      <p:sp>
        <p:nvSpPr>
          <p:cNvPr id="33" name="TextBox 32"/>
          <p:cNvSpPr txBox="1"/>
          <p:nvPr/>
        </p:nvSpPr>
        <p:spPr>
          <a:xfrm>
            <a:off x="1133856" y="4882896"/>
            <a:ext cx="3493008" cy="566928"/>
          </a:xfrm>
          <a:prstGeom prst="rect">
            <a:avLst/>
          </a:prstGeom>
          <a:noFill/>
        </p:spPr>
        <p:txBody>
          <a:bodyPr wrap="square" lIns="0" rIns="0" tIns="0" bIns="0" anchor="ctr">
            <a:spAutoFit/>
          </a:bodyPr>
          <a:lstStyle/>
          <a:p>
            <a:pPr algn="l">
              <a:lnSpc>
                <a:spcPct val="116000"/>
              </a:lnSpc>
              <a:spcAft>
                <a:spcPts val="0"/>
              </a:spcAft>
            </a:pPr>
            <a:r>
              <a:rPr sz="1150" b="1" i="0">
                <a:solidFill>
                  <a:srgbClr val="0B0B0B"/>
                </a:solidFill>
                <a:latin typeface="Segoe UI"/>
              </a:rPr>
              <a:t>Lower pay is associated with leaving</a:t>
            </a:r>
          </a:p>
        </p:txBody>
      </p:sp>
      <p:sp>
        <p:nvSpPr>
          <p:cNvPr id="34" name="TextBox 33"/>
          <p:cNvSpPr txBox="1"/>
          <p:nvPr/>
        </p:nvSpPr>
        <p:spPr>
          <a:xfrm>
            <a:off x="4736592" y="4882896"/>
            <a:ext cx="3529584" cy="566928"/>
          </a:xfrm>
          <a:prstGeom prst="rect">
            <a:avLst/>
          </a:prstGeom>
          <a:noFill/>
        </p:spPr>
        <p:txBody>
          <a:bodyPr wrap="square" lIns="0" rIns="0" tIns="0" bIns="0" anchor="ctr">
            <a:spAutoFit/>
          </a:bodyPr>
          <a:lstStyle/>
          <a:p>
            <a:pPr algn="l">
              <a:lnSpc>
                <a:spcPct val="120000"/>
              </a:lnSpc>
              <a:spcAft>
                <a:spcPts val="0"/>
              </a:spcAft>
            </a:pPr>
            <a:r>
              <a:rPr sz="930" b="0" i="0">
                <a:solidFill>
                  <a:srgbClr val="52514E"/>
                </a:solidFill>
                <a:latin typeface="Segoe UI"/>
              </a:rPr>
              <a:t>Lowest income quartile (≤$2,911): 29.27% vs 10.34% in the top quartile; correlation −0.160</a:t>
            </a:r>
          </a:p>
        </p:txBody>
      </p:sp>
      <p:sp>
        <p:nvSpPr>
          <p:cNvPr id="35" name="TextBox 34"/>
          <p:cNvSpPr txBox="1"/>
          <p:nvPr/>
        </p:nvSpPr>
        <p:spPr>
          <a:xfrm>
            <a:off x="8375903" y="4882896"/>
            <a:ext cx="3066257" cy="566928"/>
          </a:xfrm>
          <a:prstGeom prst="rect">
            <a:avLst/>
          </a:prstGeom>
          <a:noFill/>
        </p:spPr>
        <p:txBody>
          <a:bodyPr wrap="square" lIns="0" rIns="0" tIns="0" bIns="0" anchor="ctr">
            <a:spAutoFit/>
          </a:bodyPr>
          <a:lstStyle/>
          <a:p>
            <a:pPr algn="l">
              <a:lnSpc>
                <a:spcPct val="120000"/>
              </a:lnSpc>
              <a:spcAft>
                <a:spcPts val="0"/>
              </a:spcAft>
            </a:pPr>
            <a:r>
              <a:rPr sz="930" b="0" i="0">
                <a:solidFill>
                  <a:srgbClr val="52514E"/>
                </a:solidFill>
                <a:latin typeface="Segoe UI"/>
              </a:rPr>
              <a:t>Real as a gap, but heavily confounded with level and tenure — the analysis did not control for them.</a:t>
            </a:r>
          </a:p>
        </p:txBody>
      </p:sp>
      <p:sp>
        <p:nvSpPr>
          <p:cNvPr id="36" name="Rectangle 35"/>
          <p:cNvSpPr/>
          <p:nvPr/>
        </p:nvSpPr>
        <p:spPr>
          <a:xfrm>
            <a:off x="566928" y="5564124"/>
            <a:ext cx="11058113" cy="722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566928" y="5564124"/>
            <a:ext cx="41148" cy="722376"/>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768096" y="5747004"/>
            <a:ext cx="310896" cy="329184"/>
          </a:xfrm>
          <a:prstGeom prst="rect">
            <a:avLst/>
          </a:prstGeom>
          <a:noFill/>
        </p:spPr>
        <p:txBody>
          <a:bodyPr wrap="square" lIns="0" rIns="0" tIns="0" bIns="0" anchor="t">
            <a:spAutoFit/>
          </a:bodyPr>
          <a:lstStyle/>
          <a:p>
            <a:pPr algn="l">
              <a:lnSpc>
                <a:spcPct val="124000"/>
              </a:lnSpc>
              <a:spcAft>
                <a:spcPts val="0"/>
              </a:spcAft>
            </a:pPr>
            <a:r>
              <a:rPr sz="1700" b="1" i="0">
                <a:solidFill>
                  <a:srgbClr val="898781"/>
                </a:solidFill>
                <a:latin typeface="Segoe UI"/>
              </a:rPr>
              <a:t>6</a:t>
            </a:r>
          </a:p>
        </p:txBody>
      </p:sp>
      <p:sp>
        <p:nvSpPr>
          <p:cNvPr id="39" name="TextBox 38"/>
          <p:cNvSpPr txBox="1"/>
          <p:nvPr/>
        </p:nvSpPr>
        <p:spPr>
          <a:xfrm>
            <a:off x="1133856" y="5655564"/>
            <a:ext cx="3493008" cy="566928"/>
          </a:xfrm>
          <a:prstGeom prst="rect">
            <a:avLst/>
          </a:prstGeom>
          <a:noFill/>
        </p:spPr>
        <p:txBody>
          <a:bodyPr wrap="square" lIns="0" rIns="0" tIns="0" bIns="0" anchor="ctr">
            <a:spAutoFit/>
          </a:bodyPr>
          <a:lstStyle/>
          <a:p>
            <a:pPr algn="l">
              <a:lnSpc>
                <a:spcPct val="116000"/>
              </a:lnSpc>
              <a:spcAft>
                <a:spcPts val="0"/>
              </a:spcAft>
            </a:pPr>
            <a:r>
              <a:rPr sz="1150" b="1" i="0">
                <a:solidFill>
                  <a:srgbClr val="0B0B0B"/>
                </a:solidFill>
                <a:latin typeface="Segoe UI"/>
              </a:rPr>
              <a:t>Low satisfaction shifts the rate, but modestly</a:t>
            </a:r>
          </a:p>
        </p:txBody>
      </p:sp>
      <p:sp>
        <p:nvSpPr>
          <p:cNvPr id="40" name="TextBox 39"/>
          <p:cNvSpPr txBox="1"/>
          <p:nvPr/>
        </p:nvSpPr>
        <p:spPr>
          <a:xfrm>
            <a:off x="4736592" y="5655564"/>
            <a:ext cx="3529584" cy="566928"/>
          </a:xfrm>
          <a:prstGeom prst="rect">
            <a:avLst/>
          </a:prstGeom>
          <a:noFill/>
        </p:spPr>
        <p:txBody>
          <a:bodyPr wrap="square" lIns="0" rIns="0" tIns="0" bIns="0" anchor="ctr">
            <a:spAutoFit/>
          </a:bodyPr>
          <a:lstStyle/>
          <a:p>
            <a:pPr algn="l">
              <a:lnSpc>
                <a:spcPct val="120000"/>
              </a:lnSpc>
              <a:spcAft>
                <a:spcPts val="0"/>
              </a:spcAft>
            </a:pPr>
            <a:r>
              <a:rPr sz="930" b="0" i="0">
                <a:solidFill>
                  <a:srgbClr val="52514E"/>
                </a:solidFill>
                <a:latin typeface="Segoe UI"/>
              </a:rPr>
              <a:t>Job involvement low 21.6% vs high 9.0%; environment satisfaction 20.1% vs 13.5%; job satisfaction 19.7% vs 11.3%</a:t>
            </a:r>
          </a:p>
        </p:txBody>
      </p:sp>
      <p:sp>
        <p:nvSpPr>
          <p:cNvPr id="41" name="TextBox 40"/>
          <p:cNvSpPr txBox="1"/>
          <p:nvPr/>
        </p:nvSpPr>
        <p:spPr>
          <a:xfrm>
            <a:off x="8375903" y="5655564"/>
            <a:ext cx="3066257" cy="566928"/>
          </a:xfrm>
          <a:prstGeom prst="rect">
            <a:avLst/>
          </a:prstGeom>
          <a:noFill/>
        </p:spPr>
        <p:txBody>
          <a:bodyPr wrap="square" lIns="0" rIns="0" tIns="0" bIns="0" anchor="ctr">
            <a:spAutoFit/>
          </a:bodyPr>
          <a:lstStyle/>
          <a:p>
            <a:pPr algn="l">
              <a:lnSpc>
                <a:spcPct val="120000"/>
              </a:lnSpc>
              <a:spcAft>
                <a:spcPts val="0"/>
              </a:spcAft>
            </a:pPr>
            <a:r>
              <a:rPr sz="930" b="0" i="0">
                <a:solidFill>
                  <a:srgbClr val="52514E"/>
                </a:solidFill>
                <a:latin typeface="Segoe UI"/>
              </a:rPr>
              <a:t>Directionally consistent across all four survey scales, but every correlation is under 0.13 — weaker than tenure or overtime.</a:t>
            </a:r>
          </a:p>
        </p:txBody>
      </p:sp>
      <p:sp>
        <p:nvSpPr>
          <p:cNvPr id="42" name="TextBox 41"/>
          <p:cNvSpPr txBox="1"/>
          <p:nvPr/>
        </p:nvSpPr>
        <p:spPr>
          <a:xfrm>
            <a:off x="1133856" y="1463040"/>
            <a:ext cx="11058113" cy="201168"/>
          </a:xfrm>
          <a:prstGeom prst="rect">
            <a:avLst/>
          </a:prstGeom>
          <a:noFill/>
        </p:spPr>
        <p:txBody>
          <a:bodyPr wrap="square" lIns="0" rIns="0" tIns="0" bIns="0" anchor="t">
            <a:spAutoFit/>
          </a:bodyPr>
          <a:lstStyle/>
          <a:p>
            <a:pPr algn="l">
              <a:lnSpc>
                <a:spcPct val="124000"/>
              </a:lnSpc>
              <a:spcAft>
                <a:spcPts val="0"/>
              </a:spcAft>
            </a:pPr>
            <a:r>
              <a:rPr sz="850" b="1" i="0">
                <a:solidFill>
                  <a:srgbClr val="898781"/>
                </a:solidFill>
                <a:latin typeface="Segoe UI"/>
              </a:rPr>
              <a:t>FINDING</a:t>
            </a:r>
          </a:p>
        </p:txBody>
      </p:sp>
      <p:sp>
        <p:nvSpPr>
          <p:cNvPr id="43" name="TextBox 42"/>
          <p:cNvSpPr txBox="1"/>
          <p:nvPr/>
        </p:nvSpPr>
        <p:spPr>
          <a:xfrm>
            <a:off x="4736592" y="1463040"/>
            <a:ext cx="3566160" cy="201168"/>
          </a:xfrm>
          <a:prstGeom prst="rect">
            <a:avLst/>
          </a:prstGeom>
          <a:noFill/>
        </p:spPr>
        <p:txBody>
          <a:bodyPr wrap="square" lIns="0" rIns="0" tIns="0" bIns="0" anchor="t">
            <a:spAutoFit/>
          </a:bodyPr>
          <a:lstStyle/>
          <a:p>
            <a:pPr algn="l">
              <a:lnSpc>
                <a:spcPct val="124000"/>
              </a:lnSpc>
              <a:spcAft>
                <a:spcPts val="0"/>
              </a:spcAft>
            </a:pPr>
            <a:r>
              <a:rPr sz="850" b="1" i="0">
                <a:solidFill>
                  <a:srgbClr val="898781"/>
                </a:solidFill>
                <a:latin typeface="Segoe UI"/>
              </a:rPr>
              <a:t>EVIDENCE</a:t>
            </a:r>
          </a:p>
        </p:txBody>
      </p:sp>
      <p:sp>
        <p:nvSpPr>
          <p:cNvPr id="44" name="TextBox 43"/>
          <p:cNvSpPr txBox="1"/>
          <p:nvPr/>
        </p:nvSpPr>
        <p:spPr>
          <a:xfrm>
            <a:off x="8375903" y="1463040"/>
            <a:ext cx="3566160" cy="201168"/>
          </a:xfrm>
          <a:prstGeom prst="rect">
            <a:avLst/>
          </a:prstGeom>
          <a:noFill/>
        </p:spPr>
        <p:txBody>
          <a:bodyPr wrap="square" lIns="0" rIns="0" tIns="0" bIns="0" anchor="t">
            <a:spAutoFit/>
          </a:bodyPr>
          <a:lstStyle/>
          <a:p>
            <a:pPr algn="l">
              <a:lnSpc>
                <a:spcPct val="124000"/>
              </a:lnSpc>
              <a:spcAft>
                <a:spcPts val="0"/>
              </a:spcAft>
            </a:pPr>
            <a:r>
              <a:rPr sz="850" b="1" i="0">
                <a:solidFill>
                  <a:srgbClr val="898781"/>
                </a:solidFill>
                <a:latin typeface="Segoe UI"/>
              </a:rPr>
              <a:t>INTERPRETATION</a:t>
            </a:r>
          </a:p>
        </p:txBody>
      </p:sp>
      <p:sp>
        <p:nvSpPr>
          <p:cNvPr id="45" name="Rectangle 44"/>
          <p:cNvSpPr/>
          <p:nvPr/>
        </p:nvSpPr>
        <p:spPr>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566928" y="6455664"/>
            <a:ext cx="7961841" cy="219456"/>
          </a:xfrm>
          <a:prstGeom prst="rect">
            <a:avLst/>
          </a:prstGeom>
          <a:noFill/>
        </p:spPr>
        <p:txBody>
          <a:bodyPr wrap="square" lIns="0" rIns="0" tIns="0" bIns="0" anchor="t">
            <a:spAutoFit/>
          </a:bodyPr>
          <a:lstStyle/>
          <a:p>
            <a:pPr algn="l">
              <a:lnSpc>
                <a:spcPct val="124000"/>
              </a:lnSpc>
              <a:spcAft>
                <a:spcPts val="0"/>
              </a:spcAft>
            </a:pPr>
            <a:r>
              <a:rPr sz="850" b="0" i="0">
                <a:solidFill>
                  <a:srgbClr val="898781"/>
                </a:solidFill>
                <a:latin typeface="Segoe UI"/>
              </a:rPr>
              <a:t>notebooks/05, 08, 10</a:t>
            </a:r>
          </a:p>
        </p:txBody>
      </p:sp>
      <p:sp>
        <p:nvSpPr>
          <p:cNvPr id="47" name="TextBox 46"/>
          <p:cNvSpPr txBox="1"/>
          <p:nvPr/>
        </p:nvSpPr>
        <p:spPr>
          <a:xfrm>
            <a:off x="8749932" y="6455664"/>
            <a:ext cx="2875109" cy="219456"/>
          </a:xfrm>
          <a:prstGeom prst="rect">
            <a:avLst/>
          </a:prstGeom>
          <a:noFill/>
        </p:spPr>
        <p:txBody>
          <a:bodyPr wrap="square" lIns="0" rIns="0" tIns="0" bIns="0" anchor="t">
            <a:spAutoFit/>
          </a:bodyPr>
          <a:lstStyle/>
          <a:p>
            <a:pPr algn="r">
              <a:lnSpc>
                <a:spcPct val="124000"/>
              </a:lnSpc>
              <a:spcAft>
                <a:spcPts val="0"/>
              </a:spcAft>
            </a:pPr>
            <a:r>
              <a:rPr sz="850" b="0" i="0">
                <a:solidFill>
                  <a:srgbClr val="898781"/>
                </a:solidFill>
                <a:latin typeface="Segoe U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8113" cy="219456"/>
          </a:xfrm>
          <a:prstGeom prst="rect">
            <a:avLst/>
          </a:prstGeom>
          <a:noFill/>
        </p:spPr>
        <p:txBody>
          <a:bodyPr wrap="square" lIns="0" rIns="0" tIns="0" bIns="0" anchor="t">
            <a:spAutoFit/>
          </a:bodyPr>
          <a:lstStyle/>
          <a:p>
            <a:pPr algn="l">
              <a:lnSpc>
                <a:spcPct val="124000"/>
              </a:lnSpc>
              <a:spcAft>
                <a:spcPts val="0"/>
              </a:spcAft>
            </a:pPr>
            <a:r>
              <a:rPr sz="950" b="1" i="0">
                <a:solidFill>
                  <a:srgbClr val="2A78D6"/>
                </a:solidFill>
                <a:latin typeface="Segoe UI"/>
              </a:rPr>
              <a:t>SYNTHESIS</a:t>
            </a:r>
          </a:p>
        </p:txBody>
      </p:sp>
      <p:sp>
        <p:nvSpPr>
          <p:cNvPr id="3" name="TextBox 2"/>
          <p:cNvSpPr txBox="1"/>
          <p:nvPr/>
        </p:nvSpPr>
        <p:spPr>
          <a:xfrm>
            <a:off x="566928" y="603504"/>
            <a:ext cx="11058113" cy="475488"/>
          </a:xfrm>
          <a:prstGeom prst="rect">
            <a:avLst/>
          </a:prstGeom>
          <a:noFill/>
        </p:spPr>
        <p:txBody>
          <a:bodyPr wrap="square" lIns="0" rIns="0" tIns="0" bIns="0" anchor="t">
            <a:spAutoFit/>
          </a:bodyPr>
          <a:lstStyle/>
          <a:p>
            <a:pPr algn="l">
              <a:lnSpc>
                <a:spcPct val="124000"/>
              </a:lnSpc>
              <a:spcAft>
                <a:spcPts val="0"/>
              </a:spcAft>
            </a:pPr>
            <a:r>
              <a:rPr sz="2500" b="1" i="0">
                <a:solidFill>
                  <a:srgbClr val="0B0B0B"/>
                </a:solidFill>
                <a:latin typeface="Segoe UI"/>
              </a:rPr>
              <a:t>Attrition risk patterns</a:t>
            </a:r>
          </a:p>
        </p:txBody>
      </p:sp>
      <p:sp>
        <p:nvSpPr>
          <p:cNvPr id="4" name="TextBox 3"/>
          <p:cNvSpPr txBox="1"/>
          <p:nvPr/>
        </p:nvSpPr>
        <p:spPr>
          <a:xfrm>
            <a:off x="566928" y="1106424"/>
            <a:ext cx="11058113" cy="274320"/>
          </a:xfrm>
          <a:prstGeom prst="rect">
            <a:avLst/>
          </a:prstGeom>
          <a:noFill/>
        </p:spPr>
        <p:txBody>
          <a:bodyPr wrap="square" lIns="0" rIns="0" tIns="0" bIns="0" anchor="t">
            <a:spAutoFit/>
          </a:bodyPr>
          <a:lstStyle/>
          <a:p>
            <a:pPr algn="l">
              <a:lnSpc>
                <a:spcPct val="124000"/>
              </a:lnSpc>
              <a:spcAft>
                <a:spcPts val="0"/>
              </a:spcAft>
            </a:pPr>
            <a:r>
              <a:rPr sz="1250" b="0" i="0">
                <a:solidFill>
                  <a:srgbClr val="52514E"/>
                </a:solidFill>
                <a:latin typeface="Segoe UI"/>
              </a:rPr>
              <a:t>Every segment shown was measured in notebook 05 or 08; headcount is printed beside each rate because a rate on 83 people is a weaker claim than the same rate on 543.</a:t>
            </a:r>
          </a:p>
        </p:txBody>
      </p:sp>
      <p:sp>
        <p:nvSpPr>
          <p:cNvPr id="5" name="Rectangle 4"/>
          <p:cNvSpPr/>
          <p:nvPr/>
        </p:nvSpPr>
        <p:spPr>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risk_patterns.png"/>
          <p:cNvPicPr>
            <a:picLocks noChangeAspect="1"/>
          </p:cNvPicPr>
          <p:nvPr/>
        </p:nvPicPr>
        <p:blipFill>
          <a:blip r:embed="rId2"/>
          <a:stretch>
            <a:fillRect/>
          </a:stretch>
        </p:blipFill>
        <p:spPr>
          <a:xfrm>
            <a:off x="629002" y="1655064"/>
            <a:ext cx="7602530" cy="3794760"/>
          </a:xfrm>
          <a:prstGeom prst="rect">
            <a:avLst/>
          </a:prstGeom>
        </p:spPr>
      </p:pic>
      <p:sp>
        <p:nvSpPr>
          <p:cNvPr id="7" name="TextBox 6"/>
          <p:cNvSpPr txBox="1"/>
          <p:nvPr/>
        </p:nvSpPr>
        <p:spPr>
          <a:xfrm>
            <a:off x="8449055" y="1682496"/>
            <a:ext cx="3175985" cy="256032"/>
          </a:xfrm>
          <a:prstGeom prst="rect">
            <a:avLst/>
          </a:prstGeom>
          <a:noFill/>
        </p:spPr>
        <p:txBody>
          <a:bodyPr wrap="square" lIns="0" rIns="0" tIns="0" bIns="0" anchor="t">
            <a:spAutoFit/>
          </a:bodyPr>
          <a:lstStyle/>
          <a:p>
            <a:pPr algn="l">
              <a:lnSpc>
                <a:spcPct val="124000"/>
              </a:lnSpc>
              <a:spcAft>
                <a:spcPts val="0"/>
              </a:spcAft>
            </a:pPr>
            <a:r>
              <a:rPr sz="1250" b="1" i="0">
                <a:solidFill>
                  <a:srgbClr val="0B0B0B"/>
                </a:solidFill>
                <a:latin typeface="Segoe UI"/>
              </a:rPr>
              <a:t>Associated with staying</a:t>
            </a:r>
          </a:p>
        </p:txBody>
      </p:sp>
      <p:sp>
        <p:nvSpPr>
          <p:cNvPr id="8" name="Oval 7"/>
          <p:cNvSpPr/>
          <p:nvPr/>
        </p:nvSpPr>
        <p:spPr>
          <a:xfrm>
            <a:off x="8449055" y="2098548"/>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31935" y="2029968"/>
            <a:ext cx="2993105" cy="246888"/>
          </a:xfrm>
          <a:prstGeom prst="rect">
            <a:avLst/>
          </a:prstGeom>
          <a:noFill/>
        </p:spPr>
        <p:txBody>
          <a:bodyPr wrap="square" lIns="0" rIns="0" tIns="0" bIns="0" anchor="t">
            <a:spAutoFit/>
          </a:bodyPr>
          <a:lstStyle/>
          <a:p>
            <a:pPr algn="l">
              <a:lnSpc>
                <a:spcPct val="124000"/>
              </a:lnSpc>
              <a:spcAft>
                <a:spcPts val="0"/>
              </a:spcAft>
            </a:pPr>
            <a:r>
              <a:rPr sz="1000" b="0" i="0">
                <a:solidFill>
                  <a:srgbClr val="52514E"/>
                </a:solidFill>
                <a:latin typeface="Segoe UI"/>
              </a:rPr>
              <a:t>Research Director — 2.50%</a:t>
            </a:r>
          </a:p>
        </p:txBody>
      </p:sp>
      <p:sp>
        <p:nvSpPr>
          <p:cNvPr id="10" name="Oval 9"/>
          <p:cNvSpPr/>
          <p:nvPr/>
        </p:nvSpPr>
        <p:spPr>
          <a:xfrm>
            <a:off x="8449055" y="2345436"/>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631935" y="2276856"/>
            <a:ext cx="2993105" cy="246888"/>
          </a:xfrm>
          <a:prstGeom prst="rect">
            <a:avLst/>
          </a:prstGeom>
          <a:noFill/>
        </p:spPr>
        <p:txBody>
          <a:bodyPr wrap="square" lIns="0" rIns="0" tIns="0" bIns="0" anchor="t">
            <a:spAutoFit/>
          </a:bodyPr>
          <a:lstStyle/>
          <a:p>
            <a:pPr algn="l">
              <a:lnSpc>
                <a:spcPct val="124000"/>
              </a:lnSpc>
              <a:spcAft>
                <a:spcPts val="0"/>
              </a:spcAft>
            </a:pPr>
            <a:r>
              <a:rPr sz="1000" b="0" i="0">
                <a:solidFill>
                  <a:srgbClr val="52514E"/>
                </a:solidFill>
                <a:latin typeface="Segoe UI"/>
              </a:rPr>
              <a:t>Job level 4 — 4.72%</a:t>
            </a:r>
          </a:p>
        </p:txBody>
      </p:sp>
      <p:sp>
        <p:nvSpPr>
          <p:cNvPr id="12" name="Oval 11"/>
          <p:cNvSpPr/>
          <p:nvPr/>
        </p:nvSpPr>
        <p:spPr>
          <a:xfrm>
            <a:off x="8449055" y="2592324"/>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631935" y="2523744"/>
            <a:ext cx="2993105" cy="246888"/>
          </a:xfrm>
          <a:prstGeom prst="rect">
            <a:avLst/>
          </a:prstGeom>
          <a:noFill/>
        </p:spPr>
        <p:txBody>
          <a:bodyPr wrap="square" lIns="0" rIns="0" tIns="0" bIns="0" anchor="t">
            <a:spAutoFit/>
          </a:bodyPr>
          <a:lstStyle/>
          <a:p>
            <a:pPr algn="l">
              <a:lnSpc>
                <a:spcPct val="124000"/>
              </a:lnSpc>
              <a:spcAft>
                <a:spcPts val="0"/>
              </a:spcAft>
            </a:pPr>
            <a:r>
              <a:rPr sz="1000" b="0" i="0">
                <a:solidFill>
                  <a:srgbClr val="52514E"/>
                </a:solidFill>
                <a:latin typeface="Segoe UI"/>
              </a:rPr>
              <a:t>Manager — 4.90%</a:t>
            </a:r>
          </a:p>
        </p:txBody>
      </p:sp>
      <p:sp>
        <p:nvSpPr>
          <p:cNvPr id="14" name="Oval 13"/>
          <p:cNvSpPr/>
          <p:nvPr/>
        </p:nvSpPr>
        <p:spPr>
          <a:xfrm>
            <a:off x="8449055" y="2839212"/>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31935" y="2770632"/>
            <a:ext cx="2993105" cy="246888"/>
          </a:xfrm>
          <a:prstGeom prst="rect">
            <a:avLst/>
          </a:prstGeom>
          <a:noFill/>
        </p:spPr>
        <p:txBody>
          <a:bodyPr wrap="square" lIns="0" rIns="0" tIns="0" bIns="0" anchor="t">
            <a:spAutoFit/>
          </a:bodyPr>
          <a:lstStyle/>
          <a:p>
            <a:pPr algn="l">
              <a:lnSpc>
                <a:spcPct val="124000"/>
              </a:lnSpc>
              <a:spcAft>
                <a:spcPts val="0"/>
              </a:spcAft>
            </a:pPr>
            <a:r>
              <a:rPr sz="1000" b="0" i="0">
                <a:solidFill>
                  <a:srgbClr val="52514E"/>
                </a:solidFill>
                <a:latin typeface="Segoe UI"/>
              </a:rPr>
              <a:t>Healthcare Rep — 6.87%</a:t>
            </a:r>
          </a:p>
        </p:txBody>
      </p:sp>
      <p:sp>
        <p:nvSpPr>
          <p:cNvPr id="16" name="Oval 15"/>
          <p:cNvSpPr/>
          <p:nvPr/>
        </p:nvSpPr>
        <p:spPr>
          <a:xfrm>
            <a:off x="8449055" y="3086100"/>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631935" y="3017520"/>
            <a:ext cx="2993105" cy="246888"/>
          </a:xfrm>
          <a:prstGeom prst="rect">
            <a:avLst/>
          </a:prstGeom>
          <a:noFill/>
        </p:spPr>
        <p:txBody>
          <a:bodyPr wrap="square" lIns="0" rIns="0" tIns="0" bIns="0" anchor="t">
            <a:spAutoFit/>
          </a:bodyPr>
          <a:lstStyle/>
          <a:p>
            <a:pPr algn="l">
              <a:lnSpc>
                <a:spcPct val="124000"/>
              </a:lnSpc>
              <a:spcAft>
                <a:spcPts val="0"/>
              </a:spcAft>
            </a:pPr>
            <a:r>
              <a:rPr sz="1000" b="0" i="0">
                <a:solidFill>
                  <a:srgbClr val="52514E"/>
                </a:solidFill>
                <a:latin typeface="Segoe UI"/>
              </a:rPr>
              <a:t>Manufacturing Dir — 6.90%</a:t>
            </a:r>
          </a:p>
        </p:txBody>
      </p:sp>
      <p:sp>
        <p:nvSpPr>
          <p:cNvPr id="18" name="Oval 17"/>
          <p:cNvSpPr/>
          <p:nvPr/>
        </p:nvSpPr>
        <p:spPr>
          <a:xfrm>
            <a:off x="8449055" y="3332988"/>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631935" y="3264408"/>
            <a:ext cx="2993105" cy="246888"/>
          </a:xfrm>
          <a:prstGeom prst="rect">
            <a:avLst/>
          </a:prstGeom>
          <a:noFill/>
        </p:spPr>
        <p:txBody>
          <a:bodyPr wrap="square" lIns="0" rIns="0" tIns="0" bIns="0" anchor="t">
            <a:spAutoFit/>
          </a:bodyPr>
          <a:lstStyle/>
          <a:p>
            <a:pPr algn="l">
              <a:lnSpc>
                <a:spcPct val="124000"/>
              </a:lnSpc>
              <a:spcAft>
                <a:spcPts val="0"/>
              </a:spcAft>
            </a:pPr>
            <a:r>
              <a:rPr sz="1000" b="0" i="0">
                <a:solidFill>
                  <a:srgbClr val="52514E"/>
                </a:solidFill>
                <a:latin typeface="Segoe UI"/>
              </a:rPr>
              <a:t>11+ years tenure — 8.13%</a:t>
            </a:r>
          </a:p>
        </p:txBody>
      </p:sp>
      <p:sp>
        <p:nvSpPr>
          <p:cNvPr id="20" name="Oval 19"/>
          <p:cNvSpPr/>
          <p:nvPr/>
        </p:nvSpPr>
        <p:spPr>
          <a:xfrm>
            <a:off x="8449055" y="3579876"/>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631935" y="3511296"/>
            <a:ext cx="2993105" cy="246888"/>
          </a:xfrm>
          <a:prstGeom prst="rect">
            <a:avLst/>
          </a:prstGeom>
          <a:noFill/>
        </p:spPr>
        <p:txBody>
          <a:bodyPr wrap="square" lIns="0" rIns="0" tIns="0" bIns="0" anchor="t">
            <a:spAutoFit/>
          </a:bodyPr>
          <a:lstStyle/>
          <a:p>
            <a:pPr algn="l">
              <a:lnSpc>
                <a:spcPct val="124000"/>
              </a:lnSpc>
              <a:spcAft>
                <a:spcPts val="0"/>
              </a:spcAft>
            </a:pPr>
            <a:r>
              <a:rPr sz="1000" b="0" i="0">
                <a:solidFill>
                  <a:srgbClr val="52514E"/>
                </a:solidFill>
                <a:latin typeface="Segoe UI"/>
              </a:rPr>
              <a:t>8+ years with manager — 4.11%</a:t>
            </a:r>
          </a:p>
        </p:txBody>
      </p:sp>
      <p:sp>
        <p:nvSpPr>
          <p:cNvPr id="22" name="Oval 21"/>
          <p:cNvSpPr/>
          <p:nvPr/>
        </p:nvSpPr>
        <p:spPr>
          <a:xfrm>
            <a:off x="8449055" y="3826764"/>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631935" y="3758184"/>
            <a:ext cx="2993105" cy="246888"/>
          </a:xfrm>
          <a:prstGeom prst="rect">
            <a:avLst/>
          </a:prstGeom>
          <a:noFill/>
        </p:spPr>
        <p:txBody>
          <a:bodyPr wrap="square" lIns="0" rIns="0" tIns="0" bIns="0" anchor="t">
            <a:spAutoFit/>
          </a:bodyPr>
          <a:lstStyle/>
          <a:p>
            <a:pPr algn="l">
              <a:lnSpc>
                <a:spcPct val="124000"/>
              </a:lnSpc>
              <a:spcAft>
                <a:spcPts val="0"/>
              </a:spcAft>
            </a:pPr>
            <a:r>
              <a:rPr sz="1000" b="0" i="0">
                <a:solidFill>
                  <a:srgbClr val="52514E"/>
                </a:solidFill>
                <a:latin typeface="Segoe UI"/>
              </a:rPr>
              <a:t>No business travel — 8.00%</a:t>
            </a:r>
          </a:p>
        </p:txBody>
      </p:sp>
      <p:sp>
        <p:nvSpPr>
          <p:cNvPr id="24" name="Oval 23"/>
          <p:cNvSpPr/>
          <p:nvPr/>
        </p:nvSpPr>
        <p:spPr>
          <a:xfrm>
            <a:off x="8449055" y="4073652"/>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631935" y="4005072"/>
            <a:ext cx="2993105" cy="246888"/>
          </a:xfrm>
          <a:prstGeom prst="rect">
            <a:avLst/>
          </a:prstGeom>
          <a:noFill/>
        </p:spPr>
        <p:txBody>
          <a:bodyPr wrap="square" lIns="0" rIns="0" tIns="0" bIns="0" anchor="t">
            <a:spAutoFit/>
          </a:bodyPr>
          <a:lstStyle/>
          <a:p>
            <a:pPr algn="l">
              <a:lnSpc>
                <a:spcPct val="124000"/>
              </a:lnSpc>
              <a:spcAft>
                <a:spcPts val="0"/>
              </a:spcAft>
            </a:pPr>
            <a:r>
              <a:rPr sz="1000" b="0" i="0">
                <a:solidFill>
                  <a:srgbClr val="52514E"/>
                </a:solidFill>
                <a:latin typeface="Segoe UI"/>
              </a:rPr>
              <a:t>No overtime — 10.44%</a:t>
            </a:r>
          </a:p>
        </p:txBody>
      </p:sp>
      <p:sp>
        <p:nvSpPr>
          <p:cNvPr id="26" name="Rectangle 25"/>
          <p:cNvSpPr/>
          <p:nvPr/>
        </p:nvSpPr>
        <p:spPr>
          <a:xfrm>
            <a:off x="8449055" y="4443984"/>
            <a:ext cx="3175985" cy="1024128"/>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8449055" y="4443984"/>
            <a:ext cx="41148" cy="1024128"/>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668511" y="4581144"/>
            <a:ext cx="2773649" cy="219456"/>
          </a:xfrm>
          <a:prstGeom prst="rect">
            <a:avLst/>
          </a:prstGeom>
          <a:noFill/>
        </p:spPr>
        <p:txBody>
          <a:bodyPr wrap="square" lIns="0" rIns="0" tIns="0" bIns="0" anchor="t">
            <a:spAutoFit/>
          </a:bodyPr>
          <a:lstStyle/>
          <a:p>
            <a:pPr algn="l">
              <a:lnSpc>
                <a:spcPct val="124000"/>
              </a:lnSpc>
              <a:spcAft>
                <a:spcPts val="0"/>
              </a:spcAft>
            </a:pPr>
            <a:r>
              <a:rPr sz="850" b="1" i="0">
                <a:solidFill>
                  <a:srgbClr val="E34948"/>
                </a:solidFill>
                <a:latin typeface="Segoe UI"/>
              </a:rPr>
              <a:t>READ WITH CARE</a:t>
            </a:r>
          </a:p>
        </p:txBody>
      </p:sp>
      <p:sp>
        <p:nvSpPr>
          <p:cNvPr id="29" name="TextBox 28"/>
          <p:cNvSpPr txBox="1"/>
          <p:nvPr/>
        </p:nvSpPr>
        <p:spPr>
          <a:xfrm>
            <a:off x="8668511" y="4828032"/>
            <a:ext cx="2773649" cy="530352"/>
          </a:xfrm>
          <a:prstGeom prst="rect">
            <a:avLst/>
          </a:prstGeom>
          <a:noFill/>
        </p:spPr>
        <p:txBody>
          <a:bodyPr wrap="square" lIns="0" rIns="0" tIns="0" bIns="0" anchor="t">
            <a:spAutoFit/>
          </a:bodyPr>
          <a:lstStyle/>
          <a:p>
            <a:pPr algn="l">
              <a:lnSpc>
                <a:spcPct val="126000"/>
              </a:lnSpc>
              <a:spcAft>
                <a:spcPts val="0"/>
              </a:spcAft>
            </a:pPr>
            <a:r>
              <a:rPr sz="1150" b="0" i="0">
                <a:solidFill>
                  <a:srgbClr val="0B0B0B"/>
                </a:solidFill>
                <a:latin typeface="Segoe UI"/>
              </a:rPr>
              <a:t>These segments overlap heavily. An entry-level Sales Representative in their first year is one person counted in four rows.</a:t>
            </a:r>
          </a:p>
        </p:txBody>
      </p:sp>
      <p:sp>
        <p:nvSpPr>
          <p:cNvPr id="30" name="Rectangle 29"/>
          <p:cNvSpPr/>
          <p:nvPr/>
        </p:nvSpPr>
        <p:spPr>
          <a:xfrm>
            <a:off x="566928" y="5486400"/>
            <a:ext cx="11058113" cy="658368"/>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566928" y="5486400"/>
            <a:ext cx="41148" cy="65836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86384" y="5623560"/>
            <a:ext cx="10655777" cy="219456"/>
          </a:xfrm>
          <a:prstGeom prst="rect">
            <a:avLst/>
          </a:prstGeom>
          <a:noFill/>
        </p:spPr>
        <p:txBody>
          <a:bodyPr wrap="square" lIns="0" rIns="0" tIns="0" bIns="0" anchor="t">
            <a:spAutoFit/>
          </a:bodyPr>
          <a:lstStyle/>
          <a:p>
            <a:pPr algn="l">
              <a:lnSpc>
                <a:spcPct val="124000"/>
              </a:lnSpc>
              <a:spcAft>
                <a:spcPts val="0"/>
              </a:spcAft>
            </a:pPr>
            <a:r>
              <a:rPr sz="850" b="1" i="0">
                <a:solidFill>
                  <a:srgbClr val="898781"/>
                </a:solidFill>
                <a:latin typeface="Segoe UI"/>
              </a:rPr>
              <a:t>INTERPRETATION</a:t>
            </a:r>
          </a:p>
        </p:txBody>
      </p:sp>
      <p:sp>
        <p:nvSpPr>
          <p:cNvPr id="33" name="TextBox 32"/>
          <p:cNvSpPr txBox="1"/>
          <p:nvPr/>
        </p:nvSpPr>
        <p:spPr>
          <a:xfrm>
            <a:off x="786384" y="5870448"/>
            <a:ext cx="10655777" cy="164591"/>
          </a:xfrm>
          <a:prstGeom prst="rect">
            <a:avLst/>
          </a:prstGeom>
          <a:noFill/>
        </p:spPr>
        <p:txBody>
          <a:bodyPr wrap="square" lIns="0" rIns="0" tIns="0" bIns="0" anchor="t">
            <a:spAutoFit/>
          </a:bodyPr>
          <a:lstStyle/>
          <a:p>
            <a:pPr algn="l">
              <a:lnSpc>
                <a:spcPct val="126000"/>
              </a:lnSpc>
              <a:spcAft>
                <a:spcPts val="0"/>
              </a:spcAft>
            </a:pPr>
            <a:r>
              <a:rPr sz="1150" b="0" i="0">
                <a:solidFill>
                  <a:srgbClr val="0B0B0B"/>
                </a:solidFill>
                <a:latin typeface="Segoe UI"/>
              </a:rPr>
              <a:t>The high-attrition profile is consistent across every cut: early in tenure, early in career, low in the hierarchy, lower-paid, and working overtime. Nothing here identifies an individual as a flight risk.</a:t>
            </a:r>
          </a:p>
        </p:txBody>
      </p:sp>
      <p:sp>
        <p:nvSpPr>
          <p:cNvPr id="34" name="Rectangle 33"/>
          <p:cNvSpPr/>
          <p:nvPr/>
        </p:nvSpPr>
        <p:spPr>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566928" y="6455664"/>
            <a:ext cx="7961841" cy="219456"/>
          </a:xfrm>
          <a:prstGeom prst="rect">
            <a:avLst/>
          </a:prstGeom>
          <a:noFill/>
        </p:spPr>
        <p:txBody>
          <a:bodyPr wrap="square" lIns="0" rIns="0" tIns="0" bIns="0" anchor="t">
            <a:spAutoFit/>
          </a:bodyPr>
          <a:lstStyle/>
          <a:p>
            <a:pPr algn="l">
              <a:lnSpc>
                <a:spcPct val="124000"/>
              </a:lnSpc>
              <a:spcAft>
                <a:spcPts val="0"/>
              </a:spcAft>
            </a:pPr>
            <a:r>
              <a:rPr sz="850" b="0" i="0">
                <a:solidFill>
                  <a:srgbClr val="898781"/>
                </a:solidFill>
                <a:latin typeface="Segoe UI"/>
              </a:rPr>
              <a:t>notebooks/05, 08</a:t>
            </a:r>
          </a:p>
        </p:txBody>
      </p:sp>
      <p:sp>
        <p:nvSpPr>
          <p:cNvPr id="36" name="TextBox 35"/>
          <p:cNvSpPr txBox="1"/>
          <p:nvPr/>
        </p:nvSpPr>
        <p:spPr>
          <a:xfrm>
            <a:off x="8749932" y="6455664"/>
            <a:ext cx="2875109" cy="219456"/>
          </a:xfrm>
          <a:prstGeom prst="rect">
            <a:avLst/>
          </a:prstGeom>
          <a:noFill/>
        </p:spPr>
        <p:txBody>
          <a:bodyPr wrap="square" lIns="0" rIns="0" tIns="0" bIns="0" anchor="t">
            <a:spAutoFit/>
          </a:bodyPr>
          <a:lstStyle/>
          <a:p>
            <a:pPr algn="r">
              <a:lnSpc>
                <a:spcPct val="124000"/>
              </a:lnSpc>
              <a:spcAft>
                <a:spcPts val="0"/>
              </a:spcAft>
            </a:pPr>
            <a:r>
              <a:rPr sz="850" b="0" i="0">
                <a:solidFill>
                  <a:srgbClr val="898781"/>
                </a:solidFill>
                <a:latin typeface="Segoe U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8113" cy="219456"/>
          </a:xfrm>
          <a:prstGeom prst="rect">
            <a:avLst/>
          </a:prstGeom>
          <a:noFill/>
        </p:spPr>
        <p:txBody>
          <a:bodyPr wrap="square" lIns="0" rIns="0" tIns="0" bIns="0" anchor="t">
            <a:spAutoFit/>
          </a:bodyPr>
          <a:lstStyle/>
          <a:p>
            <a:pPr algn="l">
              <a:lnSpc>
                <a:spcPct val="124000"/>
              </a:lnSpc>
              <a:spcAft>
                <a:spcPts val="0"/>
              </a:spcAft>
            </a:pPr>
            <a:r>
              <a:rPr sz="950" b="1" i="0">
                <a:solidFill>
                  <a:srgbClr val="2A78D6"/>
                </a:solidFill>
                <a:latin typeface="Segoe UI"/>
              </a:rPr>
              <a:t>REFLECTION</a:t>
            </a:r>
          </a:p>
        </p:txBody>
      </p:sp>
      <p:sp>
        <p:nvSpPr>
          <p:cNvPr id="3" name="TextBox 2"/>
          <p:cNvSpPr txBox="1"/>
          <p:nvPr/>
        </p:nvSpPr>
        <p:spPr>
          <a:xfrm>
            <a:off x="566928" y="603504"/>
            <a:ext cx="11058113" cy="475488"/>
          </a:xfrm>
          <a:prstGeom prst="rect">
            <a:avLst/>
          </a:prstGeom>
          <a:noFill/>
        </p:spPr>
        <p:txBody>
          <a:bodyPr wrap="square" lIns="0" rIns="0" tIns="0" bIns="0" anchor="t">
            <a:spAutoFit/>
          </a:bodyPr>
          <a:lstStyle/>
          <a:p>
            <a:pPr algn="l">
              <a:lnSpc>
                <a:spcPct val="124000"/>
              </a:lnSpc>
              <a:spcAft>
                <a:spcPts val="0"/>
              </a:spcAft>
            </a:pPr>
            <a:r>
              <a:rPr sz="2500" b="1" i="0">
                <a:solidFill>
                  <a:srgbClr val="0B0B0B"/>
                </a:solidFill>
                <a:latin typeface="Segoe UI"/>
              </a:rPr>
              <a:t>What we learned</a:t>
            </a:r>
          </a:p>
        </p:txBody>
      </p:sp>
      <p:sp>
        <p:nvSpPr>
          <p:cNvPr id="4" name="TextBox 3"/>
          <p:cNvSpPr txBox="1"/>
          <p:nvPr/>
        </p:nvSpPr>
        <p:spPr>
          <a:xfrm>
            <a:off x="566928" y="1106424"/>
            <a:ext cx="11058113" cy="274320"/>
          </a:xfrm>
          <a:prstGeom prst="rect">
            <a:avLst/>
          </a:prstGeom>
          <a:noFill/>
        </p:spPr>
        <p:txBody>
          <a:bodyPr wrap="square" lIns="0" rIns="0" tIns="0" bIns="0" anchor="t">
            <a:spAutoFit/>
          </a:bodyPr>
          <a:lstStyle/>
          <a:p>
            <a:pPr algn="l">
              <a:lnSpc>
                <a:spcPct val="124000"/>
              </a:lnSpc>
              <a:spcAft>
                <a:spcPts val="0"/>
              </a:spcAft>
            </a:pPr>
            <a:r>
              <a:rPr sz="1250" b="0" i="0">
                <a:solidFill>
                  <a:srgbClr val="52514E"/>
                </a:solidFill>
                <a:latin typeface="Segoe UI"/>
              </a:rPr>
              <a:t>Separating what the data told us from what the process taught us.</a:t>
            </a:r>
          </a:p>
        </p:txBody>
      </p:sp>
      <p:sp>
        <p:nvSpPr>
          <p:cNvPr id="5" name="Rectangle 4"/>
          <p:cNvSpPr/>
          <p:nvPr/>
        </p:nvSpPr>
        <p:spPr>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66928" y="1700784"/>
            <a:ext cx="5364464" cy="448056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66928" y="1700784"/>
            <a:ext cx="5364464"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41247" y="1938528"/>
            <a:ext cx="4815824" cy="274320"/>
          </a:xfrm>
          <a:prstGeom prst="rect">
            <a:avLst/>
          </a:prstGeom>
          <a:noFill/>
        </p:spPr>
        <p:txBody>
          <a:bodyPr wrap="square" lIns="0" rIns="0" tIns="0" bIns="0" anchor="t">
            <a:spAutoFit/>
          </a:bodyPr>
          <a:lstStyle/>
          <a:p>
            <a:pPr algn="l">
              <a:lnSpc>
                <a:spcPct val="124000"/>
              </a:lnSpc>
              <a:spcAft>
                <a:spcPts val="0"/>
              </a:spcAft>
            </a:pPr>
            <a:r>
              <a:rPr sz="1350" b="1" i="0">
                <a:solidFill>
                  <a:srgbClr val="0B0B0B"/>
                </a:solidFill>
                <a:latin typeface="Segoe UI"/>
              </a:rPr>
              <a:t>Findings about the data</a:t>
            </a:r>
          </a:p>
        </p:txBody>
      </p:sp>
      <p:sp>
        <p:nvSpPr>
          <p:cNvPr id="9" name="TextBox 8"/>
          <p:cNvSpPr txBox="1"/>
          <p:nvPr/>
        </p:nvSpPr>
        <p:spPr>
          <a:xfrm>
            <a:off x="841247" y="2322576"/>
            <a:ext cx="4815824" cy="3657600"/>
          </a:xfrm>
          <a:prstGeom prst="rect">
            <a:avLst/>
          </a:prstGeom>
          <a:noFill/>
        </p:spPr>
        <p:txBody>
          <a:bodyPr wrap="square" lIns="0" rIns="0" tIns="0" bIns="0" anchor="t">
            <a:spAutoFit/>
          </a:bodyPr>
          <a:lstStyle/>
          <a:p>
            <a:pPr algn="l">
              <a:lnSpc>
                <a:spcPct val="122000"/>
              </a:lnSpc>
              <a:spcAft>
                <a:spcPts val="800"/>
              </a:spcAft>
            </a:pPr>
            <a:r>
              <a:rPr sz="1030" b="1" i="0">
                <a:solidFill>
                  <a:srgbClr val="2A78D6"/>
                </a:solidFill>
                <a:latin typeface="Segoe UI"/>
              </a:rPr>
              <a:t>•  </a:t>
            </a:r>
            <a:r>
              <a:rPr sz="1030" b="1" i="0">
                <a:solidFill>
                  <a:srgbClr val="0B0B0B"/>
                </a:solidFill>
                <a:latin typeface="Segoe UI"/>
              </a:rPr>
              <a:t>Strong relationships  </a:t>
            </a:r>
            <a:r>
              <a:rPr sz="1030" b="0" i="0">
                <a:solidFill>
                  <a:srgbClr val="52514E"/>
                </a:solidFill>
                <a:latin typeface="Segoe UI"/>
              </a:rPr>
              <a:t>Tenure, job level and overtime produce the widest, most consistent gaps — all on segments of 300 or more.</a:t>
            </a:r>
          </a:p>
          <a:p>
            <a:pPr algn="l">
              <a:lnSpc>
                <a:spcPct val="122000"/>
              </a:lnSpc>
              <a:spcAft>
                <a:spcPts val="800"/>
              </a:spcAft>
            </a:pPr>
            <a:r>
              <a:rPr sz="1030" b="1" i="0">
                <a:solidFill>
                  <a:srgbClr val="2A78D6"/>
                </a:solidFill>
                <a:latin typeface="Segoe UI"/>
              </a:rPr>
              <a:t>•  </a:t>
            </a:r>
            <a:r>
              <a:rPr sz="1030" b="1" i="0">
                <a:solidFill>
                  <a:srgbClr val="0B0B0B"/>
                </a:solidFill>
                <a:latin typeface="Segoe UI"/>
              </a:rPr>
              <a:t>Weak relationships  </a:t>
            </a:r>
            <a:r>
              <a:rPr sz="1030" b="0" i="0">
                <a:solidFill>
                  <a:srgbClr val="52514E"/>
                </a:solidFill>
                <a:latin typeface="Segoe UI"/>
              </a:rPr>
              <a:t>Hourly rate, monthly rate, percent salary hike and performance rating are effectively flat; performance rating correlates +0.003 with leaving.</a:t>
            </a:r>
          </a:p>
          <a:p>
            <a:pPr algn="l">
              <a:lnSpc>
                <a:spcPct val="122000"/>
              </a:lnSpc>
              <a:spcAft>
                <a:spcPts val="800"/>
              </a:spcAft>
            </a:pPr>
            <a:r>
              <a:rPr sz="1030" b="1" i="0">
                <a:solidFill>
                  <a:srgbClr val="2A78D6"/>
                </a:solidFill>
                <a:latin typeface="Segoe UI"/>
              </a:rPr>
              <a:t>•  </a:t>
            </a:r>
            <a:r>
              <a:rPr sz="1030" b="1" i="0">
                <a:solidFill>
                  <a:srgbClr val="0B0B0B"/>
                </a:solidFill>
                <a:latin typeface="Segoe UI"/>
              </a:rPr>
              <a:t>The surprise  </a:t>
            </a:r>
            <a:r>
              <a:rPr sz="1030" b="0" i="0">
                <a:solidFill>
                  <a:srgbClr val="52514E"/>
                </a:solidFill>
                <a:latin typeface="Segoe UI"/>
              </a:rPr>
              <a:t>Attrition is not monotonic in seniority. Level 3 (14.68%) leaves more than level 2 (9.74%), and level 5 (7.25%) more than level 4 (4.72%).</a:t>
            </a:r>
          </a:p>
          <a:p>
            <a:pPr algn="l">
              <a:lnSpc>
                <a:spcPct val="122000"/>
              </a:lnSpc>
              <a:spcAft>
                <a:spcPts val="800"/>
              </a:spcAft>
            </a:pPr>
            <a:r>
              <a:rPr sz="1030" b="1" i="0">
                <a:solidFill>
                  <a:srgbClr val="2A78D6"/>
                </a:solidFill>
                <a:latin typeface="Segoe UI"/>
              </a:rPr>
              <a:t>•  </a:t>
            </a:r>
            <a:r>
              <a:rPr sz="1030" b="1" i="0">
                <a:solidFill>
                  <a:srgbClr val="0B0B0B"/>
                </a:solidFill>
                <a:latin typeface="Segoe UI"/>
              </a:rPr>
              <a:t>Second surprise  </a:t>
            </a:r>
            <a:r>
              <a:rPr sz="1030" b="0" i="0">
                <a:solidFill>
                  <a:srgbClr val="52514E"/>
                </a:solidFill>
                <a:latin typeface="Segoe UI"/>
              </a:rPr>
              <a:t>Promotion stagnation barely registers descriptively (−0.033 correlation) yet is the sixth-largest positive coefficient in the model — a signal only visible alongside other variables.</a:t>
            </a:r>
          </a:p>
          <a:p>
            <a:pPr algn="l">
              <a:lnSpc>
                <a:spcPct val="122000"/>
              </a:lnSpc>
              <a:spcAft>
                <a:spcPts val="800"/>
              </a:spcAft>
            </a:pPr>
            <a:r>
              <a:rPr sz="1030" b="1" i="0">
                <a:solidFill>
                  <a:srgbClr val="2A78D6"/>
                </a:solidFill>
                <a:latin typeface="Segoe UI"/>
              </a:rPr>
              <a:t>•  </a:t>
            </a:r>
            <a:r>
              <a:rPr sz="1030" b="1" i="0">
                <a:solidFill>
                  <a:srgbClr val="0B0B0B"/>
                </a:solidFill>
                <a:latin typeface="Segoe UI"/>
              </a:rPr>
              <a:t>Commute  </a:t>
            </a:r>
            <a:r>
              <a:rPr sz="1030" b="0" i="0">
                <a:solidFill>
                  <a:srgbClr val="52514E"/>
                </a:solidFill>
                <a:latin typeface="Segoe UI"/>
              </a:rPr>
              <a:t>Distance from home is the only clearly positive numeric correlation (+0.078): 20.6% in the furthest quartile vs 12.9% in the nearest.</a:t>
            </a:r>
          </a:p>
        </p:txBody>
      </p:sp>
      <p:sp>
        <p:nvSpPr>
          <p:cNvPr id="10" name="Rectangle 9"/>
          <p:cNvSpPr/>
          <p:nvPr/>
        </p:nvSpPr>
        <p:spPr>
          <a:xfrm>
            <a:off x="6260576" y="1700784"/>
            <a:ext cx="5364464" cy="4480560"/>
          </a:xfrm>
          <a:prstGeom prst="rect">
            <a:avLst/>
          </a:prstGeom>
          <a:solidFill>
            <a:srgbClr val="FFFFFF"/>
          </a:solidFill>
          <a:ln w="1143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6260576" y="1700784"/>
            <a:ext cx="5364464" cy="41148"/>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534896" y="1938528"/>
            <a:ext cx="4815824" cy="274320"/>
          </a:xfrm>
          <a:prstGeom prst="rect">
            <a:avLst/>
          </a:prstGeom>
          <a:noFill/>
        </p:spPr>
        <p:txBody>
          <a:bodyPr wrap="square" lIns="0" rIns="0" tIns="0" bIns="0" anchor="t">
            <a:spAutoFit/>
          </a:bodyPr>
          <a:lstStyle/>
          <a:p>
            <a:pPr algn="l">
              <a:lnSpc>
                <a:spcPct val="124000"/>
              </a:lnSpc>
              <a:spcAft>
                <a:spcPts val="0"/>
              </a:spcAft>
            </a:pPr>
            <a:r>
              <a:rPr sz="1350" b="1" i="0">
                <a:solidFill>
                  <a:srgbClr val="0B0B0B"/>
                </a:solidFill>
                <a:latin typeface="Segoe UI"/>
              </a:rPr>
              <a:t>Lessons about the analysis</a:t>
            </a:r>
          </a:p>
        </p:txBody>
      </p:sp>
      <p:sp>
        <p:nvSpPr>
          <p:cNvPr id="13" name="TextBox 12"/>
          <p:cNvSpPr txBox="1"/>
          <p:nvPr/>
        </p:nvSpPr>
        <p:spPr>
          <a:xfrm>
            <a:off x="6534896" y="2322576"/>
            <a:ext cx="4815824" cy="3657600"/>
          </a:xfrm>
          <a:prstGeom prst="rect">
            <a:avLst/>
          </a:prstGeom>
          <a:noFill/>
        </p:spPr>
        <p:txBody>
          <a:bodyPr wrap="square" lIns="0" rIns="0" tIns="0" bIns="0" anchor="t">
            <a:spAutoFit/>
          </a:bodyPr>
          <a:lstStyle/>
          <a:p>
            <a:pPr algn="l">
              <a:lnSpc>
                <a:spcPct val="122000"/>
              </a:lnSpc>
              <a:spcAft>
                <a:spcPts val="800"/>
              </a:spcAft>
            </a:pPr>
            <a:r>
              <a:rPr sz="1030" b="1" i="0">
                <a:solidFill>
                  <a:srgbClr val="2A78D6"/>
                </a:solidFill>
                <a:latin typeface="Segoe UI"/>
              </a:rPr>
              <a:t>•  </a:t>
            </a:r>
            <a:r>
              <a:rPr sz="1030" b="1" i="0">
                <a:solidFill>
                  <a:srgbClr val="0B0B0B"/>
                </a:solidFill>
                <a:latin typeface="Segoe UI"/>
              </a:rPr>
              <a:t>Rate is not volume  </a:t>
            </a:r>
            <a:r>
              <a:rPr sz="1030" b="0" i="0">
                <a:solidFill>
                  <a:srgbClr val="52514E"/>
                </a:solidFill>
                <a:latin typeface="Segoe UI"/>
              </a:rPr>
              <a:t>Excess attrition changed our conclusions: Human Resources at 23.08% is +4 departures, Laboratory Technicians at 23.94% are +20.</a:t>
            </a:r>
          </a:p>
          <a:p>
            <a:pPr algn="l">
              <a:lnSpc>
                <a:spcPct val="122000"/>
              </a:lnSpc>
              <a:spcAft>
                <a:spcPts val="800"/>
              </a:spcAft>
            </a:pPr>
            <a:r>
              <a:rPr sz="1030" b="1" i="0">
                <a:solidFill>
                  <a:srgbClr val="2A78D6"/>
                </a:solidFill>
                <a:latin typeface="Segoe UI"/>
              </a:rPr>
              <a:t>•  </a:t>
            </a:r>
            <a:r>
              <a:rPr sz="1030" b="1" i="0">
                <a:solidFill>
                  <a:srgbClr val="0B0B0B"/>
                </a:solidFill>
                <a:latin typeface="Segoe UI"/>
              </a:rPr>
              <a:t>Correlation is a screen  </a:t>
            </a:r>
            <a:r>
              <a:rPr sz="1030" b="0" i="0">
                <a:solidFill>
                  <a:srgbClr val="52514E"/>
                </a:solidFill>
                <a:latin typeface="Segoe UI"/>
              </a:rPr>
              <a:t>No numeric correlation exceeds 0.171. Grouped rates carried every interpretable finding; Pearson on a binary target understates real gaps.</a:t>
            </a:r>
          </a:p>
          <a:p>
            <a:pPr algn="l">
              <a:lnSpc>
                <a:spcPct val="122000"/>
              </a:lnSpc>
              <a:spcAft>
                <a:spcPts val="800"/>
              </a:spcAft>
            </a:pPr>
            <a:r>
              <a:rPr sz="1030" b="1" i="0">
                <a:solidFill>
                  <a:srgbClr val="2A78D6"/>
                </a:solidFill>
                <a:latin typeface="Segoe UI"/>
              </a:rPr>
              <a:t>•  </a:t>
            </a:r>
            <a:r>
              <a:rPr sz="1030" b="1" i="0">
                <a:solidFill>
                  <a:srgbClr val="0B0B0B"/>
                </a:solidFill>
                <a:latin typeface="Segoe UI"/>
              </a:rPr>
              <a:t>Confounding is unresolved  </a:t>
            </a:r>
            <a:r>
              <a:rPr sz="1030" b="0" i="0">
                <a:solidFill>
                  <a:srgbClr val="52514E"/>
                </a:solidFill>
                <a:latin typeface="Segoe UI"/>
              </a:rPr>
              <a:t>Role, level, tenure and pay overlap on the same employees. We report each separately and did not stratify — so no gap here is an independent effect.</a:t>
            </a:r>
          </a:p>
          <a:p>
            <a:pPr algn="l">
              <a:lnSpc>
                <a:spcPct val="122000"/>
              </a:lnSpc>
              <a:spcAft>
                <a:spcPts val="800"/>
              </a:spcAft>
            </a:pPr>
            <a:r>
              <a:rPr sz="1030" b="1" i="0">
                <a:solidFill>
                  <a:srgbClr val="2A78D6"/>
                </a:solidFill>
                <a:latin typeface="Segoe UI"/>
              </a:rPr>
              <a:t>•  </a:t>
            </a:r>
            <a:r>
              <a:rPr sz="1030" b="1" i="0">
                <a:solidFill>
                  <a:srgbClr val="0B0B0B"/>
                </a:solidFill>
                <a:latin typeface="Segoe UI"/>
              </a:rPr>
              <a:t>Imbalance breaks accuracy  </a:t>
            </a:r>
            <a:r>
              <a:rPr sz="1030" b="0" i="0">
                <a:solidFill>
                  <a:srgbClr val="52514E"/>
                </a:solidFill>
                <a:latin typeface="Segoe UI"/>
              </a:rPr>
              <a:t>At 16.1% positives, a model predicting “nobody leaves” scores 84%. Ours scored 86% while finding 34% of leavers.</a:t>
            </a:r>
          </a:p>
          <a:p>
            <a:pPr algn="l">
              <a:lnSpc>
                <a:spcPct val="122000"/>
              </a:lnSpc>
              <a:spcAft>
                <a:spcPts val="800"/>
              </a:spcAft>
            </a:pPr>
            <a:r>
              <a:rPr sz="1030" b="1" i="0">
                <a:solidFill>
                  <a:srgbClr val="2A78D6"/>
                </a:solidFill>
                <a:latin typeface="Segoe UI"/>
              </a:rPr>
              <a:t>•  </a:t>
            </a:r>
            <a:r>
              <a:rPr sz="1030" b="1" i="0">
                <a:solidFill>
                  <a:srgbClr val="0B0B0B"/>
                </a:solidFill>
                <a:latin typeface="Segoe UI"/>
              </a:rPr>
              <a:t>Limitations  </a:t>
            </a:r>
            <a:r>
              <a:rPr sz="1030" b="0" i="0">
                <a:solidFill>
                  <a:srgbClr val="52514E"/>
                </a:solidFill>
                <a:latin typeface="Segoe UI"/>
              </a:rPr>
              <a:t>One fictional snapshot, no dates, no costs, no exit reasons. Small segments (Human Resources role, n=52) stay wide. And the README's own ethics rule — keep gender, age and marital status out of individual scoring — is not honoured by the notebook 10 model, which includes all three.</a:t>
            </a:r>
          </a:p>
        </p:txBody>
      </p:sp>
      <p:sp>
        <p:nvSpPr>
          <p:cNvPr id="14" name="Rectangle 13"/>
          <p:cNvSpPr/>
          <p:nvPr/>
        </p:nvSpPr>
        <p:spPr>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6455664"/>
            <a:ext cx="7961841" cy="219456"/>
          </a:xfrm>
          <a:prstGeom prst="rect">
            <a:avLst/>
          </a:prstGeom>
          <a:noFill/>
        </p:spPr>
        <p:txBody>
          <a:bodyPr wrap="square" lIns="0" rIns="0" tIns="0" bIns="0" anchor="t">
            <a:spAutoFit/>
          </a:bodyPr>
          <a:lstStyle/>
          <a:p>
            <a:pPr algn="l">
              <a:lnSpc>
                <a:spcPct val="124000"/>
              </a:lnSpc>
              <a:spcAft>
                <a:spcPts val="0"/>
              </a:spcAft>
            </a:pPr>
            <a:r>
              <a:rPr sz="850" b="0" i="0">
                <a:solidFill>
                  <a:srgbClr val="898781"/>
                </a:solidFill>
                <a:latin typeface="Segoe UI"/>
              </a:rPr>
              <a:t>notebooks/05–10 · README.md Caveats and Ethics</a:t>
            </a:r>
          </a:p>
        </p:txBody>
      </p:sp>
      <p:sp>
        <p:nvSpPr>
          <p:cNvPr id="16" name="TextBox 15"/>
          <p:cNvSpPr txBox="1"/>
          <p:nvPr/>
        </p:nvSpPr>
        <p:spPr>
          <a:xfrm>
            <a:off x="8749932" y="6455664"/>
            <a:ext cx="2875109" cy="219456"/>
          </a:xfrm>
          <a:prstGeom prst="rect">
            <a:avLst/>
          </a:prstGeom>
          <a:noFill/>
        </p:spPr>
        <p:txBody>
          <a:bodyPr wrap="square" lIns="0" rIns="0" tIns="0" bIns="0" anchor="t">
            <a:spAutoFit/>
          </a:bodyPr>
          <a:lstStyle/>
          <a:p>
            <a:pPr algn="r">
              <a:lnSpc>
                <a:spcPct val="124000"/>
              </a:lnSpc>
              <a:spcAft>
                <a:spcPts val="0"/>
              </a:spcAft>
            </a:pPr>
            <a:r>
              <a:rPr sz="850" b="0" i="0">
                <a:solidFill>
                  <a:srgbClr val="898781"/>
                </a:solidFill>
                <a:latin typeface="Segoe U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8113" cy="219456"/>
          </a:xfrm>
          <a:prstGeom prst="rect">
            <a:avLst/>
          </a:prstGeom>
          <a:noFill/>
        </p:spPr>
        <p:txBody>
          <a:bodyPr wrap="square" lIns="0" rIns="0" tIns="0" bIns="0" anchor="t">
            <a:spAutoFit/>
          </a:bodyPr>
          <a:lstStyle/>
          <a:p>
            <a:pPr algn="l">
              <a:lnSpc>
                <a:spcPct val="124000"/>
              </a:lnSpc>
              <a:spcAft>
                <a:spcPts val="0"/>
              </a:spcAft>
            </a:pPr>
            <a:r>
              <a:rPr sz="950" b="1" i="0">
                <a:solidFill>
                  <a:srgbClr val="2A78D6"/>
                </a:solidFill>
                <a:latin typeface="Segoe UI"/>
              </a:rPr>
              <a:t>HOW THE WORK WAS ORGANISED</a:t>
            </a:r>
          </a:p>
        </p:txBody>
      </p:sp>
      <p:sp>
        <p:nvSpPr>
          <p:cNvPr id="3" name="TextBox 2"/>
          <p:cNvSpPr txBox="1"/>
          <p:nvPr/>
        </p:nvSpPr>
        <p:spPr>
          <a:xfrm>
            <a:off x="566928" y="603504"/>
            <a:ext cx="11058113" cy="475488"/>
          </a:xfrm>
          <a:prstGeom prst="rect">
            <a:avLst/>
          </a:prstGeom>
          <a:noFill/>
        </p:spPr>
        <p:txBody>
          <a:bodyPr wrap="square" lIns="0" rIns="0" tIns="0" bIns="0" anchor="t">
            <a:spAutoFit/>
          </a:bodyPr>
          <a:lstStyle/>
          <a:p>
            <a:pPr algn="l">
              <a:lnSpc>
                <a:spcPct val="124000"/>
              </a:lnSpc>
              <a:spcAft>
                <a:spcPts val="0"/>
              </a:spcAft>
            </a:pPr>
            <a:r>
              <a:rPr sz="2500" b="1" i="0">
                <a:solidFill>
                  <a:srgbClr val="0B0B0B"/>
                </a:solidFill>
                <a:latin typeface="Segoe UI"/>
              </a:rPr>
              <a:t>Repository and team</a:t>
            </a:r>
          </a:p>
        </p:txBody>
      </p:sp>
      <p:sp>
        <p:nvSpPr>
          <p:cNvPr id="4" name="TextBox 3"/>
          <p:cNvSpPr txBox="1"/>
          <p:nvPr/>
        </p:nvSpPr>
        <p:spPr>
          <a:xfrm>
            <a:off x="566928" y="1106424"/>
            <a:ext cx="11058113" cy="274320"/>
          </a:xfrm>
          <a:prstGeom prst="rect">
            <a:avLst/>
          </a:prstGeom>
          <a:noFill/>
        </p:spPr>
        <p:txBody>
          <a:bodyPr wrap="square" lIns="0" rIns="0" tIns="0" bIns="0" anchor="t">
            <a:spAutoFit/>
          </a:bodyPr>
          <a:lstStyle/>
          <a:p>
            <a:pPr algn="l">
              <a:lnSpc>
                <a:spcPct val="124000"/>
              </a:lnSpc>
              <a:spcAft>
                <a:spcPts val="0"/>
              </a:spcAft>
            </a:pPr>
            <a:r>
              <a:rPr sz="1250" b="0" i="0">
                <a:solidFill>
                  <a:srgbClr val="52514E"/>
                </a:solidFill>
                <a:latin typeface="Segoe UI"/>
              </a:rPr>
              <a:t>A public GitHub repository with numerically-prefixed notebooks meant to be run in order, committed with their outputs so they read on GitHub.</a:t>
            </a:r>
          </a:p>
        </p:txBody>
      </p:sp>
      <p:sp>
        <p:nvSpPr>
          <p:cNvPr id="5" name="Rectangle 4"/>
          <p:cNvSpPr/>
          <p:nvPr/>
        </p:nvSpPr>
        <p:spPr>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700784"/>
            <a:ext cx="5394960" cy="256032"/>
          </a:xfrm>
          <a:prstGeom prst="rect">
            <a:avLst/>
          </a:prstGeom>
          <a:noFill/>
        </p:spPr>
        <p:txBody>
          <a:bodyPr wrap="square" lIns="0" rIns="0" tIns="0" bIns="0" anchor="t">
            <a:spAutoFit/>
          </a:bodyPr>
          <a:lstStyle/>
          <a:p>
            <a:pPr algn="l">
              <a:lnSpc>
                <a:spcPct val="124000"/>
              </a:lnSpc>
              <a:spcAft>
                <a:spcPts val="0"/>
              </a:spcAft>
            </a:pPr>
            <a:r>
              <a:rPr sz="1250" b="1" i="0">
                <a:solidFill>
                  <a:srgbClr val="0B0B0B"/>
                </a:solidFill>
                <a:latin typeface="Segoe UI"/>
              </a:rPr>
              <a:t>Repository structure</a:t>
            </a:r>
          </a:p>
        </p:txBody>
      </p:sp>
      <p:sp>
        <p:nvSpPr>
          <p:cNvPr id="7" name="Rectangle 6"/>
          <p:cNvSpPr/>
          <p:nvPr/>
        </p:nvSpPr>
        <p:spPr>
          <a:xfrm>
            <a:off x="566928" y="2029968"/>
            <a:ext cx="5394960" cy="237744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86384" y="2194560"/>
            <a:ext cx="5029200" cy="2103120"/>
          </a:xfrm>
          <a:prstGeom prst="rect">
            <a:avLst/>
          </a:prstGeom>
          <a:noFill/>
        </p:spPr>
        <p:txBody>
          <a:bodyPr wrap="square" lIns="0" rIns="0" tIns="0" bIns="0" anchor="t">
            <a:spAutoFit/>
          </a:bodyPr>
          <a:lstStyle/>
          <a:p>
            <a:pPr algn="l">
              <a:lnSpc>
                <a:spcPct val="130000"/>
              </a:lnSpc>
              <a:spcAft>
                <a:spcPts val="0"/>
              </a:spcAft>
            </a:pPr>
            <a:r>
              <a:rPr sz="950" b="0" i="0">
                <a:solidFill>
                  <a:srgbClr val="52514E"/>
                </a:solidFill>
                <a:latin typeface="Consolas"/>
              </a:rPr>
              <a:t>ibm-analytics-attrition-eda/</a:t>
            </a:r>
          </a:p>
          <a:p>
            <a:pPr algn="l">
              <a:lnSpc>
                <a:spcPct val="130000"/>
              </a:lnSpc>
              <a:spcAft>
                <a:spcPts val="0"/>
              </a:spcAft>
            </a:pPr>
            <a:r>
              <a:rPr sz="950" b="0" i="0">
                <a:solidFill>
                  <a:srgbClr val="52514E"/>
                </a:solidFill>
                <a:latin typeface="Consolas"/>
              </a:rPr>
              <a:t>├─ data/</a:t>
            </a:r>
          </a:p>
          <a:p>
            <a:pPr algn="l">
              <a:lnSpc>
                <a:spcPct val="130000"/>
              </a:lnSpc>
              <a:spcAft>
                <a:spcPts val="0"/>
              </a:spcAft>
            </a:pPr>
            <a:r>
              <a:rPr sz="950" b="0" i="0">
                <a:solidFill>
                  <a:srgbClr val="52514E"/>
                </a:solidFill>
                <a:latin typeface="Consolas"/>
              </a:rPr>
              <a:t>│  ├─ raw/          WA_Fn-UseC_-HR-Employee-Attrition.csv</a:t>
            </a:r>
          </a:p>
          <a:p>
            <a:pPr algn="l">
              <a:lnSpc>
                <a:spcPct val="130000"/>
              </a:lnSpc>
              <a:spcAft>
                <a:spcPts val="0"/>
              </a:spcAft>
            </a:pPr>
            <a:r>
              <a:rPr sz="950" b="0" i="0">
                <a:solidFill>
                  <a:srgbClr val="52514E"/>
                </a:solidFill>
                <a:latin typeface="Consolas"/>
              </a:rPr>
              <a:t>│  ├─ processed/    Employee-Attrition_Regression_Ready.csv</a:t>
            </a:r>
          </a:p>
          <a:p>
            <a:pPr algn="l">
              <a:lnSpc>
                <a:spcPct val="130000"/>
              </a:lnSpc>
              <a:spcAft>
                <a:spcPts val="0"/>
              </a:spcAft>
            </a:pPr>
            <a:r>
              <a:rPr sz="950" b="0" i="0">
                <a:solidFill>
                  <a:srgbClr val="52514E"/>
                </a:solidFill>
                <a:latin typeface="Consolas"/>
              </a:rPr>
              <a:t>│  └─ HR_Employee_Attrition_Wrangled.csv</a:t>
            </a:r>
          </a:p>
          <a:p>
            <a:pPr algn="l">
              <a:lnSpc>
                <a:spcPct val="130000"/>
              </a:lnSpc>
              <a:spcAft>
                <a:spcPts val="0"/>
              </a:spcAft>
            </a:pPr>
            <a:r>
              <a:rPr sz="950" b="0" i="0">
                <a:solidFill>
                  <a:srgbClr val="52514E"/>
                </a:solidFill>
                <a:latin typeface="Consolas"/>
              </a:rPr>
              <a:t>├─ notebooks/       00 … 10  (11 notebooks, run in order)</a:t>
            </a:r>
          </a:p>
          <a:p>
            <a:pPr algn="l">
              <a:lnSpc>
                <a:spcPct val="130000"/>
              </a:lnSpc>
              <a:spcAft>
                <a:spcPts val="0"/>
              </a:spcAft>
            </a:pPr>
            <a:r>
              <a:rPr sz="950" b="0" i="0">
                <a:solidFill>
                  <a:srgbClr val="52514E"/>
                </a:solidFill>
                <a:latin typeface="Consolas"/>
              </a:rPr>
              <a:t>├─ dashboards/</a:t>
            </a:r>
          </a:p>
          <a:p>
            <a:pPr algn="l">
              <a:lnSpc>
                <a:spcPct val="130000"/>
              </a:lnSpc>
              <a:spcAft>
                <a:spcPts val="0"/>
              </a:spcAft>
            </a:pPr>
            <a:r>
              <a:rPr sz="950" b="0" i="0">
                <a:solidFill>
                  <a:srgbClr val="52514E"/>
                </a:solidFill>
                <a:latin typeface="Consolas"/>
              </a:rPr>
              <a:t>│  └─ app/          Dash app — layout, callbacks, figures, theme</a:t>
            </a:r>
          </a:p>
          <a:p>
            <a:pPr algn="l">
              <a:lnSpc>
                <a:spcPct val="130000"/>
              </a:lnSpc>
              <a:spcAft>
                <a:spcPts val="0"/>
              </a:spcAft>
            </a:pPr>
            <a:r>
              <a:rPr sz="950" b="0" i="0">
                <a:solidFill>
                  <a:srgbClr val="52514E"/>
                </a:solidFill>
                <a:latin typeface="Consolas"/>
              </a:rPr>
              <a:t>├─ requirements.txt</a:t>
            </a:r>
          </a:p>
          <a:p>
            <a:pPr algn="l">
              <a:lnSpc>
                <a:spcPct val="130000"/>
              </a:lnSpc>
              <a:spcAft>
                <a:spcPts val="0"/>
              </a:spcAft>
            </a:pPr>
            <a:r>
              <a:rPr sz="950" b="0" i="0">
                <a:solidFill>
                  <a:srgbClr val="52514E"/>
                </a:solidFill>
                <a:latin typeface="Consolas"/>
              </a:rPr>
              <a:t>└─ README.md</a:t>
            </a:r>
          </a:p>
        </p:txBody>
      </p:sp>
      <p:sp>
        <p:nvSpPr>
          <p:cNvPr id="9" name="TextBox 8"/>
          <p:cNvSpPr txBox="1"/>
          <p:nvPr/>
        </p:nvSpPr>
        <p:spPr>
          <a:xfrm>
            <a:off x="566928" y="4553712"/>
            <a:ext cx="5394960" cy="1188720"/>
          </a:xfrm>
          <a:prstGeom prst="rect">
            <a:avLst/>
          </a:prstGeom>
          <a:noFill/>
        </p:spPr>
        <p:txBody>
          <a:bodyPr wrap="square" lIns="0" rIns="0" tIns="0" bIns="0" anchor="t">
            <a:spAutoFit/>
          </a:bodyPr>
          <a:lstStyle/>
          <a:p>
            <a:pPr algn="l">
              <a:lnSpc>
                <a:spcPct val="124000"/>
              </a:lnSpc>
              <a:spcAft>
                <a:spcPts val="0"/>
              </a:spcAft>
            </a:pPr>
            <a:r>
              <a:rPr sz="1030" b="1" i="0">
                <a:solidFill>
                  <a:srgbClr val="0B0B0B"/>
                </a:solidFill>
                <a:latin typeface="Segoe UI"/>
              </a:rPr>
              <a:t>Beyond the notebooks.  </a:t>
            </a:r>
            <a:r>
              <a:rPr sz="1030" b="0" i="0">
                <a:solidFill>
                  <a:srgbClr val="52514E"/>
                </a:solidFill>
                <a:latin typeface="Segoe UI"/>
              </a:rPr>
              <a:t>The repository also ships an interactive Dash application over the same raw extract — filter the workforce by ten attributes and every statistic and chart re-reads the slice. It shares the exact bin edges from notebook 04, so a number in the app matches a number in the analysis.</a:t>
            </a:r>
          </a:p>
        </p:txBody>
      </p:sp>
      <p:sp>
        <p:nvSpPr>
          <p:cNvPr id="10" name="TextBox 9"/>
          <p:cNvSpPr txBox="1"/>
          <p:nvPr/>
        </p:nvSpPr>
        <p:spPr>
          <a:xfrm>
            <a:off x="6236208" y="1700784"/>
            <a:ext cx="5388833" cy="256032"/>
          </a:xfrm>
          <a:prstGeom prst="rect">
            <a:avLst/>
          </a:prstGeom>
          <a:noFill/>
        </p:spPr>
        <p:txBody>
          <a:bodyPr wrap="square" lIns="0" rIns="0" tIns="0" bIns="0" anchor="t">
            <a:spAutoFit/>
          </a:bodyPr>
          <a:lstStyle/>
          <a:p>
            <a:pPr algn="l">
              <a:lnSpc>
                <a:spcPct val="124000"/>
              </a:lnSpc>
              <a:spcAft>
                <a:spcPts val="0"/>
              </a:spcAft>
            </a:pPr>
            <a:r>
              <a:rPr sz="1250" b="1" i="0">
                <a:solidFill>
                  <a:srgbClr val="0B0B0B"/>
                </a:solidFill>
                <a:latin typeface="Segoe UI"/>
              </a:rPr>
              <a:t>Team · NPower JDA Cohort 2026</a:t>
            </a:r>
          </a:p>
        </p:txBody>
      </p:sp>
      <p:sp>
        <p:nvSpPr>
          <p:cNvPr id="11" name="Rectangle 10"/>
          <p:cNvSpPr/>
          <p:nvPr/>
        </p:nvSpPr>
        <p:spPr>
          <a:xfrm>
            <a:off x="6236208" y="2048256"/>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6208" y="2048256"/>
            <a:ext cx="32004"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00800" y="2130552"/>
            <a:ext cx="2292080" cy="201168"/>
          </a:xfrm>
          <a:prstGeom prst="rect">
            <a:avLst/>
          </a:prstGeom>
          <a:noFill/>
        </p:spPr>
        <p:txBody>
          <a:bodyPr wrap="square" lIns="0" rIns="0" tIns="0" bIns="0" anchor="t">
            <a:spAutoFit/>
          </a:bodyPr>
          <a:lstStyle/>
          <a:p>
            <a:pPr algn="l">
              <a:lnSpc>
                <a:spcPct val="124000"/>
              </a:lnSpc>
              <a:spcAft>
                <a:spcPts val="0"/>
              </a:spcAft>
            </a:pPr>
            <a:r>
              <a:rPr sz="1050" b="1" i="0">
                <a:solidFill>
                  <a:srgbClr val="0B0B0B"/>
                </a:solidFill>
                <a:latin typeface="Segoe UI"/>
              </a:rPr>
              <a:t>Pablo Fiterman</a:t>
            </a:r>
          </a:p>
        </p:txBody>
      </p:sp>
      <p:sp>
        <p:nvSpPr>
          <p:cNvPr id="14" name="TextBox 13"/>
          <p:cNvSpPr txBox="1"/>
          <p:nvPr/>
        </p:nvSpPr>
        <p:spPr>
          <a:xfrm>
            <a:off x="6400800" y="2350008"/>
            <a:ext cx="2292080" cy="274320"/>
          </a:xfrm>
          <a:prstGeom prst="rect">
            <a:avLst/>
          </a:prstGeom>
          <a:noFill/>
        </p:spPr>
        <p:txBody>
          <a:bodyPr wrap="square" lIns="0" rIns="0" tIns="0" bIns="0" anchor="t">
            <a:spAutoFit/>
          </a:bodyPr>
          <a:lstStyle/>
          <a:p>
            <a:pPr algn="l">
              <a:lnSpc>
                <a:spcPct val="116000"/>
              </a:lnSpc>
              <a:spcAft>
                <a:spcPts val="0"/>
              </a:spcAft>
            </a:pPr>
            <a:r>
              <a:rPr sz="869" b="0" i="0">
                <a:solidFill>
                  <a:srgbClr val="898781"/>
                </a:solidFill>
                <a:latin typeface="Segoe UI"/>
              </a:rPr>
              <a:t>Attrition analysis (05), dashboard, README, repo structure</a:t>
            </a:r>
          </a:p>
        </p:txBody>
      </p:sp>
      <p:sp>
        <p:nvSpPr>
          <p:cNvPr id="15" name="Rectangle 14"/>
          <p:cNvSpPr/>
          <p:nvPr/>
        </p:nvSpPr>
        <p:spPr>
          <a:xfrm>
            <a:off x="6236208" y="2724912"/>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236208" y="2724912"/>
            <a:ext cx="32004"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0" y="2807208"/>
            <a:ext cx="2292080" cy="201168"/>
          </a:xfrm>
          <a:prstGeom prst="rect">
            <a:avLst/>
          </a:prstGeom>
          <a:noFill/>
        </p:spPr>
        <p:txBody>
          <a:bodyPr wrap="square" lIns="0" rIns="0" tIns="0" bIns="0" anchor="t">
            <a:spAutoFit/>
          </a:bodyPr>
          <a:lstStyle/>
          <a:p>
            <a:pPr algn="l">
              <a:lnSpc>
                <a:spcPct val="124000"/>
              </a:lnSpc>
              <a:spcAft>
                <a:spcPts val="0"/>
              </a:spcAft>
            </a:pPr>
            <a:r>
              <a:rPr sz="1050" b="1" i="0">
                <a:solidFill>
                  <a:srgbClr val="0B0B0B"/>
                </a:solidFill>
                <a:latin typeface="Segoe UI"/>
              </a:rPr>
              <a:t>Dhanan Thannoo</a:t>
            </a:r>
          </a:p>
        </p:txBody>
      </p:sp>
      <p:sp>
        <p:nvSpPr>
          <p:cNvPr id="18" name="TextBox 17"/>
          <p:cNvSpPr txBox="1"/>
          <p:nvPr/>
        </p:nvSpPr>
        <p:spPr>
          <a:xfrm>
            <a:off x="6400800" y="3026664"/>
            <a:ext cx="2292080" cy="274320"/>
          </a:xfrm>
          <a:prstGeom prst="rect">
            <a:avLst/>
          </a:prstGeom>
          <a:noFill/>
        </p:spPr>
        <p:txBody>
          <a:bodyPr wrap="square" lIns="0" rIns="0" tIns="0" bIns="0" anchor="t">
            <a:spAutoFit/>
          </a:bodyPr>
          <a:lstStyle/>
          <a:p>
            <a:pPr algn="l">
              <a:lnSpc>
                <a:spcPct val="116000"/>
              </a:lnSpc>
              <a:spcAft>
                <a:spcPts val="0"/>
              </a:spcAft>
            </a:pPr>
            <a:r>
              <a:rPr sz="869" b="0" i="0">
                <a:solidFill>
                  <a:srgbClr val="898781"/>
                </a:solidFill>
                <a:latin typeface="Segoe UI"/>
              </a:rPr>
              <a:t>Normalizing data (03), regression model (10)</a:t>
            </a:r>
          </a:p>
        </p:txBody>
      </p:sp>
      <p:sp>
        <p:nvSpPr>
          <p:cNvPr id="19" name="Rectangle 18"/>
          <p:cNvSpPr/>
          <p:nvPr/>
        </p:nvSpPr>
        <p:spPr>
          <a:xfrm>
            <a:off x="6236208" y="3401568"/>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236208" y="3401568"/>
            <a:ext cx="32004"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0" y="3483864"/>
            <a:ext cx="2292080" cy="201168"/>
          </a:xfrm>
          <a:prstGeom prst="rect">
            <a:avLst/>
          </a:prstGeom>
          <a:noFill/>
        </p:spPr>
        <p:txBody>
          <a:bodyPr wrap="square" lIns="0" rIns="0" tIns="0" bIns="0" anchor="t">
            <a:spAutoFit/>
          </a:bodyPr>
          <a:lstStyle/>
          <a:p>
            <a:pPr algn="l">
              <a:lnSpc>
                <a:spcPct val="124000"/>
              </a:lnSpc>
              <a:spcAft>
                <a:spcPts val="0"/>
              </a:spcAft>
            </a:pPr>
            <a:r>
              <a:rPr sz="1050" b="1" i="0">
                <a:solidFill>
                  <a:srgbClr val="0B0B0B"/>
                </a:solidFill>
                <a:latin typeface="Segoe UI"/>
              </a:rPr>
              <a:t>Tanvi Varshney</a:t>
            </a:r>
          </a:p>
        </p:txBody>
      </p:sp>
      <p:sp>
        <p:nvSpPr>
          <p:cNvPr id="22" name="TextBox 21"/>
          <p:cNvSpPr txBox="1"/>
          <p:nvPr/>
        </p:nvSpPr>
        <p:spPr>
          <a:xfrm>
            <a:off x="6400800" y="3703320"/>
            <a:ext cx="2292080" cy="274320"/>
          </a:xfrm>
          <a:prstGeom prst="rect">
            <a:avLst/>
          </a:prstGeom>
          <a:noFill/>
        </p:spPr>
        <p:txBody>
          <a:bodyPr wrap="square" lIns="0" rIns="0" tIns="0" bIns="0" anchor="t">
            <a:spAutoFit/>
          </a:bodyPr>
          <a:lstStyle/>
          <a:p>
            <a:pPr algn="l">
              <a:lnSpc>
                <a:spcPct val="116000"/>
              </a:lnSpc>
              <a:spcAft>
                <a:spcPts val="0"/>
              </a:spcAft>
            </a:pPr>
            <a:r>
              <a:rPr sz="869" b="0" i="0">
                <a:solidFill>
                  <a:srgbClr val="898781"/>
                </a:solidFill>
                <a:latin typeface="Segoe UI"/>
              </a:rPr>
              <a:t>Data wrangling (04), outlier detection (07)</a:t>
            </a:r>
          </a:p>
        </p:txBody>
      </p:sp>
      <p:sp>
        <p:nvSpPr>
          <p:cNvPr id="23" name="Rectangle 22"/>
          <p:cNvSpPr/>
          <p:nvPr/>
        </p:nvSpPr>
        <p:spPr>
          <a:xfrm>
            <a:off x="6236208" y="4078224"/>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6236208" y="4078224"/>
            <a:ext cx="32004"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0" y="4160520"/>
            <a:ext cx="2292080" cy="201168"/>
          </a:xfrm>
          <a:prstGeom prst="rect">
            <a:avLst/>
          </a:prstGeom>
          <a:noFill/>
        </p:spPr>
        <p:txBody>
          <a:bodyPr wrap="square" lIns="0" rIns="0" tIns="0" bIns="0" anchor="t">
            <a:spAutoFit/>
          </a:bodyPr>
          <a:lstStyle/>
          <a:p>
            <a:pPr algn="l">
              <a:lnSpc>
                <a:spcPct val="124000"/>
              </a:lnSpc>
              <a:spcAft>
                <a:spcPts val="0"/>
              </a:spcAft>
            </a:pPr>
            <a:r>
              <a:rPr sz="1050" b="1" i="0">
                <a:solidFill>
                  <a:srgbClr val="0B0B0B"/>
                </a:solidFill>
                <a:latin typeface="Segoe UI"/>
              </a:rPr>
              <a:t>Yunseo Jang</a:t>
            </a:r>
          </a:p>
        </p:txBody>
      </p:sp>
      <p:sp>
        <p:nvSpPr>
          <p:cNvPr id="26" name="TextBox 25"/>
          <p:cNvSpPr txBox="1"/>
          <p:nvPr/>
        </p:nvSpPr>
        <p:spPr>
          <a:xfrm>
            <a:off x="6400800" y="4379976"/>
            <a:ext cx="2292080" cy="274320"/>
          </a:xfrm>
          <a:prstGeom prst="rect">
            <a:avLst/>
          </a:prstGeom>
          <a:noFill/>
        </p:spPr>
        <p:txBody>
          <a:bodyPr wrap="square" lIns="0" rIns="0" tIns="0" bIns="0" anchor="t">
            <a:spAutoFit/>
          </a:bodyPr>
          <a:lstStyle/>
          <a:p>
            <a:pPr algn="l">
              <a:lnSpc>
                <a:spcPct val="116000"/>
              </a:lnSpc>
              <a:spcAft>
                <a:spcPts val="0"/>
              </a:spcAft>
            </a:pPr>
            <a:r>
              <a:rPr sz="869" b="0" i="0">
                <a:solidFill>
                  <a:srgbClr val="898781"/>
                </a:solidFill>
                <a:latin typeface="Segoe UI"/>
              </a:rPr>
              <a:t>Distribution profiling (06), correlation (08)</a:t>
            </a:r>
          </a:p>
        </p:txBody>
      </p:sp>
      <p:sp>
        <p:nvSpPr>
          <p:cNvPr id="27" name="Rectangle 26"/>
          <p:cNvSpPr/>
          <p:nvPr/>
        </p:nvSpPr>
        <p:spPr>
          <a:xfrm>
            <a:off x="9022064" y="2048256"/>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9022064" y="2048256"/>
            <a:ext cx="32004"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186656" y="2130552"/>
            <a:ext cx="2292080" cy="201168"/>
          </a:xfrm>
          <a:prstGeom prst="rect">
            <a:avLst/>
          </a:prstGeom>
          <a:noFill/>
        </p:spPr>
        <p:txBody>
          <a:bodyPr wrap="square" lIns="0" rIns="0" tIns="0" bIns="0" anchor="t">
            <a:spAutoFit/>
          </a:bodyPr>
          <a:lstStyle/>
          <a:p>
            <a:pPr algn="l">
              <a:lnSpc>
                <a:spcPct val="124000"/>
              </a:lnSpc>
              <a:spcAft>
                <a:spcPts val="0"/>
              </a:spcAft>
            </a:pPr>
            <a:r>
              <a:rPr sz="1050" b="1" i="0">
                <a:solidFill>
                  <a:srgbClr val="0B0B0B"/>
                </a:solidFill>
                <a:latin typeface="Segoe UI"/>
              </a:rPr>
              <a:t>Asif Hassan</a:t>
            </a:r>
          </a:p>
        </p:txBody>
      </p:sp>
      <p:sp>
        <p:nvSpPr>
          <p:cNvPr id="30" name="TextBox 29"/>
          <p:cNvSpPr txBox="1"/>
          <p:nvPr/>
        </p:nvSpPr>
        <p:spPr>
          <a:xfrm>
            <a:off x="9186656" y="2350008"/>
            <a:ext cx="2292080" cy="274320"/>
          </a:xfrm>
          <a:prstGeom prst="rect">
            <a:avLst/>
          </a:prstGeom>
          <a:noFill/>
        </p:spPr>
        <p:txBody>
          <a:bodyPr wrap="square" lIns="0" rIns="0" tIns="0" bIns="0" anchor="t">
            <a:spAutoFit/>
          </a:bodyPr>
          <a:lstStyle/>
          <a:p>
            <a:pPr algn="l">
              <a:lnSpc>
                <a:spcPct val="116000"/>
              </a:lnSpc>
              <a:spcAft>
                <a:spcPts val="0"/>
              </a:spcAft>
            </a:pPr>
            <a:r>
              <a:rPr sz="869" b="0" i="0">
                <a:solidFill>
                  <a:srgbClr val="898781"/>
                </a:solidFill>
                <a:latin typeface="Segoe UI"/>
              </a:rPr>
              <a:t>Distribution visualisation (09)</a:t>
            </a:r>
          </a:p>
        </p:txBody>
      </p:sp>
      <p:sp>
        <p:nvSpPr>
          <p:cNvPr id="31" name="Rectangle 30"/>
          <p:cNvSpPr/>
          <p:nvPr/>
        </p:nvSpPr>
        <p:spPr>
          <a:xfrm>
            <a:off x="9022064" y="2724912"/>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9022064" y="2724912"/>
            <a:ext cx="32004" cy="603504"/>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186656" y="2807208"/>
            <a:ext cx="2292080" cy="201168"/>
          </a:xfrm>
          <a:prstGeom prst="rect">
            <a:avLst/>
          </a:prstGeom>
          <a:noFill/>
        </p:spPr>
        <p:txBody>
          <a:bodyPr wrap="square" lIns="0" rIns="0" tIns="0" bIns="0" anchor="t">
            <a:spAutoFit/>
          </a:bodyPr>
          <a:lstStyle/>
          <a:p>
            <a:pPr algn="l">
              <a:lnSpc>
                <a:spcPct val="124000"/>
              </a:lnSpc>
              <a:spcAft>
                <a:spcPts val="0"/>
              </a:spcAft>
            </a:pPr>
            <a:r>
              <a:rPr sz="1050" b="1" i="0">
                <a:solidFill>
                  <a:srgbClr val="0B0B0B"/>
                </a:solidFill>
                <a:latin typeface="Segoe UI"/>
              </a:rPr>
              <a:t>Amruta Atul</a:t>
            </a:r>
          </a:p>
        </p:txBody>
      </p:sp>
      <p:sp>
        <p:nvSpPr>
          <p:cNvPr id="34" name="TextBox 33"/>
          <p:cNvSpPr txBox="1"/>
          <p:nvPr/>
        </p:nvSpPr>
        <p:spPr>
          <a:xfrm>
            <a:off x="9186656" y="3026664"/>
            <a:ext cx="2292080" cy="274320"/>
          </a:xfrm>
          <a:prstGeom prst="rect">
            <a:avLst/>
          </a:prstGeom>
          <a:noFill/>
        </p:spPr>
        <p:txBody>
          <a:bodyPr wrap="square" lIns="0" rIns="0" tIns="0" bIns="0" anchor="t">
            <a:spAutoFit/>
          </a:bodyPr>
          <a:lstStyle/>
          <a:p>
            <a:pPr algn="l">
              <a:lnSpc>
                <a:spcPct val="116000"/>
              </a:lnSpc>
              <a:spcAft>
                <a:spcPts val="0"/>
              </a:spcAft>
            </a:pPr>
            <a:r>
              <a:rPr sz="869" b="0" i="0">
                <a:solidFill>
                  <a:srgbClr val="898781"/>
                </a:solidFill>
                <a:latin typeface="Segoe UI"/>
              </a:rPr>
              <a:t>Listed contributor</a:t>
            </a:r>
          </a:p>
        </p:txBody>
      </p:sp>
      <p:sp>
        <p:nvSpPr>
          <p:cNvPr id="35" name="Rectangle 34"/>
          <p:cNvSpPr/>
          <p:nvPr/>
        </p:nvSpPr>
        <p:spPr>
          <a:xfrm>
            <a:off x="9022064" y="3401568"/>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9022064" y="3401568"/>
            <a:ext cx="32004" cy="603504"/>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186656" y="3483864"/>
            <a:ext cx="2292080" cy="201168"/>
          </a:xfrm>
          <a:prstGeom prst="rect">
            <a:avLst/>
          </a:prstGeom>
          <a:noFill/>
        </p:spPr>
        <p:txBody>
          <a:bodyPr wrap="square" lIns="0" rIns="0" tIns="0" bIns="0" anchor="t">
            <a:spAutoFit/>
          </a:bodyPr>
          <a:lstStyle/>
          <a:p>
            <a:pPr algn="l">
              <a:lnSpc>
                <a:spcPct val="124000"/>
              </a:lnSpc>
              <a:spcAft>
                <a:spcPts val="0"/>
              </a:spcAft>
            </a:pPr>
            <a:r>
              <a:rPr sz="1050" b="1" i="0">
                <a:solidFill>
                  <a:srgbClr val="0B0B0B"/>
                </a:solidFill>
                <a:latin typeface="Segoe UI"/>
              </a:rPr>
              <a:t>Moustafa Ismail</a:t>
            </a:r>
          </a:p>
        </p:txBody>
      </p:sp>
      <p:sp>
        <p:nvSpPr>
          <p:cNvPr id="38" name="TextBox 37"/>
          <p:cNvSpPr txBox="1"/>
          <p:nvPr/>
        </p:nvSpPr>
        <p:spPr>
          <a:xfrm>
            <a:off x="9186656" y="3703320"/>
            <a:ext cx="2292080" cy="274320"/>
          </a:xfrm>
          <a:prstGeom prst="rect">
            <a:avLst/>
          </a:prstGeom>
          <a:noFill/>
        </p:spPr>
        <p:txBody>
          <a:bodyPr wrap="square" lIns="0" rIns="0" tIns="0" bIns="0" anchor="t">
            <a:spAutoFit/>
          </a:bodyPr>
          <a:lstStyle/>
          <a:p>
            <a:pPr algn="l">
              <a:lnSpc>
                <a:spcPct val="116000"/>
              </a:lnSpc>
              <a:spcAft>
                <a:spcPts val="0"/>
              </a:spcAft>
            </a:pPr>
            <a:r>
              <a:rPr sz="869" b="0" i="0">
                <a:solidFill>
                  <a:srgbClr val="898781"/>
                </a:solidFill>
                <a:latin typeface="Segoe UI"/>
              </a:rPr>
              <a:t>Listed contributor</a:t>
            </a:r>
          </a:p>
        </p:txBody>
      </p:sp>
      <p:sp>
        <p:nvSpPr>
          <p:cNvPr id="39" name="Rectangle 38"/>
          <p:cNvSpPr/>
          <p:nvPr/>
        </p:nvSpPr>
        <p:spPr>
          <a:xfrm>
            <a:off x="9022064" y="4078224"/>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9022064" y="4078224"/>
            <a:ext cx="32004" cy="603504"/>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9186656" y="4160520"/>
            <a:ext cx="2292080" cy="201168"/>
          </a:xfrm>
          <a:prstGeom prst="rect">
            <a:avLst/>
          </a:prstGeom>
          <a:noFill/>
        </p:spPr>
        <p:txBody>
          <a:bodyPr wrap="square" lIns="0" rIns="0" tIns="0" bIns="0" anchor="t">
            <a:spAutoFit/>
          </a:bodyPr>
          <a:lstStyle/>
          <a:p>
            <a:pPr algn="l">
              <a:lnSpc>
                <a:spcPct val="124000"/>
              </a:lnSpc>
              <a:spcAft>
                <a:spcPts val="0"/>
              </a:spcAft>
            </a:pPr>
            <a:r>
              <a:rPr sz="1050" b="1" i="0">
                <a:solidFill>
                  <a:srgbClr val="0B0B0B"/>
                </a:solidFill>
                <a:latin typeface="Segoe UI"/>
              </a:rPr>
              <a:t>Stephanie Jivoderova</a:t>
            </a:r>
          </a:p>
        </p:txBody>
      </p:sp>
      <p:sp>
        <p:nvSpPr>
          <p:cNvPr id="42" name="TextBox 41"/>
          <p:cNvSpPr txBox="1"/>
          <p:nvPr/>
        </p:nvSpPr>
        <p:spPr>
          <a:xfrm>
            <a:off x="9186656" y="4379976"/>
            <a:ext cx="2292080" cy="274320"/>
          </a:xfrm>
          <a:prstGeom prst="rect">
            <a:avLst/>
          </a:prstGeom>
          <a:noFill/>
        </p:spPr>
        <p:txBody>
          <a:bodyPr wrap="square" lIns="0" rIns="0" tIns="0" bIns="0" anchor="t">
            <a:spAutoFit/>
          </a:bodyPr>
          <a:lstStyle/>
          <a:p>
            <a:pPr algn="l">
              <a:lnSpc>
                <a:spcPct val="116000"/>
              </a:lnSpc>
              <a:spcAft>
                <a:spcPts val="0"/>
              </a:spcAft>
            </a:pPr>
            <a:r>
              <a:rPr sz="869" b="0" i="0">
                <a:solidFill>
                  <a:srgbClr val="898781"/>
                </a:solidFill>
                <a:latin typeface="Segoe UI"/>
              </a:rPr>
              <a:t>Listed contributor</a:t>
            </a:r>
          </a:p>
        </p:txBody>
      </p:sp>
      <p:sp>
        <p:nvSpPr>
          <p:cNvPr id="43" name="TextBox 42"/>
          <p:cNvSpPr txBox="1"/>
          <p:nvPr/>
        </p:nvSpPr>
        <p:spPr>
          <a:xfrm>
            <a:off x="6236208" y="4809744"/>
            <a:ext cx="5388833" cy="914400"/>
          </a:xfrm>
          <a:prstGeom prst="rect">
            <a:avLst/>
          </a:prstGeom>
          <a:noFill/>
        </p:spPr>
        <p:txBody>
          <a:bodyPr wrap="square" lIns="0" rIns="0" tIns="0" bIns="0" anchor="t">
            <a:spAutoFit/>
          </a:bodyPr>
          <a:lstStyle/>
          <a:p>
            <a:pPr algn="l">
              <a:lnSpc>
                <a:spcPct val="124000"/>
              </a:lnSpc>
              <a:spcAft>
                <a:spcPts val="0"/>
              </a:spcAft>
            </a:pPr>
            <a:r>
              <a:rPr sz="960" b="1" i="0">
                <a:solidFill>
                  <a:srgbClr val="0B0B0B"/>
                </a:solidFill>
                <a:latin typeface="Segoe UI"/>
              </a:rPr>
              <a:t>Collaborative team project.  </a:t>
            </a:r>
            <a:r>
              <a:rPr sz="960" b="0" i="0">
                <a:solidFill>
                  <a:srgbClr val="52514E"/>
                </a:solidFill>
                <a:latin typeface="Segoe UI"/>
              </a:rPr>
              <a:t>Analysis, documentation, visualization and review completed through GitHub — feature branches, pull requests and Conventional Commits. Notebook ownership above reflects the commit history; the four contributors without a notebook line are credited in the README without notebook-level commits under those names.</a:t>
            </a:r>
          </a:p>
        </p:txBody>
      </p:sp>
      <p:sp>
        <p:nvSpPr>
          <p:cNvPr id="44" name="Rectangle 43"/>
          <p:cNvSpPr/>
          <p:nvPr/>
        </p:nvSpPr>
        <p:spPr>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566928" y="6455664"/>
            <a:ext cx="7961841" cy="219456"/>
          </a:xfrm>
          <a:prstGeom prst="rect">
            <a:avLst/>
          </a:prstGeom>
          <a:noFill/>
        </p:spPr>
        <p:txBody>
          <a:bodyPr wrap="square" lIns="0" rIns="0" tIns="0" bIns="0" anchor="t">
            <a:spAutoFit/>
          </a:bodyPr>
          <a:lstStyle/>
          <a:p>
            <a:pPr algn="l">
              <a:lnSpc>
                <a:spcPct val="124000"/>
              </a:lnSpc>
              <a:spcAft>
                <a:spcPts val="0"/>
              </a:spcAft>
            </a:pPr>
            <a:r>
              <a:rPr sz="850" b="0" i="0">
                <a:solidFill>
                  <a:srgbClr val="898781"/>
                </a:solidFill>
                <a:latin typeface="Segoe UI"/>
              </a:rPr>
              <a:t>README.md · git history</a:t>
            </a:r>
          </a:p>
        </p:txBody>
      </p:sp>
      <p:sp>
        <p:nvSpPr>
          <p:cNvPr id="46" name="TextBox 45"/>
          <p:cNvSpPr txBox="1"/>
          <p:nvPr/>
        </p:nvSpPr>
        <p:spPr>
          <a:xfrm>
            <a:off x="8749932" y="6455664"/>
            <a:ext cx="2875109" cy="219456"/>
          </a:xfrm>
          <a:prstGeom prst="rect">
            <a:avLst/>
          </a:prstGeom>
          <a:noFill/>
        </p:spPr>
        <p:txBody>
          <a:bodyPr wrap="square" lIns="0" rIns="0" tIns="0" bIns="0" anchor="t">
            <a:spAutoFit/>
          </a:bodyPr>
          <a:lstStyle/>
          <a:p>
            <a:pPr algn="r">
              <a:lnSpc>
                <a:spcPct val="124000"/>
              </a:lnSpc>
              <a:spcAft>
                <a:spcPts val="0"/>
              </a:spcAft>
            </a:pPr>
            <a:r>
              <a:rPr sz="850" b="0" i="0">
                <a:solidFill>
                  <a:srgbClr val="898781"/>
                </a:solidFill>
                <a:latin typeface="Segoe U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8113" cy="219456"/>
          </a:xfrm>
          <a:prstGeom prst="rect">
            <a:avLst/>
          </a:prstGeom>
          <a:noFill/>
        </p:spPr>
        <p:txBody>
          <a:bodyPr wrap="square" lIns="0" rIns="0" tIns="0" bIns="0" anchor="t">
            <a:spAutoFit/>
          </a:bodyPr>
          <a:lstStyle/>
          <a:p>
            <a:pPr algn="l">
              <a:lnSpc>
                <a:spcPct val="124000"/>
              </a:lnSpc>
              <a:spcAft>
                <a:spcPts val="0"/>
              </a:spcAft>
            </a:pPr>
            <a:r>
              <a:rPr sz="950" b="1" i="0">
                <a:solidFill>
                  <a:srgbClr val="2A78D6"/>
                </a:solidFill>
                <a:latin typeface="Segoe UI"/>
              </a:rPr>
              <a:t>TECHNICAL SKILLS</a:t>
            </a:r>
          </a:p>
        </p:txBody>
      </p:sp>
      <p:sp>
        <p:nvSpPr>
          <p:cNvPr id="3" name="TextBox 2"/>
          <p:cNvSpPr txBox="1"/>
          <p:nvPr/>
        </p:nvSpPr>
        <p:spPr>
          <a:xfrm>
            <a:off x="566928" y="603504"/>
            <a:ext cx="11058113" cy="475488"/>
          </a:xfrm>
          <a:prstGeom prst="rect">
            <a:avLst/>
          </a:prstGeom>
          <a:noFill/>
        </p:spPr>
        <p:txBody>
          <a:bodyPr wrap="square" lIns="0" rIns="0" tIns="0" bIns="0" anchor="t">
            <a:spAutoFit/>
          </a:bodyPr>
          <a:lstStyle/>
          <a:p>
            <a:pPr algn="l">
              <a:lnSpc>
                <a:spcPct val="124000"/>
              </a:lnSpc>
              <a:spcAft>
                <a:spcPts val="0"/>
              </a:spcAft>
            </a:pPr>
            <a:r>
              <a:rPr sz="2500" b="1" i="0">
                <a:solidFill>
                  <a:srgbClr val="0B0B0B"/>
                </a:solidFill>
                <a:latin typeface="Segoe UI"/>
              </a:rPr>
              <a:t>Tools and techniques applied</a:t>
            </a:r>
          </a:p>
        </p:txBody>
      </p:sp>
      <p:sp>
        <p:nvSpPr>
          <p:cNvPr id="4" name="TextBox 3"/>
          <p:cNvSpPr txBox="1"/>
          <p:nvPr/>
        </p:nvSpPr>
        <p:spPr>
          <a:xfrm>
            <a:off x="566928" y="1106424"/>
            <a:ext cx="11058113" cy="274320"/>
          </a:xfrm>
          <a:prstGeom prst="rect">
            <a:avLst/>
          </a:prstGeom>
          <a:noFill/>
        </p:spPr>
        <p:txBody>
          <a:bodyPr wrap="square" lIns="0" rIns="0" tIns="0" bIns="0" anchor="t">
            <a:spAutoFit/>
          </a:bodyPr>
          <a:lstStyle/>
          <a:p>
            <a:pPr algn="l">
              <a:lnSpc>
                <a:spcPct val="124000"/>
              </a:lnSpc>
              <a:spcAft>
                <a:spcPts val="0"/>
              </a:spcAft>
            </a:pPr>
            <a:r>
              <a:rPr sz="1250" b="0" i="0">
                <a:solidFill>
                  <a:srgbClr val="52514E"/>
                </a:solidFill>
                <a:latin typeface="Segoe UI"/>
              </a:rPr>
              <a:t>Only what the repository actually contains — every item below appears in a notebook, the dashboard, or requirements.txt.</a:t>
            </a:r>
          </a:p>
        </p:txBody>
      </p:sp>
      <p:sp>
        <p:nvSpPr>
          <p:cNvPr id="5" name="Rectangle 4"/>
          <p:cNvSpPr/>
          <p:nvPr/>
        </p:nvSpPr>
        <p:spPr>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66928" y="1700784"/>
            <a:ext cx="2065318" cy="41605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66928" y="1700784"/>
            <a:ext cx="2065318"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49808" y="1901952"/>
            <a:ext cx="1699558" cy="475488"/>
          </a:xfrm>
          <a:prstGeom prst="rect">
            <a:avLst/>
          </a:prstGeom>
          <a:noFill/>
        </p:spPr>
        <p:txBody>
          <a:bodyPr wrap="square" lIns="0" rIns="0" tIns="0" bIns="0" anchor="t">
            <a:spAutoFit/>
          </a:bodyPr>
          <a:lstStyle/>
          <a:p>
            <a:pPr algn="l">
              <a:lnSpc>
                <a:spcPct val="116000"/>
              </a:lnSpc>
              <a:spcAft>
                <a:spcPts val="0"/>
              </a:spcAft>
            </a:pPr>
            <a:r>
              <a:rPr sz="1150" b="1" i="0">
                <a:solidFill>
                  <a:srgbClr val="0B0B0B"/>
                </a:solidFill>
                <a:latin typeface="Segoe UI"/>
              </a:rPr>
              <a:t>Language &amp; environment</a:t>
            </a:r>
          </a:p>
        </p:txBody>
      </p:sp>
      <p:sp>
        <p:nvSpPr>
          <p:cNvPr id="9" name="TextBox 8"/>
          <p:cNvSpPr txBox="1"/>
          <p:nvPr/>
        </p:nvSpPr>
        <p:spPr>
          <a:xfrm>
            <a:off x="749808" y="2487168"/>
            <a:ext cx="1699558" cy="201168"/>
          </a:xfrm>
          <a:prstGeom prst="rect">
            <a:avLst/>
          </a:prstGeom>
          <a:noFill/>
        </p:spPr>
        <p:txBody>
          <a:bodyPr wrap="square" lIns="0" rIns="0" tIns="0" bIns="0" anchor="t">
            <a:spAutoFit/>
          </a:bodyPr>
          <a:lstStyle/>
          <a:p>
            <a:pPr algn="l">
              <a:lnSpc>
                <a:spcPct val="124000"/>
              </a:lnSpc>
              <a:spcAft>
                <a:spcPts val="0"/>
              </a:spcAft>
            </a:pPr>
            <a:r>
              <a:rPr sz="1000" b="1" i="0">
                <a:solidFill>
                  <a:srgbClr val="2A78D6"/>
                </a:solidFill>
                <a:latin typeface="Segoe UI"/>
              </a:rPr>
              <a:t>Python 3</a:t>
            </a:r>
          </a:p>
        </p:txBody>
      </p:sp>
      <p:sp>
        <p:nvSpPr>
          <p:cNvPr id="10" name="TextBox 9"/>
          <p:cNvSpPr txBox="1"/>
          <p:nvPr/>
        </p:nvSpPr>
        <p:spPr>
          <a:xfrm>
            <a:off x="749808" y="2697480"/>
            <a:ext cx="1699558" cy="658368"/>
          </a:xfrm>
          <a:prstGeom prst="rect">
            <a:avLst/>
          </a:prstGeom>
          <a:noFill/>
        </p:spPr>
        <p:txBody>
          <a:bodyPr wrap="square" lIns="0" rIns="0" tIns="0" bIns="0" anchor="t">
            <a:spAutoFit/>
          </a:bodyPr>
          <a:lstStyle/>
          <a:p>
            <a:pPr algn="l">
              <a:lnSpc>
                <a:spcPct val="118000"/>
              </a:lnSpc>
              <a:spcAft>
                <a:spcPts val="0"/>
              </a:spcAft>
            </a:pPr>
            <a:r>
              <a:rPr sz="860" b="0" i="0">
                <a:solidFill>
                  <a:srgbClr val="898781"/>
                </a:solidFill>
                <a:latin typeface="Segoe UI"/>
              </a:rPr>
              <a:t>Analysis language throughout</a:t>
            </a:r>
          </a:p>
        </p:txBody>
      </p:sp>
      <p:sp>
        <p:nvSpPr>
          <p:cNvPr id="11" name="TextBox 10"/>
          <p:cNvSpPr txBox="1"/>
          <p:nvPr/>
        </p:nvSpPr>
        <p:spPr>
          <a:xfrm>
            <a:off x="749808" y="3026664"/>
            <a:ext cx="1699558" cy="201168"/>
          </a:xfrm>
          <a:prstGeom prst="rect">
            <a:avLst/>
          </a:prstGeom>
          <a:noFill/>
        </p:spPr>
        <p:txBody>
          <a:bodyPr wrap="square" lIns="0" rIns="0" tIns="0" bIns="0" anchor="t">
            <a:spAutoFit/>
          </a:bodyPr>
          <a:lstStyle/>
          <a:p>
            <a:pPr algn="l">
              <a:lnSpc>
                <a:spcPct val="124000"/>
              </a:lnSpc>
              <a:spcAft>
                <a:spcPts val="0"/>
              </a:spcAft>
            </a:pPr>
            <a:r>
              <a:rPr sz="1000" b="1" i="0">
                <a:solidFill>
                  <a:srgbClr val="2A78D6"/>
                </a:solidFill>
                <a:latin typeface="Segoe UI"/>
              </a:rPr>
              <a:t>Jupyter</a:t>
            </a:r>
          </a:p>
        </p:txBody>
      </p:sp>
      <p:sp>
        <p:nvSpPr>
          <p:cNvPr id="12" name="TextBox 11"/>
          <p:cNvSpPr txBox="1"/>
          <p:nvPr/>
        </p:nvSpPr>
        <p:spPr>
          <a:xfrm>
            <a:off x="749808" y="3236976"/>
            <a:ext cx="1699558" cy="658368"/>
          </a:xfrm>
          <a:prstGeom prst="rect">
            <a:avLst/>
          </a:prstGeom>
          <a:noFill/>
        </p:spPr>
        <p:txBody>
          <a:bodyPr wrap="square" lIns="0" rIns="0" tIns="0" bIns="0" anchor="t">
            <a:spAutoFit/>
          </a:bodyPr>
          <a:lstStyle/>
          <a:p>
            <a:pPr algn="l">
              <a:lnSpc>
                <a:spcPct val="118000"/>
              </a:lnSpc>
              <a:spcAft>
                <a:spcPts val="0"/>
              </a:spcAft>
            </a:pPr>
            <a:r>
              <a:rPr sz="860" b="0" i="0">
                <a:solidFill>
                  <a:srgbClr val="898781"/>
                </a:solidFill>
                <a:latin typeface="Segoe UI"/>
              </a:rPr>
              <a:t>11 notebooks, committed with outputs</a:t>
            </a:r>
          </a:p>
        </p:txBody>
      </p:sp>
      <p:sp>
        <p:nvSpPr>
          <p:cNvPr id="13" name="TextBox 12"/>
          <p:cNvSpPr txBox="1"/>
          <p:nvPr/>
        </p:nvSpPr>
        <p:spPr>
          <a:xfrm>
            <a:off x="749808" y="3749040"/>
            <a:ext cx="1699558" cy="201168"/>
          </a:xfrm>
          <a:prstGeom prst="rect">
            <a:avLst/>
          </a:prstGeom>
          <a:noFill/>
        </p:spPr>
        <p:txBody>
          <a:bodyPr wrap="square" lIns="0" rIns="0" tIns="0" bIns="0" anchor="t">
            <a:spAutoFit/>
          </a:bodyPr>
          <a:lstStyle/>
          <a:p>
            <a:pPr algn="l">
              <a:lnSpc>
                <a:spcPct val="124000"/>
              </a:lnSpc>
              <a:spcAft>
                <a:spcPts val="0"/>
              </a:spcAft>
            </a:pPr>
            <a:r>
              <a:rPr sz="1000" b="1" i="0">
                <a:solidFill>
                  <a:srgbClr val="2A78D6"/>
                </a:solidFill>
                <a:latin typeface="Segoe UI"/>
              </a:rPr>
              <a:t>venv + requirements.txt</a:t>
            </a:r>
          </a:p>
        </p:txBody>
      </p:sp>
      <p:sp>
        <p:nvSpPr>
          <p:cNvPr id="14" name="TextBox 13"/>
          <p:cNvSpPr txBox="1"/>
          <p:nvPr/>
        </p:nvSpPr>
        <p:spPr>
          <a:xfrm>
            <a:off x="749808" y="3959352"/>
            <a:ext cx="1699558" cy="658368"/>
          </a:xfrm>
          <a:prstGeom prst="rect">
            <a:avLst/>
          </a:prstGeom>
          <a:noFill/>
        </p:spPr>
        <p:txBody>
          <a:bodyPr wrap="square" lIns="0" rIns="0" tIns="0" bIns="0" anchor="t">
            <a:spAutoFit/>
          </a:bodyPr>
          <a:lstStyle/>
          <a:p>
            <a:pPr algn="l">
              <a:lnSpc>
                <a:spcPct val="118000"/>
              </a:lnSpc>
              <a:spcAft>
                <a:spcPts val="0"/>
              </a:spcAft>
            </a:pPr>
            <a:r>
              <a:rPr sz="860" b="0" i="0">
                <a:solidFill>
                  <a:srgbClr val="898781"/>
                </a:solidFill>
                <a:latin typeface="Segoe UI"/>
              </a:rPr>
              <a:t>Pinned, reproducible environment</a:t>
            </a:r>
          </a:p>
        </p:txBody>
      </p:sp>
      <p:sp>
        <p:nvSpPr>
          <p:cNvPr id="15" name="Rectangle 14"/>
          <p:cNvSpPr/>
          <p:nvPr/>
        </p:nvSpPr>
        <p:spPr>
          <a:xfrm>
            <a:off x="2815126" y="1700784"/>
            <a:ext cx="2065318" cy="41605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2815126" y="1700784"/>
            <a:ext cx="2065318"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2998006" y="1901952"/>
            <a:ext cx="1699558" cy="475488"/>
          </a:xfrm>
          <a:prstGeom prst="rect">
            <a:avLst/>
          </a:prstGeom>
          <a:noFill/>
        </p:spPr>
        <p:txBody>
          <a:bodyPr wrap="square" lIns="0" rIns="0" tIns="0" bIns="0" anchor="t">
            <a:spAutoFit/>
          </a:bodyPr>
          <a:lstStyle/>
          <a:p>
            <a:pPr algn="l">
              <a:lnSpc>
                <a:spcPct val="116000"/>
              </a:lnSpc>
              <a:spcAft>
                <a:spcPts val="0"/>
              </a:spcAft>
            </a:pPr>
            <a:r>
              <a:rPr sz="1150" b="1" i="0">
                <a:solidFill>
                  <a:srgbClr val="0B0B0B"/>
                </a:solidFill>
                <a:latin typeface="Segoe UI"/>
              </a:rPr>
              <a:t>Data manipulation</a:t>
            </a:r>
          </a:p>
        </p:txBody>
      </p:sp>
      <p:sp>
        <p:nvSpPr>
          <p:cNvPr id="18" name="TextBox 17"/>
          <p:cNvSpPr txBox="1"/>
          <p:nvPr/>
        </p:nvSpPr>
        <p:spPr>
          <a:xfrm>
            <a:off x="2998006" y="2487168"/>
            <a:ext cx="1699558" cy="201168"/>
          </a:xfrm>
          <a:prstGeom prst="rect">
            <a:avLst/>
          </a:prstGeom>
          <a:noFill/>
        </p:spPr>
        <p:txBody>
          <a:bodyPr wrap="square" lIns="0" rIns="0" tIns="0" bIns="0" anchor="t">
            <a:spAutoFit/>
          </a:bodyPr>
          <a:lstStyle/>
          <a:p>
            <a:pPr algn="l">
              <a:lnSpc>
                <a:spcPct val="124000"/>
              </a:lnSpc>
              <a:spcAft>
                <a:spcPts val="0"/>
              </a:spcAft>
            </a:pPr>
            <a:r>
              <a:rPr sz="1000" b="1" i="0">
                <a:solidFill>
                  <a:srgbClr val="2A78D6"/>
                </a:solidFill>
                <a:latin typeface="Segoe UI"/>
              </a:rPr>
              <a:t>pandas</a:t>
            </a:r>
          </a:p>
        </p:txBody>
      </p:sp>
      <p:sp>
        <p:nvSpPr>
          <p:cNvPr id="19" name="TextBox 18"/>
          <p:cNvSpPr txBox="1"/>
          <p:nvPr/>
        </p:nvSpPr>
        <p:spPr>
          <a:xfrm>
            <a:off x="2998006" y="2697480"/>
            <a:ext cx="1699558" cy="658368"/>
          </a:xfrm>
          <a:prstGeom prst="rect">
            <a:avLst/>
          </a:prstGeom>
          <a:noFill/>
        </p:spPr>
        <p:txBody>
          <a:bodyPr wrap="square" lIns="0" rIns="0" tIns="0" bIns="0" anchor="t">
            <a:spAutoFit/>
          </a:bodyPr>
          <a:lstStyle/>
          <a:p>
            <a:pPr algn="l">
              <a:lnSpc>
                <a:spcPct val="118000"/>
              </a:lnSpc>
              <a:spcAft>
                <a:spcPts val="0"/>
              </a:spcAft>
            </a:pPr>
            <a:r>
              <a:rPr sz="860" b="0" i="0">
                <a:solidFill>
                  <a:srgbClr val="898781"/>
                </a:solidFill>
                <a:latin typeface="Segoe UI"/>
              </a:rPr>
              <a:t>Loading, grouping, cross-tabulation, qcut/cut banding, Styler formatting</a:t>
            </a:r>
          </a:p>
        </p:txBody>
      </p:sp>
      <p:sp>
        <p:nvSpPr>
          <p:cNvPr id="20" name="TextBox 19"/>
          <p:cNvSpPr txBox="1"/>
          <p:nvPr/>
        </p:nvSpPr>
        <p:spPr>
          <a:xfrm>
            <a:off x="2998006" y="3392424"/>
            <a:ext cx="1699558" cy="201168"/>
          </a:xfrm>
          <a:prstGeom prst="rect">
            <a:avLst/>
          </a:prstGeom>
          <a:noFill/>
        </p:spPr>
        <p:txBody>
          <a:bodyPr wrap="square" lIns="0" rIns="0" tIns="0" bIns="0" anchor="t">
            <a:spAutoFit/>
          </a:bodyPr>
          <a:lstStyle/>
          <a:p>
            <a:pPr algn="l">
              <a:lnSpc>
                <a:spcPct val="124000"/>
              </a:lnSpc>
              <a:spcAft>
                <a:spcPts val="0"/>
              </a:spcAft>
            </a:pPr>
            <a:r>
              <a:rPr sz="1000" b="1" i="0">
                <a:solidFill>
                  <a:srgbClr val="2A78D6"/>
                </a:solidFill>
                <a:latin typeface="Segoe UI"/>
              </a:rPr>
              <a:t>NumPy</a:t>
            </a:r>
          </a:p>
        </p:txBody>
      </p:sp>
      <p:sp>
        <p:nvSpPr>
          <p:cNvPr id="21" name="TextBox 20"/>
          <p:cNvSpPr txBox="1"/>
          <p:nvPr/>
        </p:nvSpPr>
        <p:spPr>
          <a:xfrm>
            <a:off x="2998006" y="3602736"/>
            <a:ext cx="1699558" cy="658368"/>
          </a:xfrm>
          <a:prstGeom prst="rect">
            <a:avLst/>
          </a:prstGeom>
          <a:noFill/>
        </p:spPr>
        <p:txBody>
          <a:bodyPr wrap="square" lIns="0" rIns="0" tIns="0" bIns="0" anchor="t">
            <a:spAutoFit/>
          </a:bodyPr>
          <a:lstStyle/>
          <a:p>
            <a:pPr algn="l">
              <a:lnSpc>
                <a:spcPct val="118000"/>
              </a:lnSpc>
              <a:spcAft>
                <a:spcPts val="0"/>
              </a:spcAft>
            </a:pPr>
            <a:r>
              <a:rPr sz="860" b="0" i="0">
                <a:solidFill>
                  <a:srgbClr val="898781"/>
                </a:solidFill>
                <a:latin typeface="Segoe UI"/>
              </a:rPr>
              <a:t>Numeric operations and bin arithmetic</a:t>
            </a:r>
          </a:p>
        </p:txBody>
      </p:sp>
      <p:sp>
        <p:nvSpPr>
          <p:cNvPr id="22" name="Rectangle 21"/>
          <p:cNvSpPr/>
          <p:nvPr/>
        </p:nvSpPr>
        <p:spPr>
          <a:xfrm>
            <a:off x="5063325" y="1700784"/>
            <a:ext cx="2065318" cy="41605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063325" y="1700784"/>
            <a:ext cx="2065318"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246205" y="1901952"/>
            <a:ext cx="1699558" cy="475488"/>
          </a:xfrm>
          <a:prstGeom prst="rect">
            <a:avLst/>
          </a:prstGeom>
          <a:noFill/>
        </p:spPr>
        <p:txBody>
          <a:bodyPr wrap="square" lIns="0" rIns="0" tIns="0" bIns="0" anchor="t">
            <a:spAutoFit/>
          </a:bodyPr>
          <a:lstStyle/>
          <a:p>
            <a:pPr algn="l">
              <a:lnSpc>
                <a:spcPct val="116000"/>
              </a:lnSpc>
              <a:spcAft>
                <a:spcPts val="0"/>
              </a:spcAft>
            </a:pPr>
            <a:r>
              <a:rPr sz="1150" b="1" i="0">
                <a:solidFill>
                  <a:srgbClr val="0B0B0B"/>
                </a:solidFill>
                <a:latin typeface="Segoe UI"/>
              </a:rPr>
              <a:t>Visualization</a:t>
            </a:r>
          </a:p>
        </p:txBody>
      </p:sp>
      <p:sp>
        <p:nvSpPr>
          <p:cNvPr id="25" name="TextBox 24"/>
          <p:cNvSpPr txBox="1"/>
          <p:nvPr/>
        </p:nvSpPr>
        <p:spPr>
          <a:xfrm>
            <a:off x="5246205" y="2487168"/>
            <a:ext cx="1699558" cy="201168"/>
          </a:xfrm>
          <a:prstGeom prst="rect">
            <a:avLst/>
          </a:prstGeom>
          <a:noFill/>
        </p:spPr>
        <p:txBody>
          <a:bodyPr wrap="square" lIns="0" rIns="0" tIns="0" bIns="0" anchor="t">
            <a:spAutoFit/>
          </a:bodyPr>
          <a:lstStyle/>
          <a:p>
            <a:pPr algn="l">
              <a:lnSpc>
                <a:spcPct val="124000"/>
              </a:lnSpc>
              <a:spcAft>
                <a:spcPts val="0"/>
              </a:spcAft>
            </a:pPr>
            <a:r>
              <a:rPr sz="1000" b="1" i="0">
                <a:solidFill>
                  <a:srgbClr val="2A78D6"/>
                </a:solidFill>
                <a:latin typeface="Segoe UI"/>
              </a:rPr>
              <a:t>Matplotlib</a:t>
            </a:r>
          </a:p>
        </p:txBody>
      </p:sp>
      <p:sp>
        <p:nvSpPr>
          <p:cNvPr id="26" name="TextBox 25"/>
          <p:cNvSpPr txBox="1"/>
          <p:nvPr/>
        </p:nvSpPr>
        <p:spPr>
          <a:xfrm>
            <a:off x="5246205" y="2697480"/>
            <a:ext cx="1699558" cy="658368"/>
          </a:xfrm>
          <a:prstGeom prst="rect">
            <a:avLst/>
          </a:prstGeom>
          <a:noFill/>
        </p:spPr>
        <p:txBody>
          <a:bodyPr wrap="square" lIns="0" rIns="0" tIns="0" bIns="0" anchor="t">
            <a:spAutoFit/>
          </a:bodyPr>
          <a:lstStyle/>
          <a:p>
            <a:pPr algn="l">
              <a:lnSpc>
                <a:spcPct val="118000"/>
              </a:lnSpc>
              <a:spcAft>
                <a:spcPts val="0"/>
              </a:spcAft>
            </a:pPr>
            <a:r>
              <a:rPr sz="860" b="0" i="0">
                <a:solidFill>
                  <a:srgbClr val="898781"/>
                </a:solidFill>
                <a:latin typeface="Segoe UI"/>
              </a:rPr>
              <a:t>Bar, line, box and histogram composition</a:t>
            </a:r>
          </a:p>
        </p:txBody>
      </p:sp>
      <p:sp>
        <p:nvSpPr>
          <p:cNvPr id="27" name="TextBox 26"/>
          <p:cNvSpPr txBox="1"/>
          <p:nvPr/>
        </p:nvSpPr>
        <p:spPr>
          <a:xfrm>
            <a:off x="5246205" y="3209544"/>
            <a:ext cx="1699558" cy="201168"/>
          </a:xfrm>
          <a:prstGeom prst="rect">
            <a:avLst/>
          </a:prstGeom>
          <a:noFill/>
        </p:spPr>
        <p:txBody>
          <a:bodyPr wrap="square" lIns="0" rIns="0" tIns="0" bIns="0" anchor="t">
            <a:spAutoFit/>
          </a:bodyPr>
          <a:lstStyle/>
          <a:p>
            <a:pPr algn="l">
              <a:lnSpc>
                <a:spcPct val="124000"/>
              </a:lnSpc>
              <a:spcAft>
                <a:spcPts val="0"/>
              </a:spcAft>
            </a:pPr>
            <a:r>
              <a:rPr sz="1000" b="1" i="0">
                <a:solidFill>
                  <a:srgbClr val="2A78D6"/>
                </a:solidFill>
                <a:latin typeface="Segoe UI"/>
              </a:rPr>
              <a:t>seaborn</a:t>
            </a:r>
          </a:p>
        </p:txBody>
      </p:sp>
      <p:sp>
        <p:nvSpPr>
          <p:cNvPr id="28" name="TextBox 27"/>
          <p:cNvSpPr txBox="1"/>
          <p:nvPr/>
        </p:nvSpPr>
        <p:spPr>
          <a:xfrm>
            <a:off x="5246205" y="3419856"/>
            <a:ext cx="1699558" cy="658368"/>
          </a:xfrm>
          <a:prstGeom prst="rect">
            <a:avLst/>
          </a:prstGeom>
          <a:noFill/>
        </p:spPr>
        <p:txBody>
          <a:bodyPr wrap="square" lIns="0" rIns="0" tIns="0" bIns="0" anchor="t">
            <a:spAutoFit/>
          </a:bodyPr>
          <a:lstStyle/>
          <a:p>
            <a:pPr algn="l">
              <a:lnSpc>
                <a:spcPct val="118000"/>
              </a:lnSpc>
              <a:spcAft>
                <a:spcPts val="0"/>
              </a:spcAft>
            </a:pPr>
            <a:r>
              <a:rPr sz="860" b="0" i="0">
                <a:solidFill>
                  <a:srgbClr val="898781"/>
                </a:solidFill>
                <a:latin typeface="Segoe UI"/>
              </a:rPr>
              <a:t>Statistical plots and distribution comparison</a:t>
            </a:r>
          </a:p>
        </p:txBody>
      </p:sp>
      <p:sp>
        <p:nvSpPr>
          <p:cNvPr id="29" name="TextBox 28"/>
          <p:cNvSpPr txBox="1"/>
          <p:nvPr/>
        </p:nvSpPr>
        <p:spPr>
          <a:xfrm>
            <a:off x="5246205" y="3931920"/>
            <a:ext cx="1699558" cy="201168"/>
          </a:xfrm>
          <a:prstGeom prst="rect">
            <a:avLst/>
          </a:prstGeom>
          <a:noFill/>
        </p:spPr>
        <p:txBody>
          <a:bodyPr wrap="square" lIns="0" rIns="0" tIns="0" bIns="0" anchor="t">
            <a:spAutoFit/>
          </a:bodyPr>
          <a:lstStyle/>
          <a:p>
            <a:pPr algn="l">
              <a:lnSpc>
                <a:spcPct val="124000"/>
              </a:lnSpc>
              <a:spcAft>
                <a:spcPts val="0"/>
              </a:spcAft>
            </a:pPr>
            <a:r>
              <a:rPr sz="1000" b="1" i="0">
                <a:solidFill>
                  <a:srgbClr val="2A78D6"/>
                </a:solidFill>
                <a:latin typeface="Segoe UI"/>
              </a:rPr>
              <a:t>Plotly + Dash</a:t>
            </a:r>
          </a:p>
        </p:txBody>
      </p:sp>
      <p:sp>
        <p:nvSpPr>
          <p:cNvPr id="30" name="TextBox 29"/>
          <p:cNvSpPr txBox="1"/>
          <p:nvPr/>
        </p:nvSpPr>
        <p:spPr>
          <a:xfrm>
            <a:off x="5246205" y="4142232"/>
            <a:ext cx="1699558" cy="658368"/>
          </a:xfrm>
          <a:prstGeom prst="rect">
            <a:avLst/>
          </a:prstGeom>
          <a:noFill/>
        </p:spPr>
        <p:txBody>
          <a:bodyPr wrap="square" lIns="0" rIns="0" tIns="0" bIns="0" anchor="t">
            <a:spAutoFit/>
          </a:bodyPr>
          <a:lstStyle/>
          <a:p>
            <a:pPr algn="l">
              <a:lnSpc>
                <a:spcPct val="118000"/>
              </a:lnSpc>
              <a:spcAft>
                <a:spcPts val="0"/>
              </a:spcAft>
            </a:pPr>
            <a:r>
              <a:rPr sz="860" b="0" i="0">
                <a:solidFill>
                  <a:srgbClr val="898781"/>
                </a:solidFill>
                <a:latin typeface="Segoe UI"/>
              </a:rPr>
              <a:t>Interactive attrition explorer dashboard</a:t>
            </a:r>
          </a:p>
        </p:txBody>
      </p:sp>
      <p:sp>
        <p:nvSpPr>
          <p:cNvPr id="31" name="Rectangle 30"/>
          <p:cNvSpPr/>
          <p:nvPr/>
        </p:nvSpPr>
        <p:spPr>
          <a:xfrm>
            <a:off x="7311524" y="1700784"/>
            <a:ext cx="2065318" cy="41605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311524" y="1700784"/>
            <a:ext cx="2065318" cy="4114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494404" y="1901952"/>
            <a:ext cx="1699558" cy="475488"/>
          </a:xfrm>
          <a:prstGeom prst="rect">
            <a:avLst/>
          </a:prstGeom>
          <a:noFill/>
        </p:spPr>
        <p:txBody>
          <a:bodyPr wrap="square" lIns="0" rIns="0" tIns="0" bIns="0" anchor="t">
            <a:spAutoFit/>
          </a:bodyPr>
          <a:lstStyle/>
          <a:p>
            <a:pPr algn="l">
              <a:lnSpc>
                <a:spcPct val="116000"/>
              </a:lnSpc>
              <a:spcAft>
                <a:spcPts val="0"/>
              </a:spcAft>
            </a:pPr>
            <a:r>
              <a:rPr sz="1150" b="1" i="0">
                <a:solidFill>
                  <a:srgbClr val="0B0B0B"/>
                </a:solidFill>
                <a:latin typeface="Segoe UI"/>
              </a:rPr>
              <a:t>Analysis &amp; modelling</a:t>
            </a:r>
          </a:p>
        </p:txBody>
      </p:sp>
      <p:sp>
        <p:nvSpPr>
          <p:cNvPr id="34" name="TextBox 33"/>
          <p:cNvSpPr txBox="1"/>
          <p:nvPr/>
        </p:nvSpPr>
        <p:spPr>
          <a:xfrm>
            <a:off x="7494404" y="2487168"/>
            <a:ext cx="1699558" cy="201168"/>
          </a:xfrm>
          <a:prstGeom prst="rect">
            <a:avLst/>
          </a:prstGeom>
          <a:noFill/>
        </p:spPr>
        <p:txBody>
          <a:bodyPr wrap="square" lIns="0" rIns="0" tIns="0" bIns="0" anchor="t">
            <a:spAutoFit/>
          </a:bodyPr>
          <a:lstStyle/>
          <a:p>
            <a:pPr algn="l">
              <a:lnSpc>
                <a:spcPct val="124000"/>
              </a:lnSpc>
              <a:spcAft>
                <a:spcPts val="0"/>
              </a:spcAft>
            </a:pPr>
            <a:r>
              <a:rPr sz="1000" b="1" i="0">
                <a:solidFill>
                  <a:srgbClr val="898781"/>
                </a:solidFill>
                <a:latin typeface="Segoe UI"/>
              </a:rPr>
              <a:t>Descriptive statistics</a:t>
            </a:r>
          </a:p>
        </p:txBody>
      </p:sp>
      <p:sp>
        <p:nvSpPr>
          <p:cNvPr id="35" name="TextBox 34"/>
          <p:cNvSpPr txBox="1"/>
          <p:nvPr/>
        </p:nvSpPr>
        <p:spPr>
          <a:xfrm>
            <a:off x="7494404" y="2697480"/>
            <a:ext cx="1699558" cy="658368"/>
          </a:xfrm>
          <a:prstGeom prst="rect">
            <a:avLst/>
          </a:prstGeom>
          <a:noFill/>
        </p:spPr>
        <p:txBody>
          <a:bodyPr wrap="square" lIns="0" rIns="0" tIns="0" bIns="0" anchor="t">
            <a:spAutoFit/>
          </a:bodyPr>
          <a:lstStyle/>
          <a:p>
            <a:pPr algn="l">
              <a:lnSpc>
                <a:spcPct val="118000"/>
              </a:lnSpc>
              <a:spcAft>
                <a:spcPts val="0"/>
              </a:spcAft>
            </a:pPr>
            <a:r>
              <a:rPr sz="860" b="0" i="0">
                <a:solidFill>
                  <a:srgbClr val="898781"/>
                </a:solidFill>
                <a:latin typeface="Segoe UI"/>
              </a:rPr>
              <a:t>Segment rates, baseline gaps, excess attrition</a:t>
            </a:r>
          </a:p>
        </p:txBody>
      </p:sp>
      <p:sp>
        <p:nvSpPr>
          <p:cNvPr id="36" name="TextBox 35"/>
          <p:cNvSpPr txBox="1"/>
          <p:nvPr/>
        </p:nvSpPr>
        <p:spPr>
          <a:xfrm>
            <a:off x="7494404" y="3209544"/>
            <a:ext cx="1699558" cy="201168"/>
          </a:xfrm>
          <a:prstGeom prst="rect">
            <a:avLst/>
          </a:prstGeom>
          <a:noFill/>
        </p:spPr>
        <p:txBody>
          <a:bodyPr wrap="square" lIns="0" rIns="0" tIns="0" bIns="0" anchor="t">
            <a:spAutoFit/>
          </a:bodyPr>
          <a:lstStyle/>
          <a:p>
            <a:pPr algn="l">
              <a:lnSpc>
                <a:spcPct val="124000"/>
              </a:lnSpc>
              <a:spcAft>
                <a:spcPts val="0"/>
              </a:spcAft>
            </a:pPr>
            <a:r>
              <a:rPr sz="1000" b="1" i="0">
                <a:solidFill>
                  <a:srgbClr val="898781"/>
                </a:solidFill>
                <a:latin typeface="Segoe UI"/>
              </a:rPr>
              <a:t>IQR outlier detection</a:t>
            </a:r>
          </a:p>
        </p:txBody>
      </p:sp>
      <p:sp>
        <p:nvSpPr>
          <p:cNvPr id="37" name="TextBox 36"/>
          <p:cNvSpPr txBox="1"/>
          <p:nvPr/>
        </p:nvSpPr>
        <p:spPr>
          <a:xfrm>
            <a:off x="7494404" y="3419856"/>
            <a:ext cx="1699558" cy="658368"/>
          </a:xfrm>
          <a:prstGeom prst="rect">
            <a:avLst/>
          </a:prstGeom>
          <a:noFill/>
        </p:spPr>
        <p:txBody>
          <a:bodyPr wrap="square" lIns="0" rIns="0" tIns="0" bIns="0" anchor="t">
            <a:spAutoFit/>
          </a:bodyPr>
          <a:lstStyle/>
          <a:p>
            <a:pPr algn="l">
              <a:lnSpc>
                <a:spcPct val="118000"/>
              </a:lnSpc>
              <a:spcAft>
                <a:spcPts val="0"/>
              </a:spcAft>
            </a:pPr>
            <a:r>
              <a:rPr sz="860" b="0" i="0">
                <a:solidFill>
                  <a:srgbClr val="898781"/>
                </a:solidFill>
                <a:latin typeface="Segoe UI"/>
              </a:rPr>
              <a:t>Fences, review and a documented retention decision</a:t>
            </a:r>
          </a:p>
        </p:txBody>
      </p:sp>
      <p:sp>
        <p:nvSpPr>
          <p:cNvPr id="38" name="TextBox 37"/>
          <p:cNvSpPr txBox="1"/>
          <p:nvPr/>
        </p:nvSpPr>
        <p:spPr>
          <a:xfrm>
            <a:off x="7494404" y="3931920"/>
            <a:ext cx="1699558" cy="201168"/>
          </a:xfrm>
          <a:prstGeom prst="rect">
            <a:avLst/>
          </a:prstGeom>
          <a:noFill/>
        </p:spPr>
        <p:txBody>
          <a:bodyPr wrap="square" lIns="0" rIns="0" tIns="0" bIns="0" anchor="t">
            <a:spAutoFit/>
          </a:bodyPr>
          <a:lstStyle/>
          <a:p>
            <a:pPr algn="l">
              <a:lnSpc>
                <a:spcPct val="124000"/>
              </a:lnSpc>
              <a:spcAft>
                <a:spcPts val="0"/>
              </a:spcAft>
            </a:pPr>
            <a:r>
              <a:rPr sz="1000" b="1" i="0">
                <a:solidFill>
                  <a:srgbClr val="898781"/>
                </a:solidFill>
                <a:latin typeface="Segoe UI"/>
              </a:rPr>
              <a:t>Pearson correlation</a:t>
            </a:r>
          </a:p>
        </p:txBody>
      </p:sp>
      <p:sp>
        <p:nvSpPr>
          <p:cNvPr id="39" name="TextBox 38"/>
          <p:cNvSpPr txBox="1"/>
          <p:nvPr/>
        </p:nvSpPr>
        <p:spPr>
          <a:xfrm>
            <a:off x="7494404" y="4142232"/>
            <a:ext cx="1699558" cy="658368"/>
          </a:xfrm>
          <a:prstGeom prst="rect">
            <a:avLst/>
          </a:prstGeom>
          <a:noFill/>
        </p:spPr>
        <p:txBody>
          <a:bodyPr wrap="square" lIns="0" rIns="0" tIns="0" bIns="0" anchor="t">
            <a:spAutoFit/>
          </a:bodyPr>
          <a:lstStyle/>
          <a:p>
            <a:pPr algn="l">
              <a:lnSpc>
                <a:spcPct val="118000"/>
              </a:lnSpc>
              <a:spcAft>
                <a:spcPts val="0"/>
              </a:spcAft>
            </a:pPr>
            <a:r>
              <a:rPr sz="860" b="0" i="0">
                <a:solidFill>
                  <a:srgbClr val="898781"/>
                </a:solidFill>
                <a:latin typeface="Segoe UI"/>
              </a:rPr>
              <a:t>Numeric screening against the target</a:t>
            </a:r>
          </a:p>
        </p:txBody>
      </p:sp>
      <p:sp>
        <p:nvSpPr>
          <p:cNvPr id="40" name="TextBox 39"/>
          <p:cNvSpPr txBox="1"/>
          <p:nvPr/>
        </p:nvSpPr>
        <p:spPr>
          <a:xfrm>
            <a:off x="7494404" y="4654296"/>
            <a:ext cx="1699558" cy="201168"/>
          </a:xfrm>
          <a:prstGeom prst="rect">
            <a:avLst/>
          </a:prstGeom>
          <a:noFill/>
        </p:spPr>
        <p:txBody>
          <a:bodyPr wrap="square" lIns="0" rIns="0" tIns="0" bIns="0" anchor="t">
            <a:spAutoFit/>
          </a:bodyPr>
          <a:lstStyle/>
          <a:p>
            <a:pPr algn="l">
              <a:lnSpc>
                <a:spcPct val="124000"/>
              </a:lnSpc>
              <a:spcAft>
                <a:spcPts val="0"/>
              </a:spcAft>
            </a:pPr>
            <a:r>
              <a:rPr sz="1000" b="1" i="0">
                <a:solidFill>
                  <a:srgbClr val="898781"/>
                </a:solidFill>
                <a:latin typeface="Segoe UI"/>
              </a:rPr>
              <a:t>scikit-learn</a:t>
            </a:r>
          </a:p>
        </p:txBody>
      </p:sp>
      <p:sp>
        <p:nvSpPr>
          <p:cNvPr id="41" name="TextBox 40"/>
          <p:cNvSpPr txBox="1"/>
          <p:nvPr/>
        </p:nvSpPr>
        <p:spPr>
          <a:xfrm>
            <a:off x="7494404" y="4864608"/>
            <a:ext cx="1699558" cy="658368"/>
          </a:xfrm>
          <a:prstGeom prst="rect">
            <a:avLst/>
          </a:prstGeom>
          <a:noFill/>
        </p:spPr>
        <p:txBody>
          <a:bodyPr wrap="square" lIns="0" rIns="0" tIns="0" bIns="0" anchor="t">
            <a:spAutoFit/>
          </a:bodyPr>
          <a:lstStyle/>
          <a:p>
            <a:pPr algn="l">
              <a:lnSpc>
                <a:spcPct val="118000"/>
              </a:lnSpc>
              <a:spcAft>
                <a:spcPts val="0"/>
              </a:spcAft>
            </a:pPr>
            <a:r>
              <a:rPr sz="860" b="0" i="0">
                <a:solidFill>
                  <a:srgbClr val="898781"/>
                </a:solidFill>
                <a:latin typeface="Segoe UI"/>
              </a:rPr>
              <a:t>StandardScaler, stratified split, logistic regression, classification report, ROC-AUC</a:t>
            </a:r>
          </a:p>
        </p:txBody>
      </p:sp>
      <p:sp>
        <p:nvSpPr>
          <p:cNvPr id="42" name="Rectangle 41"/>
          <p:cNvSpPr/>
          <p:nvPr/>
        </p:nvSpPr>
        <p:spPr>
          <a:xfrm>
            <a:off x="9559722" y="1700784"/>
            <a:ext cx="2065318" cy="41605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9559722" y="1700784"/>
            <a:ext cx="2065318" cy="4114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9742602" y="1901952"/>
            <a:ext cx="1699558" cy="475488"/>
          </a:xfrm>
          <a:prstGeom prst="rect">
            <a:avLst/>
          </a:prstGeom>
          <a:noFill/>
        </p:spPr>
        <p:txBody>
          <a:bodyPr wrap="square" lIns="0" rIns="0" tIns="0" bIns="0" anchor="t">
            <a:spAutoFit/>
          </a:bodyPr>
          <a:lstStyle/>
          <a:p>
            <a:pPr algn="l">
              <a:lnSpc>
                <a:spcPct val="116000"/>
              </a:lnSpc>
              <a:spcAft>
                <a:spcPts val="0"/>
              </a:spcAft>
            </a:pPr>
            <a:r>
              <a:rPr sz="1150" b="1" i="0">
                <a:solidFill>
                  <a:srgbClr val="0B0B0B"/>
                </a:solidFill>
                <a:latin typeface="Segoe UI"/>
              </a:rPr>
              <a:t>Collaboration</a:t>
            </a:r>
          </a:p>
        </p:txBody>
      </p:sp>
      <p:sp>
        <p:nvSpPr>
          <p:cNvPr id="45" name="TextBox 44"/>
          <p:cNvSpPr txBox="1"/>
          <p:nvPr/>
        </p:nvSpPr>
        <p:spPr>
          <a:xfrm>
            <a:off x="9742602" y="2487168"/>
            <a:ext cx="1699558" cy="201168"/>
          </a:xfrm>
          <a:prstGeom prst="rect">
            <a:avLst/>
          </a:prstGeom>
          <a:noFill/>
        </p:spPr>
        <p:txBody>
          <a:bodyPr wrap="square" lIns="0" rIns="0" tIns="0" bIns="0" anchor="t">
            <a:spAutoFit/>
          </a:bodyPr>
          <a:lstStyle/>
          <a:p>
            <a:pPr algn="l">
              <a:lnSpc>
                <a:spcPct val="124000"/>
              </a:lnSpc>
              <a:spcAft>
                <a:spcPts val="0"/>
              </a:spcAft>
            </a:pPr>
            <a:r>
              <a:rPr sz="1000" b="1" i="0">
                <a:solidFill>
                  <a:srgbClr val="898781"/>
                </a:solidFill>
                <a:latin typeface="Segoe UI"/>
              </a:rPr>
              <a:t>Git &amp; GitHub</a:t>
            </a:r>
          </a:p>
        </p:txBody>
      </p:sp>
      <p:sp>
        <p:nvSpPr>
          <p:cNvPr id="46" name="TextBox 45"/>
          <p:cNvSpPr txBox="1"/>
          <p:nvPr/>
        </p:nvSpPr>
        <p:spPr>
          <a:xfrm>
            <a:off x="9742602" y="2697480"/>
            <a:ext cx="1699558" cy="658368"/>
          </a:xfrm>
          <a:prstGeom prst="rect">
            <a:avLst/>
          </a:prstGeom>
          <a:noFill/>
        </p:spPr>
        <p:txBody>
          <a:bodyPr wrap="square" lIns="0" rIns="0" tIns="0" bIns="0" anchor="t">
            <a:spAutoFit/>
          </a:bodyPr>
          <a:lstStyle/>
          <a:p>
            <a:pPr algn="l">
              <a:lnSpc>
                <a:spcPct val="118000"/>
              </a:lnSpc>
              <a:spcAft>
                <a:spcPts val="0"/>
              </a:spcAft>
            </a:pPr>
            <a:r>
              <a:rPr sz="860" b="0" i="0">
                <a:solidFill>
                  <a:srgbClr val="898781"/>
                </a:solidFill>
                <a:latin typeface="Segoe UI"/>
              </a:rPr>
              <a:t>Feature branches, pull requests, merge conflict resolution</a:t>
            </a:r>
          </a:p>
        </p:txBody>
      </p:sp>
      <p:sp>
        <p:nvSpPr>
          <p:cNvPr id="47" name="TextBox 46"/>
          <p:cNvSpPr txBox="1"/>
          <p:nvPr/>
        </p:nvSpPr>
        <p:spPr>
          <a:xfrm>
            <a:off x="9742602" y="3209544"/>
            <a:ext cx="1699558" cy="201168"/>
          </a:xfrm>
          <a:prstGeom prst="rect">
            <a:avLst/>
          </a:prstGeom>
          <a:noFill/>
        </p:spPr>
        <p:txBody>
          <a:bodyPr wrap="square" lIns="0" rIns="0" tIns="0" bIns="0" anchor="t">
            <a:spAutoFit/>
          </a:bodyPr>
          <a:lstStyle/>
          <a:p>
            <a:pPr algn="l">
              <a:lnSpc>
                <a:spcPct val="124000"/>
              </a:lnSpc>
              <a:spcAft>
                <a:spcPts val="0"/>
              </a:spcAft>
            </a:pPr>
            <a:r>
              <a:rPr sz="1000" b="1" i="0">
                <a:solidFill>
                  <a:srgbClr val="898781"/>
                </a:solidFill>
                <a:latin typeface="Segoe UI"/>
              </a:rPr>
              <a:t>Conventional Commits</a:t>
            </a:r>
          </a:p>
        </p:txBody>
      </p:sp>
      <p:sp>
        <p:nvSpPr>
          <p:cNvPr id="48" name="TextBox 47"/>
          <p:cNvSpPr txBox="1"/>
          <p:nvPr/>
        </p:nvSpPr>
        <p:spPr>
          <a:xfrm>
            <a:off x="9742602" y="3419856"/>
            <a:ext cx="1699558" cy="658368"/>
          </a:xfrm>
          <a:prstGeom prst="rect">
            <a:avLst/>
          </a:prstGeom>
          <a:noFill/>
        </p:spPr>
        <p:txBody>
          <a:bodyPr wrap="square" lIns="0" rIns="0" tIns="0" bIns="0" anchor="t">
            <a:spAutoFit/>
          </a:bodyPr>
          <a:lstStyle/>
          <a:p>
            <a:pPr algn="l">
              <a:lnSpc>
                <a:spcPct val="118000"/>
              </a:lnSpc>
              <a:spcAft>
                <a:spcPts val="0"/>
              </a:spcAft>
            </a:pPr>
            <a:r>
              <a:rPr sz="860" b="0" i="0">
                <a:solidFill>
                  <a:srgbClr val="898781"/>
                </a:solidFill>
                <a:latin typeface="Segoe UI"/>
              </a:rPr>
              <a:t>Typed, scoped commit messages as a readable changelog</a:t>
            </a:r>
          </a:p>
        </p:txBody>
      </p:sp>
      <p:sp>
        <p:nvSpPr>
          <p:cNvPr id="49" name="Rectangle 48"/>
          <p:cNvSpPr/>
          <p:nvPr/>
        </p:nvSpPr>
        <p:spPr>
          <a:xfrm>
            <a:off x="566928" y="5650992"/>
            <a:ext cx="11058113" cy="493776"/>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566928" y="5650992"/>
            <a:ext cx="41148" cy="493776"/>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786384" y="5788152"/>
            <a:ext cx="10655777" cy="219456"/>
          </a:xfrm>
          <a:prstGeom prst="rect">
            <a:avLst/>
          </a:prstGeom>
          <a:noFill/>
        </p:spPr>
        <p:txBody>
          <a:bodyPr wrap="square" lIns="0" rIns="0" tIns="0" bIns="0" anchor="t">
            <a:spAutoFit/>
          </a:bodyPr>
          <a:lstStyle/>
          <a:p>
            <a:pPr algn="l">
              <a:lnSpc>
                <a:spcPct val="124000"/>
              </a:lnSpc>
              <a:spcAft>
                <a:spcPts val="0"/>
              </a:spcAft>
            </a:pPr>
            <a:r>
              <a:rPr sz="850" b="1" i="0">
                <a:solidFill>
                  <a:srgbClr val="E34948"/>
                </a:solidFill>
                <a:latin typeface="Segoe UI"/>
              </a:rPr>
              <a:t>NOT USED, DESPITE THE README</a:t>
            </a:r>
          </a:p>
        </p:txBody>
      </p:sp>
      <p:sp>
        <p:nvSpPr>
          <p:cNvPr id="52" name="TextBox 51"/>
          <p:cNvSpPr txBox="1"/>
          <p:nvPr/>
        </p:nvSpPr>
        <p:spPr>
          <a:xfrm>
            <a:off x="786384" y="6035040"/>
            <a:ext cx="10655777" cy="0"/>
          </a:xfrm>
          <a:prstGeom prst="rect">
            <a:avLst/>
          </a:prstGeom>
          <a:noFill/>
        </p:spPr>
        <p:txBody>
          <a:bodyPr wrap="square" lIns="0" rIns="0" tIns="0" bIns="0" anchor="t">
            <a:spAutoFit/>
          </a:bodyPr>
          <a:lstStyle/>
          <a:p>
            <a:pPr algn="l">
              <a:lnSpc>
                <a:spcPct val="126000"/>
              </a:lnSpc>
              <a:spcAft>
                <a:spcPts val="0"/>
              </a:spcAft>
            </a:pPr>
            <a:r>
              <a:rPr sz="1150" b="0" i="0">
                <a:solidFill>
                  <a:srgbClr val="0B0B0B"/>
                </a:solidFill>
                <a:latin typeface="Segoe UI"/>
              </a:rPr>
              <a:t>The README's technology table also lists Microsoft Excel and Streamlit. Neither appears anywhere in the repository — the dashboard is built with Dash and Plotly.</a:t>
            </a:r>
          </a:p>
        </p:txBody>
      </p:sp>
      <p:sp>
        <p:nvSpPr>
          <p:cNvPr id="53" name="Rectangle 52"/>
          <p:cNvSpPr/>
          <p:nvPr/>
        </p:nvSpPr>
        <p:spPr>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566928" y="6455664"/>
            <a:ext cx="7961841" cy="219456"/>
          </a:xfrm>
          <a:prstGeom prst="rect">
            <a:avLst/>
          </a:prstGeom>
          <a:noFill/>
        </p:spPr>
        <p:txBody>
          <a:bodyPr wrap="square" lIns="0" rIns="0" tIns="0" bIns="0" anchor="t">
            <a:spAutoFit/>
          </a:bodyPr>
          <a:lstStyle/>
          <a:p>
            <a:pPr algn="l">
              <a:lnSpc>
                <a:spcPct val="124000"/>
              </a:lnSpc>
              <a:spcAft>
                <a:spcPts val="0"/>
              </a:spcAft>
            </a:pPr>
            <a:r>
              <a:rPr sz="850" b="0" i="0">
                <a:solidFill>
                  <a:srgbClr val="898781"/>
                </a:solidFill>
                <a:latin typeface="Segoe UI"/>
              </a:rPr>
              <a:t>notebooks/ · dashboards/app/ · requirements.txt</a:t>
            </a:r>
          </a:p>
        </p:txBody>
      </p:sp>
      <p:sp>
        <p:nvSpPr>
          <p:cNvPr id="55" name="TextBox 54"/>
          <p:cNvSpPr txBox="1"/>
          <p:nvPr/>
        </p:nvSpPr>
        <p:spPr>
          <a:xfrm>
            <a:off x="8749932" y="6455664"/>
            <a:ext cx="2875109" cy="219456"/>
          </a:xfrm>
          <a:prstGeom prst="rect">
            <a:avLst/>
          </a:prstGeom>
          <a:noFill/>
        </p:spPr>
        <p:txBody>
          <a:bodyPr wrap="square" lIns="0" rIns="0" tIns="0" bIns="0" anchor="t">
            <a:spAutoFit/>
          </a:bodyPr>
          <a:lstStyle/>
          <a:p>
            <a:pPr algn="r">
              <a:lnSpc>
                <a:spcPct val="124000"/>
              </a:lnSpc>
              <a:spcAft>
                <a:spcPts val="0"/>
              </a:spcAft>
            </a:pPr>
            <a:r>
              <a:rPr sz="850" b="0" i="0">
                <a:solidFill>
                  <a:srgbClr val="898781"/>
                </a:solidFill>
                <a:latin typeface="Segoe U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8113" cy="219456"/>
          </a:xfrm>
          <a:prstGeom prst="rect">
            <a:avLst/>
          </a:prstGeom>
          <a:noFill/>
        </p:spPr>
        <p:txBody>
          <a:bodyPr wrap="square" lIns="0" rIns="0" tIns="0" bIns="0" anchor="t">
            <a:spAutoFit/>
          </a:bodyPr>
          <a:lstStyle/>
          <a:p>
            <a:pPr algn="l">
              <a:lnSpc>
                <a:spcPct val="124000"/>
              </a:lnSpc>
              <a:spcAft>
                <a:spcPts val="0"/>
              </a:spcAft>
            </a:pPr>
            <a:r>
              <a:rPr sz="950" b="1" i="0">
                <a:solidFill>
                  <a:srgbClr val="2A78D6"/>
                </a:solidFill>
                <a:latin typeface="Segoe UI"/>
              </a:rPr>
              <a:t>WHERE THIS LEAVES US</a:t>
            </a:r>
          </a:p>
        </p:txBody>
      </p:sp>
      <p:sp>
        <p:nvSpPr>
          <p:cNvPr id="3" name="TextBox 2"/>
          <p:cNvSpPr txBox="1"/>
          <p:nvPr/>
        </p:nvSpPr>
        <p:spPr>
          <a:xfrm>
            <a:off x="566928" y="603504"/>
            <a:ext cx="11058113" cy="475488"/>
          </a:xfrm>
          <a:prstGeom prst="rect">
            <a:avLst/>
          </a:prstGeom>
          <a:noFill/>
        </p:spPr>
        <p:txBody>
          <a:bodyPr wrap="square" lIns="0" rIns="0" tIns="0" bIns="0" anchor="t">
            <a:spAutoFit/>
          </a:bodyPr>
          <a:lstStyle/>
          <a:p>
            <a:pPr algn="l">
              <a:lnSpc>
                <a:spcPct val="124000"/>
              </a:lnSpc>
              <a:spcAft>
                <a:spcPts val="0"/>
              </a:spcAft>
            </a:pPr>
            <a:r>
              <a:rPr sz="2500" b="1" i="0">
                <a:solidFill>
                  <a:srgbClr val="0B0B0B"/>
                </a:solidFill>
                <a:latin typeface="Segoe UI"/>
              </a:rPr>
              <a:t>Conclusion</a:t>
            </a:r>
          </a:p>
        </p:txBody>
      </p:sp>
      <p:sp>
        <p:nvSpPr>
          <p:cNvPr id="4" name="TextBox 3"/>
          <p:cNvSpPr txBox="1"/>
          <p:nvPr/>
        </p:nvSpPr>
        <p:spPr>
          <a:xfrm>
            <a:off x="566928" y="1106424"/>
            <a:ext cx="11058113" cy="274320"/>
          </a:xfrm>
          <a:prstGeom prst="rect">
            <a:avLst/>
          </a:prstGeom>
          <a:noFill/>
        </p:spPr>
        <p:txBody>
          <a:bodyPr wrap="square" lIns="0" rIns="0" tIns="0" bIns="0" anchor="t">
            <a:spAutoFit/>
          </a:bodyPr>
          <a:lstStyle/>
          <a:p>
            <a:pPr algn="l">
              <a:lnSpc>
                <a:spcPct val="124000"/>
              </a:lnSpc>
              <a:spcAft>
                <a:spcPts val="0"/>
              </a:spcAft>
            </a:pPr>
            <a:r>
              <a:rPr sz="1250" b="0" i="0">
                <a:solidFill>
                  <a:srgbClr val="52514E"/>
                </a:solidFill>
                <a:latin typeface="Segoe UI"/>
              </a:rPr>
              <a:t>What the exploratory analysis proved, what it means, and what would have to happen next — kept clearly apart.</a:t>
            </a:r>
          </a:p>
        </p:txBody>
      </p:sp>
      <p:sp>
        <p:nvSpPr>
          <p:cNvPr id="5" name="Rectangle 4"/>
          <p:cNvSpPr/>
          <p:nvPr/>
        </p:nvSpPr>
        <p:spPr>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66928" y="1700784"/>
            <a:ext cx="3539733" cy="4315968"/>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66928" y="1700784"/>
            <a:ext cx="3539733"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04672" y="1920240"/>
            <a:ext cx="3064245" cy="274320"/>
          </a:xfrm>
          <a:prstGeom prst="rect">
            <a:avLst/>
          </a:prstGeom>
          <a:noFill/>
        </p:spPr>
        <p:txBody>
          <a:bodyPr wrap="square" lIns="0" rIns="0" tIns="0" bIns="0" anchor="t">
            <a:spAutoFit/>
          </a:bodyPr>
          <a:lstStyle/>
          <a:p>
            <a:pPr algn="l">
              <a:lnSpc>
                <a:spcPct val="124000"/>
              </a:lnSpc>
              <a:spcAft>
                <a:spcPts val="0"/>
              </a:spcAft>
            </a:pPr>
            <a:r>
              <a:rPr sz="1300" b="1" i="0">
                <a:solidFill>
                  <a:srgbClr val="0B0B0B"/>
                </a:solidFill>
                <a:latin typeface="Segoe UI"/>
              </a:rPr>
              <a:t>What we discovered</a:t>
            </a:r>
          </a:p>
        </p:txBody>
      </p:sp>
      <p:sp>
        <p:nvSpPr>
          <p:cNvPr id="9" name="TextBox 8"/>
          <p:cNvSpPr txBox="1"/>
          <p:nvPr/>
        </p:nvSpPr>
        <p:spPr>
          <a:xfrm>
            <a:off x="804672" y="2340864"/>
            <a:ext cx="3064245" cy="3474720"/>
          </a:xfrm>
          <a:prstGeom prst="rect">
            <a:avLst/>
          </a:prstGeom>
          <a:noFill/>
        </p:spPr>
        <p:txBody>
          <a:bodyPr wrap="square" lIns="0" rIns="0" tIns="0" bIns="0" anchor="t">
            <a:spAutoFit/>
          </a:bodyPr>
          <a:lstStyle/>
          <a:p>
            <a:pPr algn="l">
              <a:lnSpc>
                <a:spcPct val="122000"/>
              </a:lnSpc>
              <a:spcAft>
                <a:spcPts val="900"/>
              </a:spcAft>
            </a:pPr>
            <a:r>
              <a:rPr sz="1019" b="1" i="0">
                <a:solidFill>
                  <a:srgbClr val="2A78D6"/>
                </a:solidFill>
                <a:latin typeface="Segoe UI"/>
              </a:rPr>
              <a:t>•  </a:t>
            </a:r>
            <a:r>
              <a:rPr sz="1019" b="0" i="0">
                <a:solidFill>
                  <a:srgbClr val="52514E"/>
                </a:solidFill>
                <a:latin typeface="Segoe UI"/>
              </a:rPr>
              <a:t>Attrition runs at 16.1% overall — 237 of 1,470 employees.</a:t>
            </a:r>
          </a:p>
          <a:p>
            <a:pPr algn="l">
              <a:lnSpc>
                <a:spcPct val="122000"/>
              </a:lnSpc>
              <a:spcAft>
                <a:spcPts val="900"/>
              </a:spcAft>
            </a:pPr>
            <a:r>
              <a:rPr sz="1019" b="1" i="0">
                <a:solidFill>
                  <a:srgbClr val="2A78D6"/>
                </a:solidFill>
                <a:latin typeface="Segoe UI"/>
              </a:rPr>
              <a:t>•  </a:t>
            </a:r>
            <a:r>
              <a:rPr sz="1019" b="0" i="0">
                <a:solidFill>
                  <a:srgbClr val="52514E"/>
                </a:solidFill>
                <a:latin typeface="Segoe UI"/>
              </a:rPr>
              <a:t>It is concentrated in the first two years: 29.82% vs 8.13% after eleven, with four independent tenure measures agreeing.</a:t>
            </a:r>
          </a:p>
          <a:p>
            <a:pPr algn="l">
              <a:lnSpc>
                <a:spcPct val="122000"/>
              </a:lnSpc>
              <a:spcAft>
                <a:spcPts val="900"/>
              </a:spcAft>
            </a:pPr>
            <a:r>
              <a:rPr sz="1019" b="1" i="0">
                <a:solidFill>
                  <a:srgbClr val="2A78D6"/>
                </a:solidFill>
                <a:latin typeface="Segoe UI"/>
              </a:rPr>
              <a:t>•  </a:t>
            </a:r>
            <a:r>
              <a:rPr sz="1019" b="0" i="0">
                <a:solidFill>
                  <a:srgbClr val="52514E"/>
                </a:solidFill>
                <a:latin typeface="Segoe UI"/>
              </a:rPr>
              <a:t>Entry level carries the largest preventable volume: 26.34% on 543 employees, +55 excess departures.</a:t>
            </a:r>
          </a:p>
          <a:p>
            <a:pPr algn="l">
              <a:lnSpc>
                <a:spcPct val="122000"/>
              </a:lnSpc>
              <a:spcAft>
                <a:spcPts val="900"/>
              </a:spcAft>
            </a:pPr>
            <a:r>
              <a:rPr sz="1019" b="1" i="0">
                <a:solidFill>
                  <a:srgbClr val="2A78D6"/>
                </a:solidFill>
                <a:latin typeface="Segoe UI"/>
              </a:rPr>
              <a:t>•  </a:t>
            </a:r>
            <a:r>
              <a:rPr sz="1019" b="0" i="0">
                <a:solidFill>
                  <a:srgbClr val="52514E"/>
                </a:solidFill>
                <a:latin typeface="Segoe UI"/>
              </a:rPr>
              <a:t>Overtime is the widest single-condition gap: 30.53% vs 10.44%, and the largest coefficient in the fitted model.</a:t>
            </a:r>
          </a:p>
          <a:p>
            <a:pPr algn="l">
              <a:lnSpc>
                <a:spcPct val="122000"/>
              </a:lnSpc>
              <a:spcAft>
                <a:spcPts val="900"/>
              </a:spcAft>
            </a:pPr>
            <a:r>
              <a:rPr sz="1019" b="1" i="0">
                <a:solidFill>
                  <a:srgbClr val="2A78D6"/>
                </a:solidFill>
                <a:latin typeface="Segoe UI"/>
              </a:rPr>
              <a:t>•  </a:t>
            </a:r>
            <a:r>
              <a:rPr sz="1019" b="0" i="0">
                <a:solidFill>
                  <a:srgbClr val="52514E"/>
                </a:solidFill>
                <a:latin typeface="Segoe UI"/>
              </a:rPr>
              <a:t>Specific operational roles stand out — Sales Representative 39.76%, Laboratory Technician 23.94%.</a:t>
            </a:r>
          </a:p>
        </p:txBody>
      </p:sp>
      <p:sp>
        <p:nvSpPr>
          <p:cNvPr id="10" name="Rectangle 9"/>
          <p:cNvSpPr/>
          <p:nvPr/>
        </p:nvSpPr>
        <p:spPr>
          <a:xfrm>
            <a:off x="4326117" y="1700784"/>
            <a:ext cx="3539733" cy="4315968"/>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326117" y="1700784"/>
            <a:ext cx="3539733"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563861" y="1920240"/>
            <a:ext cx="3064245" cy="274320"/>
          </a:xfrm>
          <a:prstGeom prst="rect">
            <a:avLst/>
          </a:prstGeom>
          <a:noFill/>
        </p:spPr>
        <p:txBody>
          <a:bodyPr wrap="square" lIns="0" rIns="0" tIns="0" bIns="0" anchor="t">
            <a:spAutoFit/>
          </a:bodyPr>
          <a:lstStyle/>
          <a:p>
            <a:pPr algn="l">
              <a:lnSpc>
                <a:spcPct val="124000"/>
              </a:lnSpc>
              <a:spcAft>
                <a:spcPts val="0"/>
              </a:spcAft>
            </a:pPr>
            <a:r>
              <a:rPr sz="1300" b="1" i="0">
                <a:solidFill>
                  <a:srgbClr val="0B0B0B"/>
                </a:solidFill>
                <a:latin typeface="Segoe UI"/>
              </a:rPr>
              <a:t>Why it matters</a:t>
            </a:r>
          </a:p>
        </p:txBody>
      </p:sp>
      <p:sp>
        <p:nvSpPr>
          <p:cNvPr id="13" name="TextBox 12"/>
          <p:cNvSpPr txBox="1"/>
          <p:nvPr/>
        </p:nvSpPr>
        <p:spPr>
          <a:xfrm>
            <a:off x="4563861" y="2340864"/>
            <a:ext cx="3064245" cy="3474720"/>
          </a:xfrm>
          <a:prstGeom prst="rect">
            <a:avLst/>
          </a:prstGeom>
          <a:noFill/>
        </p:spPr>
        <p:txBody>
          <a:bodyPr wrap="square" lIns="0" rIns="0" tIns="0" bIns="0" anchor="t">
            <a:spAutoFit/>
          </a:bodyPr>
          <a:lstStyle/>
          <a:p>
            <a:pPr algn="l">
              <a:lnSpc>
                <a:spcPct val="122000"/>
              </a:lnSpc>
              <a:spcAft>
                <a:spcPts val="900"/>
              </a:spcAft>
            </a:pPr>
            <a:r>
              <a:rPr sz="1019" b="1" i="0">
                <a:solidFill>
                  <a:srgbClr val="2A78D6"/>
                </a:solidFill>
                <a:latin typeface="Segoe UI"/>
              </a:rPr>
              <a:t>•  </a:t>
            </a:r>
            <a:r>
              <a:rPr sz="1019" b="0" i="0">
                <a:solidFill>
                  <a:srgbClr val="52514E"/>
                </a:solidFill>
                <a:latin typeface="Segoe UI"/>
              </a:rPr>
              <a:t>The risk window is narrow and identifiable, so retention effort has somewhere specific to go — onboarding, the first role, the first manager.</a:t>
            </a:r>
          </a:p>
          <a:p>
            <a:pPr algn="l">
              <a:lnSpc>
                <a:spcPct val="122000"/>
              </a:lnSpc>
              <a:spcAft>
                <a:spcPts val="900"/>
              </a:spcAft>
            </a:pPr>
            <a:r>
              <a:rPr sz="1019" b="1" i="0">
                <a:solidFill>
                  <a:srgbClr val="2A78D6"/>
                </a:solidFill>
                <a:latin typeface="Segoe UI"/>
              </a:rPr>
              <a:t>•  </a:t>
            </a:r>
            <a:r>
              <a:rPr sz="1019" b="0" i="0">
                <a:solidFill>
                  <a:srgbClr val="52514E"/>
                </a:solidFill>
                <a:latin typeface="Segoe UI"/>
              </a:rPr>
              <a:t>Rate alone would have sent effort to the wrong places; excess attrition changes the priority order.</a:t>
            </a:r>
          </a:p>
          <a:p>
            <a:pPr algn="l">
              <a:lnSpc>
                <a:spcPct val="122000"/>
              </a:lnSpc>
              <a:spcAft>
                <a:spcPts val="900"/>
              </a:spcAft>
            </a:pPr>
            <a:r>
              <a:rPr sz="1019" b="1" i="0">
                <a:solidFill>
                  <a:srgbClr val="2A78D6"/>
                </a:solidFill>
                <a:latin typeface="Segoe UI"/>
              </a:rPr>
              <a:t>•  </a:t>
            </a:r>
            <a:r>
              <a:rPr sz="1019" b="0" i="0">
                <a:solidFill>
                  <a:srgbClr val="52514E"/>
                </a:solidFill>
                <a:latin typeface="Segoe UI"/>
              </a:rPr>
              <a:t>Weak correlations across 23 numeric features mean no single lever explains attrition — it is a combination of conditions.</a:t>
            </a:r>
          </a:p>
          <a:p>
            <a:pPr algn="l">
              <a:lnSpc>
                <a:spcPct val="122000"/>
              </a:lnSpc>
              <a:spcAft>
                <a:spcPts val="900"/>
              </a:spcAft>
            </a:pPr>
            <a:r>
              <a:rPr sz="1019" b="1" i="0">
                <a:solidFill>
                  <a:srgbClr val="2A78D6"/>
                </a:solidFill>
                <a:latin typeface="Segoe UI"/>
              </a:rPr>
              <a:t>•  </a:t>
            </a:r>
            <a:r>
              <a:rPr sz="1019" b="0" i="0">
                <a:solidFill>
                  <a:srgbClr val="52514E"/>
                </a:solidFill>
                <a:latin typeface="Segoe UI"/>
              </a:rPr>
              <a:t>Reporting headcount with every rate is what keeps a finding on 52 people from reading like a finding on 543.</a:t>
            </a:r>
          </a:p>
        </p:txBody>
      </p:sp>
      <p:sp>
        <p:nvSpPr>
          <p:cNvPr id="14" name="Rectangle 13"/>
          <p:cNvSpPr/>
          <p:nvPr/>
        </p:nvSpPr>
        <p:spPr>
          <a:xfrm>
            <a:off x="8085307" y="1700784"/>
            <a:ext cx="3539733" cy="4315968"/>
          </a:xfrm>
          <a:prstGeom prst="rect">
            <a:avLst/>
          </a:prstGeom>
          <a:solidFill>
            <a:srgbClr val="FFFFFF"/>
          </a:solidFill>
          <a:ln w="1143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8085307" y="1700784"/>
            <a:ext cx="3539733" cy="4114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323051" y="1920240"/>
            <a:ext cx="3064245" cy="274320"/>
          </a:xfrm>
          <a:prstGeom prst="rect">
            <a:avLst/>
          </a:prstGeom>
          <a:noFill/>
        </p:spPr>
        <p:txBody>
          <a:bodyPr wrap="square" lIns="0" rIns="0" tIns="0" bIns="0" anchor="t">
            <a:spAutoFit/>
          </a:bodyPr>
          <a:lstStyle/>
          <a:p>
            <a:pPr algn="l">
              <a:lnSpc>
                <a:spcPct val="124000"/>
              </a:lnSpc>
              <a:spcAft>
                <a:spcPts val="0"/>
              </a:spcAft>
            </a:pPr>
            <a:r>
              <a:rPr sz="1300" b="1" i="0">
                <a:solidFill>
                  <a:srgbClr val="0B0B0B"/>
                </a:solidFill>
                <a:latin typeface="Segoe UI"/>
              </a:rPr>
              <a:t>Next steps — not findings</a:t>
            </a:r>
          </a:p>
        </p:txBody>
      </p:sp>
      <p:sp>
        <p:nvSpPr>
          <p:cNvPr id="17" name="TextBox 16"/>
          <p:cNvSpPr txBox="1"/>
          <p:nvPr/>
        </p:nvSpPr>
        <p:spPr>
          <a:xfrm>
            <a:off x="8323051" y="2340864"/>
            <a:ext cx="3064245" cy="3474720"/>
          </a:xfrm>
          <a:prstGeom prst="rect">
            <a:avLst/>
          </a:prstGeom>
          <a:noFill/>
        </p:spPr>
        <p:txBody>
          <a:bodyPr wrap="square" lIns="0" rIns="0" tIns="0" bIns="0" anchor="t">
            <a:spAutoFit/>
          </a:bodyPr>
          <a:lstStyle/>
          <a:p>
            <a:pPr algn="l">
              <a:lnSpc>
                <a:spcPct val="122000"/>
              </a:lnSpc>
              <a:spcAft>
                <a:spcPts val="900"/>
              </a:spcAft>
            </a:pPr>
            <a:r>
              <a:rPr sz="1019" b="1" i="0">
                <a:solidFill>
                  <a:srgbClr val="2A78D6"/>
                </a:solidFill>
                <a:latin typeface="Segoe UI"/>
              </a:rPr>
              <a:t>•  </a:t>
            </a:r>
            <a:r>
              <a:rPr sz="1019" b="0" i="0">
                <a:solidFill>
                  <a:srgbClr val="52514E"/>
                </a:solidFill>
                <a:latin typeface="Segoe UI"/>
              </a:rPr>
              <a:t>Stratify the big gaps: does overtime still shift the rate within one job level and tenure band?</a:t>
            </a:r>
          </a:p>
          <a:p>
            <a:pPr algn="l">
              <a:lnSpc>
                <a:spcPct val="122000"/>
              </a:lnSpc>
              <a:spcAft>
                <a:spcPts val="900"/>
              </a:spcAft>
            </a:pPr>
            <a:r>
              <a:rPr sz="1019" b="1" i="0">
                <a:solidFill>
                  <a:srgbClr val="2A78D6"/>
                </a:solidFill>
                <a:latin typeface="Segoe UI"/>
              </a:rPr>
              <a:t>•  </a:t>
            </a:r>
            <a:r>
              <a:rPr sz="1019" b="0" i="0">
                <a:solidFill>
                  <a:srgbClr val="52514E"/>
                </a:solidFill>
                <a:latin typeface="Segoe UI"/>
              </a:rPr>
              <a:t>Answer the two README questions the notebooks left open — pay within role and level, and what share of leavers are senior high performers.</a:t>
            </a:r>
          </a:p>
          <a:p>
            <a:pPr algn="l">
              <a:lnSpc>
                <a:spcPct val="122000"/>
              </a:lnSpc>
              <a:spcAft>
                <a:spcPts val="900"/>
              </a:spcAft>
            </a:pPr>
            <a:r>
              <a:rPr sz="1019" b="1" i="0">
                <a:solidFill>
                  <a:srgbClr val="2A78D6"/>
                </a:solidFill>
                <a:latin typeface="Segoe UI"/>
              </a:rPr>
              <a:t>•  </a:t>
            </a:r>
            <a:r>
              <a:rPr sz="1019" b="0" i="0">
                <a:solidFill>
                  <a:srgbClr val="52514E"/>
                </a:solidFill>
                <a:latin typeface="Segoe UI"/>
              </a:rPr>
              <a:t>Strengthen the model as a ranking tool: class weighting, threshold tuning and cross-validation, judged on recall rather than accuracy.</a:t>
            </a:r>
          </a:p>
          <a:p>
            <a:pPr algn="l">
              <a:lnSpc>
                <a:spcPct val="122000"/>
              </a:lnSpc>
              <a:spcAft>
                <a:spcPts val="900"/>
              </a:spcAft>
            </a:pPr>
            <a:r>
              <a:rPr sz="1019" b="1" i="0">
                <a:solidFill>
                  <a:srgbClr val="2A78D6"/>
                </a:solidFill>
                <a:latin typeface="Segoe UI"/>
              </a:rPr>
              <a:t>•  </a:t>
            </a:r>
            <a:r>
              <a:rPr sz="1019" b="0" i="0">
                <a:solidFill>
                  <a:srgbClr val="52514E"/>
                </a:solidFill>
                <a:latin typeface="Segoe UI"/>
              </a:rPr>
              <a:t>Bring the notebook 10 feature set in line with the project's own ethics rule by removing gender, age and marital status from individual scoring.</a:t>
            </a:r>
          </a:p>
          <a:p>
            <a:pPr algn="l">
              <a:lnSpc>
                <a:spcPct val="122000"/>
              </a:lnSpc>
              <a:spcAft>
                <a:spcPts val="900"/>
              </a:spcAft>
            </a:pPr>
            <a:r>
              <a:rPr sz="1019" b="1" i="0">
                <a:solidFill>
                  <a:srgbClr val="2A78D6"/>
                </a:solidFill>
                <a:latin typeface="Segoe UI"/>
              </a:rPr>
              <a:t>•  </a:t>
            </a:r>
            <a:r>
              <a:rPr sz="1019" b="0" i="0">
                <a:solidFill>
                  <a:srgbClr val="52514E"/>
                </a:solidFill>
                <a:latin typeface="Segoe UI"/>
              </a:rPr>
              <a:t>Attach cost-per-departure so excess attrition converts into a budget case.</a:t>
            </a:r>
          </a:p>
        </p:txBody>
      </p:sp>
      <p:sp>
        <p:nvSpPr>
          <p:cNvPr id="18" name="Rectangle 17"/>
          <p:cNvSpPr/>
          <p:nvPr/>
        </p:nvSpPr>
        <p:spPr>
          <a:xfrm>
            <a:off x="566928" y="5632704"/>
            <a:ext cx="11058113" cy="512064"/>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5632704"/>
            <a:ext cx="41148" cy="512064"/>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86384" y="5769864"/>
            <a:ext cx="10655777" cy="219456"/>
          </a:xfrm>
          <a:prstGeom prst="rect">
            <a:avLst/>
          </a:prstGeom>
          <a:noFill/>
        </p:spPr>
        <p:txBody>
          <a:bodyPr wrap="square" lIns="0" rIns="0" tIns="0" bIns="0" anchor="t">
            <a:spAutoFit/>
          </a:bodyPr>
          <a:lstStyle/>
          <a:p>
            <a:pPr algn="l">
              <a:lnSpc>
                <a:spcPct val="124000"/>
              </a:lnSpc>
              <a:spcAft>
                <a:spcPts val="0"/>
              </a:spcAft>
            </a:pPr>
            <a:r>
              <a:rPr sz="850" b="1" i="0">
                <a:solidFill>
                  <a:srgbClr val="E34948"/>
                </a:solidFill>
                <a:latin typeface="Segoe UI"/>
              </a:rPr>
              <a:t>THE LINE WE DO NOT CROSS</a:t>
            </a:r>
          </a:p>
        </p:txBody>
      </p:sp>
      <p:sp>
        <p:nvSpPr>
          <p:cNvPr id="21" name="TextBox 20"/>
          <p:cNvSpPr txBox="1"/>
          <p:nvPr/>
        </p:nvSpPr>
        <p:spPr>
          <a:xfrm>
            <a:off x="786384" y="6016752"/>
            <a:ext cx="10655777" cy="18288"/>
          </a:xfrm>
          <a:prstGeom prst="rect">
            <a:avLst/>
          </a:prstGeom>
          <a:noFill/>
        </p:spPr>
        <p:txBody>
          <a:bodyPr wrap="square" lIns="0" rIns="0" tIns="0" bIns="0" anchor="t">
            <a:spAutoFit/>
          </a:bodyPr>
          <a:lstStyle/>
          <a:p>
            <a:pPr algn="l">
              <a:lnSpc>
                <a:spcPct val="126000"/>
              </a:lnSpc>
              <a:spcAft>
                <a:spcPts val="0"/>
              </a:spcAft>
            </a:pPr>
            <a:r>
              <a:rPr sz="1150" b="0" i="0">
                <a:solidFill>
                  <a:srgbClr val="0B0B0B"/>
                </a:solidFill>
                <a:latin typeface="Segoe UI"/>
              </a:rPr>
              <a:t>Every statement above is an association measured in one cross-sectional snapshot of a fictional dataset. Predictive modelling is a next step, not a finding — and nothing here establishes a cause.</a:t>
            </a:r>
          </a:p>
        </p:txBody>
      </p:sp>
      <p:sp>
        <p:nvSpPr>
          <p:cNvPr id="22" name="Rectangle 21"/>
          <p:cNvSpPr/>
          <p:nvPr/>
        </p:nvSpPr>
        <p:spPr>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66928" y="6455664"/>
            <a:ext cx="7961841" cy="219456"/>
          </a:xfrm>
          <a:prstGeom prst="rect">
            <a:avLst/>
          </a:prstGeom>
          <a:noFill/>
        </p:spPr>
        <p:txBody>
          <a:bodyPr wrap="square" lIns="0" rIns="0" tIns="0" bIns="0" anchor="t">
            <a:spAutoFit/>
          </a:bodyPr>
          <a:lstStyle/>
          <a:p>
            <a:pPr algn="l">
              <a:lnSpc>
                <a:spcPct val="124000"/>
              </a:lnSpc>
              <a:spcAft>
                <a:spcPts val="0"/>
              </a:spcAft>
            </a:pPr>
            <a:r>
              <a:rPr sz="850" b="0" i="0">
                <a:solidFill>
                  <a:srgbClr val="898781"/>
                </a:solidFill>
                <a:latin typeface="Segoe UI"/>
              </a:rPr>
              <a:t>notebooks/05–10 · README.md</a:t>
            </a:r>
          </a:p>
        </p:txBody>
      </p:sp>
      <p:sp>
        <p:nvSpPr>
          <p:cNvPr id="24" name="TextBox 23"/>
          <p:cNvSpPr txBox="1"/>
          <p:nvPr/>
        </p:nvSpPr>
        <p:spPr>
          <a:xfrm>
            <a:off x="8749932" y="6455664"/>
            <a:ext cx="2875109" cy="219456"/>
          </a:xfrm>
          <a:prstGeom prst="rect">
            <a:avLst/>
          </a:prstGeom>
          <a:noFill/>
        </p:spPr>
        <p:txBody>
          <a:bodyPr wrap="square" lIns="0" rIns="0" tIns="0" bIns="0" anchor="t">
            <a:spAutoFit/>
          </a:bodyPr>
          <a:lstStyle/>
          <a:p>
            <a:pPr algn="r">
              <a:lnSpc>
                <a:spcPct val="124000"/>
              </a:lnSpc>
              <a:spcAft>
                <a:spcPts val="0"/>
              </a:spcAft>
            </a:pPr>
            <a:r>
              <a:rPr sz="850" b="0" i="0">
                <a:solidFill>
                  <a:srgbClr val="898781"/>
                </a:solidFill>
                <a:latin typeface="Segoe U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12191969" cy="8229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60120" y="2331720"/>
            <a:ext cx="10241280" cy="914400"/>
          </a:xfrm>
          <a:prstGeom prst="rect">
            <a:avLst/>
          </a:prstGeom>
          <a:noFill/>
        </p:spPr>
        <p:txBody>
          <a:bodyPr wrap="square" lIns="0" rIns="0" tIns="0" bIns="0" anchor="t">
            <a:spAutoFit/>
          </a:bodyPr>
          <a:lstStyle/>
          <a:p>
            <a:pPr algn="l">
              <a:lnSpc>
                <a:spcPct val="124000"/>
              </a:lnSpc>
              <a:spcAft>
                <a:spcPts val="0"/>
              </a:spcAft>
            </a:pPr>
            <a:r>
              <a:rPr sz="5000" b="1" i="0">
                <a:solidFill>
                  <a:srgbClr val="FFFFFF"/>
                </a:solidFill>
                <a:latin typeface="Segoe UI"/>
              </a:rPr>
              <a:t>Thank you</a:t>
            </a:r>
          </a:p>
        </p:txBody>
      </p:sp>
      <p:sp>
        <p:nvSpPr>
          <p:cNvPr id="5" name="TextBox 4"/>
          <p:cNvSpPr txBox="1"/>
          <p:nvPr/>
        </p:nvSpPr>
        <p:spPr>
          <a:xfrm>
            <a:off x="960120" y="3346704"/>
            <a:ext cx="10241280" cy="402336"/>
          </a:xfrm>
          <a:prstGeom prst="rect">
            <a:avLst/>
          </a:prstGeom>
          <a:noFill/>
        </p:spPr>
        <p:txBody>
          <a:bodyPr wrap="square" lIns="0" rIns="0" tIns="0" bIns="0" anchor="t">
            <a:spAutoFit/>
          </a:bodyPr>
          <a:lstStyle/>
          <a:p>
            <a:pPr algn="l">
              <a:lnSpc>
                <a:spcPct val="124000"/>
              </a:lnSpc>
              <a:spcAft>
                <a:spcPts val="0"/>
              </a:spcAft>
            </a:pPr>
            <a:r>
              <a:rPr sz="1800" b="0" i="0">
                <a:solidFill>
                  <a:srgbClr val="CDE2FB"/>
                </a:solidFill>
                <a:latin typeface="Segoe UI"/>
              </a:rPr>
              <a:t>Questions welcome</a:t>
            </a:r>
          </a:p>
        </p:txBody>
      </p:sp>
      <p:sp>
        <p:nvSpPr>
          <p:cNvPr id="6" name="Rectangle 5"/>
          <p:cNvSpPr/>
          <p:nvPr/>
        </p:nvSpPr>
        <p:spPr>
          <a:xfrm>
            <a:off x="960120" y="3950208"/>
            <a:ext cx="1280160" cy="2926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60120" y="4224528"/>
            <a:ext cx="10241280" cy="1097280"/>
          </a:xfrm>
          <a:prstGeom prst="rect">
            <a:avLst/>
          </a:prstGeom>
          <a:noFill/>
        </p:spPr>
        <p:txBody>
          <a:bodyPr wrap="square" lIns="0" rIns="0" tIns="0" bIns="0" anchor="t">
            <a:spAutoFit/>
          </a:bodyPr>
          <a:lstStyle/>
          <a:p>
            <a:pPr algn="l">
              <a:lnSpc>
                <a:spcPct val="185000"/>
              </a:lnSpc>
              <a:spcAft>
                <a:spcPts val="0"/>
              </a:spcAft>
            </a:pPr>
            <a:r>
              <a:rPr sz="1400" b="1" i="0">
                <a:solidFill>
                  <a:srgbClr val="FFFFFF"/>
                </a:solidFill>
                <a:latin typeface="Segoe UI"/>
              </a:rPr>
              <a:t>NPower JDA Cohort 2026</a:t>
            </a:r>
          </a:p>
          <a:p>
            <a:pPr algn="l">
              <a:lnSpc>
                <a:spcPct val="185000"/>
              </a:lnSpc>
              <a:spcAft>
                <a:spcPts val="0"/>
              </a:spcAft>
            </a:pPr>
            <a:r>
              <a:rPr sz="1200" b="0" i="0">
                <a:solidFill>
                  <a:srgbClr val="9EC5F4"/>
                </a:solidFill>
                <a:latin typeface="Segoe UI"/>
              </a:rPr>
              <a:t>Amruta Atul · Asif Hassan · Dhanan Thannoo · Moustafa Ismail · Pablo Fiterman · Stephanie Jivoderova · Tanvi Varshney · Yunseo Jang</a:t>
            </a:r>
          </a:p>
          <a:p>
            <a:pPr algn="l">
              <a:lnSpc>
                <a:spcPct val="185000"/>
              </a:lnSpc>
              <a:spcAft>
                <a:spcPts val="0"/>
              </a:spcAft>
            </a:pPr>
            <a:r>
              <a:rPr sz="1150" b="0" i="0">
                <a:solidFill>
                  <a:srgbClr val="86B6EF"/>
                </a:solidFill>
                <a:latin typeface="Consolas"/>
              </a:rPr>
              <a:t>github.com/NPower-JDA-Cohort-2026/ibm-analytics-attrition-eda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