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8.xml" ContentType="application/vnd.openxmlformats-officedocument.presentationml.notesSlide+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07" d="100"/>
          <a:sy n="107" d="100"/>
        </p:scale>
        <p:origin x="558" y="10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notesMaster" Target="notesMasters/notes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4542511" name="Slide Image Placeholder 1"/>
          <p:cNvSpPr>
            <a:spLocks noChangeAspect="1" noGrp="1" noRot="1"/>
          </p:cNvSpPr>
          <p:nvPr>
            <p:ph type="sldImg" idx="2"/>
          </p:nvPr>
        </p:nvSpPr>
        <p:spPr bwMode="auto"/>
      </p:sp>
      <p:sp>
        <p:nvSpPr>
          <p:cNvPr id="1244108036" name="Notes Placeholder 2"/>
          <p:cNvSpPr>
            <a:spLocks noGrp="1"/>
          </p:cNvSpPr>
          <p:nvPr>
            <p:ph type="body" sz="quarter" idx="3"/>
          </p:nvPr>
        </p:nvSpPr>
        <p:spPr bwMode="auto"/>
        <p:txBody>
          <a:bodyPr/>
          <a:lstStyle/>
          <a:p>
            <a:pPr>
              <a:defRPr/>
            </a:pPr>
            <a:r>
              <a:rPr/>
              <a:t>Open: this is a diagnostic exploratory analysis of IBM's HR Analytics dataset — 1,470 employee records, 35 attributes, 16.1% overall attrition. Eleven notebooks, eight contributors, run in numeric order. Say up front: the dataset is fictional — IBM authored it as a teaching set, so every finding is a statement about this data and about our method, not an HR benchmark. Hand off to the introduction.</a:t>
            </a:r>
            <a:endParaRPr/>
          </a:p>
        </p:txBody>
      </p:sp>
      <p:sp>
        <p:nvSpPr>
          <p:cNvPr id="295691567"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5420763" name="Slide Image Placeholder 1"/>
          <p:cNvSpPr>
            <a:spLocks noChangeAspect="1" noGrp="1" noRot="1"/>
          </p:cNvSpPr>
          <p:nvPr>
            <p:ph type="sldImg" idx="2"/>
          </p:nvPr>
        </p:nvSpPr>
        <p:spPr bwMode="auto"/>
      </p:sp>
      <p:sp>
        <p:nvSpPr>
          <p:cNvPr id="1494327502" name="Notes Placeholder 2"/>
          <p:cNvSpPr>
            <a:spLocks noGrp="1"/>
          </p:cNvSpPr>
          <p:nvPr>
            <p:ph type="body" sz="quarter" idx="3"/>
          </p:nvPr>
        </p:nvSpPr>
        <p:spPr bwMode="auto"/>
        <p:txBody>
          <a:bodyPr/>
          <a:lstStyle/>
          <a:p>
            <a:pPr>
              <a:defRPr/>
            </a:pPr>
            <a:r>
              <a:rPr/>
              <a:t>Frame the business problem before any numbers. The key sentence is the goal box: we are measuring over-representation, not causation. That constraint is a property of the data — one snapshot, no event timestamps, no control group — not modesty. The five question groups on the right are the README's own structure and they map onto the notebook sequence you are about to see. Note for honesty: the notebooks fully answer groups 1 and 2 and partially answer 3–5; we will say so again at the end.</a:t>
            </a:r>
            <a:endParaRPr/>
          </a:p>
        </p:txBody>
      </p:sp>
      <p:sp>
        <p:nvSpPr>
          <p:cNvPr id="1881511198"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154661" name="Slide Image Placeholder 1"/>
          <p:cNvSpPr>
            <a:spLocks noChangeAspect="1" noGrp="1" noRot="1"/>
          </p:cNvSpPr>
          <p:nvPr>
            <p:ph type="sldImg" idx="2"/>
          </p:nvPr>
        </p:nvSpPr>
        <p:spPr bwMode="auto"/>
      </p:sp>
      <p:sp>
        <p:nvSpPr>
          <p:cNvPr id="696158584" name="Notes Placeholder 2"/>
          <p:cNvSpPr>
            <a:spLocks noGrp="1"/>
          </p:cNvSpPr>
          <p:nvPr>
            <p:ph type="body" sz="quarter" idx="3"/>
          </p:nvPr>
        </p:nvSpPr>
        <p:spPr bwMode="auto"/>
        <p:txBody>
          <a:bodyPr/>
          <a:lstStyle/>
          <a:p>
            <a:pPr>
              <a:defRPr/>
            </a:pPr>
            <a:r>
              <a:rPr/>
              <a:t>Hit the four cards and move on: 1,470 records, 35 columns, 16.1% baseline, zero missing values. The 16.1% is 237 of 1,470 — that number becomes the reference line on nearly every chart from here on. Two things worth pausing on: the grain is a single snapshot with no dates, which is why we can never speak about sequence or cause; and the class imbalance, 237 versus 1,233, which is why we always print the segment headcount next to the rate — a 40% rate on 83 people is a different claim than a 40% rate on 800. Transition: here is the order we worked in.</a:t>
            </a:r>
            <a:endParaRPr/>
          </a:p>
        </p:txBody>
      </p:sp>
      <p:sp>
        <p:nvSpPr>
          <p:cNvPr id="1973941194"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1907553" name="Slide Image Placeholder 1"/>
          <p:cNvSpPr>
            <a:spLocks noChangeAspect="1" noGrp="1" noRot="1"/>
          </p:cNvSpPr>
          <p:nvPr>
            <p:ph type="sldImg" idx="2"/>
          </p:nvPr>
        </p:nvSpPr>
        <p:spPr bwMode="auto"/>
      </p:sp>
      <p:sp>
        <p:nvSpPr>
          <p:cNvPr id="99852156" name="Notes Placeholder 2"/>
          <p:cNvSpPr>
            <a:spLocks noGrp="1"/>
          </p:cNvSpPr>
          <p:nvPr>
            <p:ph type="body" sz="quarter" idx="3"/>
          </p:nvPr>
        </p:nvSpPr>
        <p:spPr bwMode="auto"/>
        <p:txBody>
          <a:bodyPr/>
          <a:lstStyle/>
          <a:p>
            <a:pPr>
              <a:defRPr/>
            </a:pPr>
            <a:r>
              <a:rPr/>
              <a:t>This is the actual notebook sequence, not an idealised pipeline. Two points to make. First, every notebook re-reads data/raw rather than chaining off the previous one — that keeps each step independently reproducible, at the cost of re-deriving the same bins in a few places. Second, the four measures at the bottom are the vocabulary for the rest of the deck. Spend your time on excess attrition: it is the one that stops a 23% rate on 52 people from being mistaken for the company's biggest retention problem. Notebook 10 is greyed because it is a predictive check, deliberately outside the diagnostic frame.</a:t>
            </a:r>
            <a:endParaRPr/>
          </a:p>
        </p:txBody>
      </p:sp>
      <p:sp>
        <p:nvSpPr>
          <p:cNvPr id="1456673652"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2242693" name="Slide Image Placeholder 1"/>
          <p:cNvSpPr>
            <a:spLocks noChangeAspect="1" noGrp="1" noRot="1"/>
          </p:cNvSpPr>
          <p:nvPr>
            <p:ph type="sldImg" idx="2"/>
          </p:nvPr>
        </p:nvSpPr>
        <p:spPr bwMode="auto"/>
      </p:sp>
      <p:sp>
        <p:nvSpPr>
          <p:cNvPr id="1322500568" name="Notes Placeholder 2"/>
          <p:cNvSpPr>
            <a:spLocks noGrp="1"/>
          </p:cNvSpPr>
          <p:nvPr>
            <p:ph type="body" sz="quarter" idx="3"/>
          </p:nvPr>
        </p:nvSpPr>
        <p:spPr bwMode="auto"/>
        <p:txBody>
          <a:bodyPr/>
          <a:lstStyle/>
          <a:p>
            <a:pPr>
              <a:defRPr/>
            </a:pPr>
            <a:r>
              <a:rPr/>
              <a:t>Move fast here — the headline is that there is nothing to fix. Zero duplicates, zero missing values, 1,470 unique employee numbers. Worth saying explicitly that this is a property of a curated teaching dataset and is not what a real HR extract looks like; the value of running these checks is that we now know the later segment denominators are trustworthy. The one substantive finding is the three constant columns, which get dropped downstream. Transition: with nothing to clean, preparation becomes about making the data legible.</a:t>
            </a:r>
            <a:endParaRPr/>
          </a:p>
        </p:txBody>
      </p:sp>
      <p:sp>
        <p:nvSpPr>
          <p:cNvPr id="510123059"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665582" name="Slide Image Placeholder 1"/>
          <p:cNvSpPr>
            <a:spLocks noChangeAspect="1" noGrp="1" noRot="1"/>
          </p:cNvSpPr>
          <p:nvPr>
            <p:ph type="sldImg" idx="2"/>
          </p:nvPr>
        </p:nvSpPr>
        <p:spPr bwMode="auto"/>
      </p:sp>
      <p:sp>
        <p:nvSpPr>
          <p:cNvPr id="2078501448" name="Notes Placeholder 2"/>
          <p:cNvSpPr>
            <a:spLocks noGrp="1"/>
          </p:cNvSpPr>
          <p:nvPr>
            <p:ph type="body" sz="quarter" idx="3"/>
          </p:nvPr>
        </p:nvSpPr>
        <p:spPr bwMode="auto"/>
        <p:txBody>
          <a:bodyPr/>
          <a:lstStyle/>
          <a:p>
            <a:pPr>
              <a:defRPr/>
            </a:pPr>
            <a:r>
              <a:rPr/>
              <a:t>Translate, do not read the code. The point of this notebook is that it produces a second, model-ready copy of the data rather than overwriting the original — so the descriptive notebooks keep human-readable labels like 'Sales Executive' while the model gets a 50-column numeric matrix. Two judgement calls worth mentioning if asked: PerformanceRating was collapsed to 0/1 because only ratings 3 and 4 actually occur in the data, and scaling was applied to the 14 continuous columns only — which is why the coefficient magnitudes in step 10 are not strictly comparable across feature types.</a:t>
            </a:r>
            <a:endParaRPr/>
          </a:p>
        </p:txBody>
      </p:sp>
      <p:sp>
        <p:nvSpPr>
          <p:cNvPr id="1876398804"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9792164" name="Slide Image Placeholder 1"/>
          <p:cNvSpPr>
            <a:spLocks noChangeAspect="1" noGrp="1" noRot="1"/>
          </p:cNvSpPr>
          <p:nvPr>
            <p:ph type="sldImg" idx="2"/>
          </p:nvPr>
        </p:nvSpPr>
        <p:spPr bwMode="auto"/>
      </p:sp>
      <p:sp>
        <p:nvSpPr>
          <p:cNvPr id="1246749580" name="Notes Placeholder 2"/>
          <p:cNvSpPr>
            <a:spLocks noGrp="1"/>
          </p:cNvSpPr>
          <p:nvPr>
            <p:ph type="body" sz="quarter" idx="3"/>
          </p:nvPr>
        </p:nvSpPr>
        <p:spPr bwMode="auto"/>
        <p:txBody>
          <a:bodyPr/>
          <a:lstStyle/>
          <a:p>
            <a:pPr>
              <a:defRPr/>
            </a:pPr>
            <a:r>
              <a:rPr/>
              <a:t>The deliverable here is the grouped extract, and the chart is the first real result in the project. Numbers: Sales 20.63%, HR 19.05%, R&amp;D 13.84%, against a 16.1% baseline. Make the interpretation point carefully — R&amp;D is below baseline on rate but contributes 133 of the 237 total leavers because it holds 961 of 1,470 employees. Rate and volume answer different questions, which is exactly why notebook 05 adds excess attrition. Also flag the labelling caveat: the bins used here are re-derived in later notebooks with slightly different labels (10+ versus 11+ years) although the edges are identical.</a:t>
            </a:r>
            <a:endParaRPr/>
          </a:p>
        </p:txBody>
      </p:sp>
      <p:sp>
        <p:nvSpPr>
          <p:cNvPr id="229726920"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2169878" name="Slide Image Placeholder 1"/>
          <p:cNvSpPr>
            <a:spLocks noChangeAspect="1" noGrp="1" noRot="1"/>
          </p:cNvSpPr>
          <p:nvPr>
            <p:ph type="sldImg" idx="2"/>
          </p:nvPr>
        </p:nvSpPr>
        <p:spPr bwMode="auto"/>
      </p:sp>
      <p:sp>
        <p:nvSpPr>
          <p:cNvPr id="1938907960" name="Notes Placeholder 2"/>
          <p:cNvSpPr>
            <a:spLocks noGrp="1"/>
          </p:cNvSpPr>
          <p:nvPr>
            <p:ph type="body" sz="quarter" idx="3"/>
          </p:nvPr>
        </p:nvSpPr>
        <p:spPr bwMode="auto"/>
        <p:txBody>
          <a:bodyPr/>
          <a:lstStyle/>
          <a:p>
            <a:pPr>
              <a:defRPr/>
            </a:pPr>
            <a:r>
              <a:rPr/>
              <a:t>Lead with the single most quotable number in the project: Sales Representatives at 39.76%, nearly two and a half times the company rate. Then immediately temper it — that is 33 people out of 83, so the confidence interval is wide. The right-hand chart is the corrective: on excess departures, Laboratory Technicians tie Sales Representatives at about +20, and they are a 259-person group. If you only had budget for one intervention, excess is the chart that tells you where to spend it. Note the wording: over-represented, associated with — we have no evidence that the role causes the leaving. Transition: same question, by department and level.</a:t>
            </a:r>
            <a:endParaRPr/>
          </a:p>
        </p:txBody>
      </p:sp>
      <p:sp>
        <p:nvSpPr>
          <p:cNvPr id="2005486473"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5599537" name="Slide Image Placeholder 1"/>
          <p:cNvSpPr>
            <a:spLocks noChangeAspect="1" noGrp="1" noRot="1"/>
          </p:cNvSpPr>
          <p:nvPr>
            <p:ph type="sldImg" idx="2"/>
          </p:nvPr>
        </p:nvSpPr>
        <p:spPr bwMode="auto"/>
      </p:sp>
      <p:sp>
        <p:nvSpPr>
          <p:cNvPr id="566026444" name="Notes Placeholder 2"/>
          <p:cNvSpPr>
            <a:spLocks noGrp="1"/>
          </p:cNvSpPr>
          <p:nvPr>
            <p:ph type="body" sz="quarter" idx="3"/>
          </p:nvPr>
        </p:nvSpPr>
        <p:spPr bwMode="auto"/>
        <p:txBody>
          <a:bodyPr/>
          <a:lstStyle/>
          <a:p>
            <a:pPr>
              <a:defRPr/>
            </a:pPr>
            <a:r>
              <a:rPr/>
              <a:t>The takeaway is that level beats department as an explanation. Entry level: 26.3% on 543 people, +55 excess departures — the single largest excess figure anywhere in the analysis. Compare that with Sales at +20 and HR at +2. Then make the confounding point, because someone will ask: Sales Representatives and Laboratory Technicians are largely level-1 roles, so we are looking at overlapping views of one group, not three independent risk factors. Disentangling them would need stratified rates, which this analysis does not do — that is an honest limitation, and it is on the What We Learned slide. Transition: so is this about being new?</a:t>
            </a:r>
            <a:endParaRPr/>
          </a:p>
        </p:txBody>
      </p:sp>
      <p:sp>
        <p:nvSpPr>
          <p:cNvPr id="1119373070"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8570688" name="Slide Image Placeholder 1"/>
          <p:cNvSpPr>
            <a:spLocks noChangeAspect="1" noGrp="1" noRot="1"/>
          </p:cNvSpPr>
          <p:nvPr>
            <p:ph type="sldImg" idx="2"/>
          </p:nvPr>
        </p:nvSpPr>
        <p:spPr bwMode="auto"/>
      </p:sp>
      <p:sp>
        <p:nvSpPr>
          <p:cNvPr id="1133701983" name="Notes Placeholder 2"/>
          <p:cNvSpPr>
            <a:spLocks noGrp="1"/>
          </p:cNvSpPr>
          <p:nvPr>
            <p:ph type="body" sz="quarter" idx="3"/>
          </p:nvPr>
        </p:nvSpPr>
        <p:spPr bwMode="auto"/>
        <p:txBody>
          <a:bodyPr/>
          <a:lstStyle/>
          <a:p>
            <a:pPr>
              <a:defRPr/>
            </a:pPr>
            <a:r>
              <a:rPr/>
              <a:t>This is the most robust finding in the deck because four separate measures agree. Company tenure 0–2 years: 29.8%. Years in current role 0–1: 27.9%. Years with current manager 0–1: 28.3%. Total career experience 0–2 years: 43.9%, which is 2.7 times baseline. The year-by-year line is worth pointing at: 36.4% in year zero, 34.5% in year one, then it crosses below the baseline by year three and stays there. The bumps at years 4 and 10 are small-sample noise, which is why we suppressed years with fewer than ten employees. What we cannot say: whether people leave because they are new, or whether the roles that hire heavily are also the roles people leave. Answering the question the README asked — early-tenure or mid-career — the evidence points clearly at early-tenure.</a:t>
            </a:r>
            <a:endParaRPr/>
          </a:p>
        </p:txBody>
      </p:sp>
      <p:sp>
        <p:nvSpPr>
          <p:cNvPr id="1691496691"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5607533" name="Slide Image Placeholder 1"/>
          <p:cNvSpPr>
            <a:spLocks noChangeAspect="1" noGrp="1" noRot="1"/>
          </p:cNvSpPr>
          <p:nvPr>
            <p:ph type="sldImg" idx="2"/>
          </p:nvPr>
        </p:nvSpPr>
        <p:spPr bwMode="auto"/>
      </p:sp>
      <p:sp>
        <p:nvSpPr>
          <p:cNvPr id="803379142" name="Notes Placeholder 2"/>
          <p:cNvSpPr>
            <a:spLocks noGrp="1"/>
          </p:cNvSpPr>
          <p:nvPr>
            <p:ph type="body" sz="quarter" idx="3"/>
          </p:nvPr>
        </p:nvSpPr>
        <p:spPr bwMode="auto"/>
        <p:txBody>
          <a:bodyPr/>
          <a:lstStyle/>
          <a:p>
            <a:pPr>
              <a:defRPr/>
            </a:pPr>
            <a:r>
              <a:rPr/>
              <a:t>Twenty-three individual distribution figures in the notebook — we are showing the method, not all of them. The design decision worth calling out is the split treatment: continuous columns get a histogram, columns with ten or fewer distinct values get value-count bars. That matters because a KDE over a 1–4 satisfaction scale invents a shape that is not in the data. The substantive finding is the right skew in income, tenure and experience, and it drives three later decisions: median over mean, the volume of IQR flags in step 07, and banded rather than mean-based comparisons throughout. Transition: so what did the IQR rule flag?</a:t>
            </a:r>
            <a:endParaRPr/>
          </a:p>
        </p:txBody>
      </p:sp>
      <p:sp>
        <p:nvSpPr>
          <p:cNvPr id="2019695619"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2169822" name="Slide Image Placeholder 1"/>
          <p:cNvSpPr>
            <a:spLocks noChangeAspect="1" noGrp="1" noRot="1"/>
          </p:cNvSpPr>
          <p:nvPr>
            <p:ph type="sldImg" idx="2"/>
          </p:nvPr>
        </p:nvSpPr>
        <p:spPr bwMode="auto"/>
      </p:sp>
      <p:sp>
        <p:nvSpPr>
          <p:cNvPr id="210896565" name="Notes Placeholder 2"/>
          <p:cNvSpPr>
            <a:spLocks noGrp="1"/>
          </p:cNvSpPr>
          <p:nvPr>
            <p:ph type="body" sz="quarter" idx="3"/>
          </p:nvPr>
        </p:nvSpPr>
        <p:spPr bwMode="auto"/>
        <p:txBody>
          <a:bodyPr/>
          <a:lstStyle/>
          <a:p>
            <a:pPr>
              <a:defRPr/>
            </a:pPr>
            <a:r>
              <a:rPr/>
              <a:t>The interesting result here is a decision, not a number. The IQR rule flagged 238 TrainingTimesLastYear values (16.19%) and 114 MonthlyIncome values (7.76%), but inspection showed both are artefacts of the rule rather than problems in the data. For income, every single one of the 114 is above the fence and every one is a senior manager or research director with two to three decades of experience — real people, not typos. For training, the variable has a one-unit interquartile range, so the fence lands at 4.5 and anyone attending five sessions is an 'outlier'. That is the rule misfiring on a discrete variable. So everything was retained. If asked why that is the right call: those senior employees have the lowest attrition rates in the dataset — deleting them would remove the contrast the whole analysis rests on.</a:t>
            </a:r>
            <a:endParaRPr/>
          </a:p>
        </p:txBody>
      </p:sp>
      <p:sp>
        <p:nvSpPr>
          <p:cNvPr id="1544126515"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5982768" name="Slide Image Placeholder 1"/>
          <p:cNvSpPr>
            <a:spLocks noChangeAspect="1" noGrp="1" noRot="1"/>
          </p:cNvSpPr>
          <p:nvPr>
            <p:ph type="sldImg" idx="2"/>
          </p:nvPr>
        </p:nvSpPr>
        <p:spPr bwMode="auto"/>
      </p:sp>
      <p:sp>
        <p:nvSpPr>
          <p:cNvPr id="404101446" name="Notes Placeholder 2"/>
          <p:cNvSpPr>
            <a:spLocks noGrp="1"/>
          </p:cNvSpPr>
          <p:nvPr>
            <p:ph type="body" sz="quarter" idx="3"/>
          </p:nvPr>
        </p:nvSpPr>
        <p:spPr bwMode="auto"/>
        <p:txBody>
          <a:bodyPr/>
          <a:lstStyle/>
          <a:p>
            <a:pPr>
              <a:defRPr/>
            </a:pPr>
            <a:r>
              <a:rPr/>
              <a:t>Two charts, one lesson. On the left, the twelve biggest group gaps among segments of at least fifty people — and overtime is the standout because it is both a large gap and a large group: 416 employees, 30.5% versus 10.4%. On the right, every numeric correlation with leaving, and the strongest is total working years at minus 0.171. That is a weak correlation by any standard. Make the methodological point clearly, because it is the most sophisticated thing in the deck: a Pearson coefficient against a 0/1 outcome is answering a different and less useful question than 'what share of this group left'. The notebook's own comment says to treat these as screening signals, not causal explanations, and we agree. Also note the direction: almost every correlation is negative — more of anything (tenure, level, income, age, satisfaction) travels with staying. Distance from home at plus 0.078 is the only meaningful positive.</a:t>
            </a:r>
            <a:endParaRPr/>
          </a:p>
        </p:txBody>
      </p:sp>
      <p:sp>
        <p:nvSpPr>
          <p:cNvPr id="1548833908"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2653021" name="Slide Image Placeholder 1"/>
          <p:cNvSpPr>
            <a:spLocks noChangeAspect="1" noGrp="1" noRot="1"/>
          </p:cNvSpPr>
          <p:nvPr>
            <p:ph type="sldImg" idx="2"/>
          </p:nvPr>
        </p:nvSpPr>
        <p:spPr bwMode="auto"/>
      </p:sp>
      <p:sp>
        <p:nvSpPr>
          <p:cNvPr id="118943271" name="Notes Placeholder 2"/>
          <p:cNvSpPr>
            <a:spLocks noGrp="1"/>
          </p:cNvSpPr>
          <p:nvPr>
            <p:ph type="body" sz="quarter" idx="3"/>
          </p:nvPr>
        </p:nvSpPr>
        <p:spPr bwMode="auto"/>
        <p:txBody>
          <a:bodyPr/>
          <a:lstStyle/>
          <a:p>
            <a:pPr>
              <a:defRPr/>
            </a:pPr>
            <a:r>
              <a:rPr/>
              <a:t>Short slide — it is context, not a finding about attrition, and the notebook says so itself in its closing line. Numbers to have ready: income mean $6,503 versus median $4,919; tenure mean 7 versus median 5; experience mean 11.3 versus median 10. In all three the mean sits above the median, which is the signature of a right skew. The one bridge back to the main story is in the conclusion box: the bulk of the workforce lives in the same low-tenure, lower-paid, entry-level region we flagged as high risk, so those segments are big as well as risky. That is the reason the excess-attrition numbers were as large as they were.</a:t>
            </a:r>
            <a:endParaRPr/>
          </a:p>
        </p:txBody>
      </p:sp>
      <p:sp>
        <p:nvSpPr>
          <p:cNvPr id="1309883685"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5616501" name="Slide Image Placeholder 1"/>
          <p:cNvSpPr>
            <a:spLocks noChangeAspect="1" noGrp="1" noRot="1"/>
          </p:cNvSpPr>
          <p:nvPr>
            <p:ph type="sldImg" idx="2"/>
          </p:nvPr>
        </p:nvSpPr>
        <p:spPr bwMode="auto"/>
      </p:sp>
      <p:sp>
        <p:nvSpPr>
          <p:cNvPr id="878983126" name="Notes Placeholder 2"/>
          <p:cNvSpPr>
            <a:spLocks noGrp="1"/>
          </p:cNvSpPr>
          <p:nvPr>
            <p:ph type="body" sz="quarter" idx="3"/>
          </p:nvPr>
        </p:nvSpPr>
        <p:spPr bwMode="auto"/>
        <p:txBody>
          <a:bodyPr/>
          <a:lstStyle/>
          <a:p>
            <a:pPr>
              <a:defRPr/>
            </a:pPr>
            <a:r>
              <a:rPr/>
              <a:t>Handle this slide carefully, because the accuracy number invites the wrong conclusion. 86% accuracy sounds strong until you notice that predicting 'nobody leaves' would score 84% on a dataset that is 16% leavers. The honest read is in the confusion matrix: of 47 people who actually left, the model found 16 and missed 31. Recall of 34%. So as a screening tool it is weak. What it does do well is rank — ROC-AUC 0.811 means it usually puts a leaver above a stayer, and the notebook's probability output is more useful than its yes/no call. The coefficients are the real payoff: overtime plus 1.80 is the single largest weight, which independently corroborates the step 08 finding. Two caveats to volunteer: coefficient magnitudes are not comparable across feature types because only the 14 continuous columns were standardised; and this model is a check on the descriptive work, not a deployable risk score.</a:t>
            </a:r>
            <a:endParaRPr/>
          </a:p>
        </p:txBody>
      </p:sp>
      <p:sp>
        <p:nvSpPr>
          <p:cNvPr id="1017705138"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1115327" name="Slide Image Placeholder 1"/>
          <p:cNvSpPr>
            <a:spLocks noChangeAspect="1" noGrp="1" noRot="1"/>
          </p:cNvSpPr>
          <p:nvPr>
            <p:ph type="sldImg" idx="2"/>
          </p:nvPr>
        </p:nvSpPr>
        <p:spPr bwMode="auto"/>
      </p:sp>
      <p:sp>
        <p:nvSpPr>
          <p:cNvPr id="1895471889" name="Notes Placeholder 2"/>
          <p:cNvSpPr>
            <a:spLocks noGrp="1"/>
          </p:cNvSpPr>
          <p:nvPr>
            <p:ph type="body" sz="quarter" idx="3"/>
          </p:nvPr>
        </p:nvSpPr>
        <p:spPr bwMode="auto"/>
        <p:txBody>
          <a:bodyPr/>
          <a:lstStyle/>
          <a:p>
            <a:pPr>
              <a:defRPr/>
            </a:pPr>
            <a:r>
              <a:rPr/>
              <a:t>This is the slide to slow down on. The ranking is by strength of evidence, not by size of the headline number — which is why Sales Representatives at 39.8% sit at number four rather than number one. Findings one to four are the ones we would defend; five and six are real but confounded or weak, and they are marked differently for that reason. If you take one thing away: early tenure, entry level and overtime, all on large segments, all corroborated by more than one method. Every statement here is 'associated with' — we have one snapshot of one fictional company and no experiment, so nothing here establishes cause.</a:t>
            </a:r>
            <a:endParaRPr/>
          </a:p>
        </p:txBody>
      </p:sp>
      <p:sp>
        <p:nvSpPr>
          <p:cNvPr id="1001954471"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9703879" name="Slide Image Placeholder 1"/>
          <p:cNvSpPr>
            <a:spLocks noChangeAspect="1" noGrp="1" noRot="1"/>
          </p:cNvSpPr>
          <p:nvPr>
            <p:ph type="sldImg" idx="2"/>
          </p:nvPr>
        </p:nvSpPr>
        <p:spPr bwMode="auto"/>
      </p:sp>
      <p:sp>
        <p:nvSpPr>
          <p:cNvPr id="183540785" name="Notes Placeholder 2"/>
          <p:cNvSpPr>
            <a:spLocks noGrp="1"/>
          </p:cNvSpPr>
          <p:nvPr>
            <p:ph type="body" sz="quarter" idx="3"/>
          </p:nvPr>
        </p:nvSpPr>
        <p:spPr bwMode="auto"/>
        <p:txBody>
          <a:bodyPr/>
          <a:lstStyle/>
          <a:p>
            <a:pPr>
              <a:defRPr/>
            </a:pPr>
            <a:r>
              <a:rPr/>
              <a:t>Use this as the picture the audience takes home. The left panel is every above-baseline segment we measured, sorted by rate, with headcount attached. The right column is the mirror image — the profile associated with staying. The single most important caveat is the overlap box: these eleven rows are not eleven independent risk factors. A 26-year-old entry-level Sales Representative in their first year on the lowest pay quartile appears in five of them. Building a risk score by adding these up would double-count badly. Also repeat the ethics point: this is a segment-level description. The README is explicit that gender, age and marital status stay out of anything that scores an individual, and we will come back to that on the next slide.</a:t>
            </a:r>
            <a:endParaRPr/>
          </a:p>
        </p:txBody>
      </p:sp>
      <p:sp>
        <p:nvSpPr>
          <p:cNvPr id="1794172189"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8981740" name="Slide Image Placeholder 1"/>
          <p:cNvSpPr>
            <a:spLocks noChangeAspect="1" noGrp="1" noRot="1"/>
          </p:cNvSpPr>
          <p:nvPr>
            <p:ph type="sldImg" idx="2"/>
          </p:nvPr>
        </p:nvSpPr>
        <p:spPr bwMode="auto"/>
      </p:sp>
      <p:sp>
        <p:nvSpPr>
          <p:cNvPr id="933315608" name="Notes Placeholder 2"/>
          <p:cNvSpPr>
            <a:spLocks noGrp="1"/>
          </p:cNvSpPr>
          <p:nvPr>
            <p:ph type="body" sz="quarter" idx="3"/>
          </p:nvPr>
        </p:nvSpPr>
        <p:spPr bwMode="auto"/>
        <p:txBody>
          <a:bodyPr/>
          <a:lstStyle/>
          <a:p>
            <a:pPr>
              <a:defRPr/>
            </a:pPr>
            <a:r>
              <a:rPr/>
              <a:t>Left column is about the company, right column is about us. Two genuine surprises worth narrating. First, attrition is not a clean staircase down the hierarchy — level 3 leaves more than level 2, and level 5 more than level 4. With 218 and 69 people in those bands, some of that is noise, but it undercuts any simple 'seniority protects you' story. Second, years since last promotion looks like nothing on its own, a correlation of minus 0.033, yet it is a strong positive weight in the model — a reminder that a variable can be invisible alone and informative in combination. On the right, the most important admission is confounding: we never stratified, so we genuinely cannot say whether overtime matters independently of job level. And be upfront about the last one — our own README says protected attributes stay out of individual scoring, and the notebook 10 model includes age, gender and marital status. That is an inconsistency we should fix, not defend.</a:t>
            </a:r>
            <a:endParaRPr/>
          </a:p>
        </p:txBody>
      </p:sp>
      <p:sp>
        <p:nvSpPr>
          <p:cNvPr id="1006679344"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4350481" name="Slide Image Placeholder 1"/>
          <p:cNvSpPr>
            <a:spLocks noChangeAspect="1" noGrp="1" noRot="1"/>
          </p:cNvSpPr>
          <p:nvPr>
            <p:ph type="sldImg" idx="2"/>
          </p:nvPr>
        </p:nvSpPr>
        <p:spPr bwMode="auto"/>
      </p:sp>
      <p:sp>
        <p:nvSpPr>
          <p:cNvPr id="1505300845" name="Notes Placeholder 2"/>
          <p:cNvSpPr>
            <a:spLocks noGrp="1"/>
          </p:cNvSpPr>
          <p:nvPr>
            <p:ph type="body" sz="quarter" idx="3"/>
          </p:nvPr>
        </p:nvSpPr>
        <p:spPr bwMode="auto"/>
        <p:txBody>
          <a:bodyPr/>
          <a:lstStyle/>
          <a:p>
            <a:pPr>
              <a:defRPr/>
            </a:pPr>
            <a:r>
              <a:rPr/>
              <a:t>Keep this brief and let the tree do the work. Three things to say. One: the notebooks are numerically prefixed and committed with their outputs, so a reviewer can read the whole analysis on GitHub without running anything. Two: the team used actual branch-and-pull-request workflow with Conventional Commits, which is why we can attribute notebooks to people from the history rather than from memory. Three: the repository goes beyond notebooks — there is a Dash application over the same raw file that shares notebook 04's bin edges, so the app and the analysis cannot drift apart. If asked about the four contributors listed without a notebook: they are credited in the README author table, but the git history does not record notebook-level commits under those names, and we would rather say that than invent responsibilities.</a:t>
            </a:r>
            <a:endParaRPr/>
          </a:p>
        </p:txBody>
      </p:sp>
      <p:sp>
        <p:nvSpPr>
          <p:cNvPr id="1568740410" name="Slide Number Placeholder 3"/>
          <p:cNvSpPr>
            <a:spLocks noGrp="1"/>
          </p:cNvSpPr>
          <p:nvPr>
            <p:ph type="sldNum" sz="quarter" idx="5"/>
          </p:nvPr>
        </p:nvSpPr>
        <p:spPr bwMode="auto"/>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4625121" name="Slide Image Placeholder 1"/>
          <p:cNvSpPr>
            <a:spLocks noChangeAspect="1" noGrp="1" noRot="1"/>
          </p:cNvSpPr>
          <p:nvPr>
            <p:ph type="sldImg" idx="2"/>
          </p:nvPr>
        </p:nvSpPr>
        <p:spPr bwMode="auto"/>
      </p:sp>
      <p:sp>
        <p:nvSpPr>
          <p:cNvPr id="484578069" name="Notes Placeholder 2"/>
          <p:cNvSpPr>
            <a:spLocks noGrp="1"/>
          </p:cNvSpPr>
          <p:nvPr>
            <p:ph type="body" sz="quarter" idx="3"/>
          </p:nvPr>
        </p:nvSpPr>
        <p:spPr bwMode="auto"/>
        <p:txBody>
          <a:bodyPr/>
          <a:lstStyle/>
          <a:p>
            <a:pPr>
              <a:defRPr/>
            </a:pPr>
            <a:r>
              <a:rPr/>
              <a:t>Do not read the grid aloud — point at the columns. The framing that matters: everything on this slide is evidenced in the repository, which is why Excel and Streamlit are called out at the bottom as listed in the README but absent from the code. If someone asks what the most transferable skill was, the honest answer is not a library — it is the excess-attrition calculation and knowing to print a headcount next to every rate. Two small things worth knowing: pandas Styler is how the notebooks format their summary tables for readability, and scikit-learn appears in two places, scaling in notebook 03 and the model in notebook 10.</a:t>
            </a:r>
            <a:endParaRPr/>
          </a:p>
        </p:txBody>
      </p:sp>
      <p:sp>
        <p:nvSpPr>
          <p:cNvPr id="343960399" name="Slide Number Placeholder 3"/>
          <p:cNvSpPr>
            <a:spLocks noGrp="1"/>
          </p:cNvSpPr>
          <p:nvPr>
            <p:ph type="sldNum" sz="quarter" idx="5"/>
          </p:nvPr>
        </p:nvSpPr>
        <p:spPr bwMode="auto"/>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965682" name="Slide Image Placeholder 1"/>
          <p:cNvSpPr>
            <a:spLocks noChangeAspect="1" noGrp="1" noRot="1"/>
          </p:cNvSpPr>
          <p:nvPr>
            <p:ph type="sldImg" idx="2"/>
          </p:nvPr>
        </p:nvSpPr>
        <p:spPr bwMode="auto"/>
      </p:sp>
      <p:sp>
        <p:nvSpPr>
          <p:cNvPr id="75998574" name="Notes Placeholder 2"/>
          <p:cNvSpPr>
            <a:spLocks noGrp="1"/>
          </p:cNvSpPr>
          <p:nvPr>
            <p:ph type="body" sz="quarter" idx="3"/>
          </p:nvPr>
        </p:nvSpPr>
        <p:spPr bwMode="auto"/>
        <p:txBody>
          <a:bodyPr/>
          <a:lstStyle/>
          <a:p>
            <a:pPr>
              <a:defRPr/>
            </a:pPr>
            <a:r>
              <a:rPr/>
              <a:t>Three columns, three different kinds of claim, and the distinction is the point. Left: what we measured. Middle: what a reader should do with it. Right: what we have not done — and predictive modelling belongs there, not in the findings, even though notebook 10 exists. If you have time for one next step, argue for stratification: until we know whether overtime still moves the rate inside a single level and tenure band, we cannot tell an HR team which lever to pull. Close on the red box: one snapshot, fictional data, associations only.</a:t>
            </a:r>
            <a:endParaRPr/>
          </a:p>
        </p:txBody>
      </p:sp>
      <p:sp>
        <p:nvSpPr>
          <p:cNvPr id="1288772645" name="Slide Number Placeholder 3"/>
          <p:cNvSpPr>
            <a:spLocks noGrp="1"/>
          </p:cNvSpPr>
          <p:nvPr>
            <p:ph type="sldNum" sz="quarter" idx="5"/>
          </p:nvPr>
        </p:nvSpPr>
        <p:spPr bwMode="auto"/>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9263960" name="Slide Image Placeholder 1"/>
          <p:cNvSpPr>
            <a:spLocks noChangeAspect="1" noGrp="1" noRot="1"/>
          </p:cNvSpPr>
          <p:nvPr>
            <p:ph type="sldImg" idx="2"/>
          </p:nvPr>
        </p:nvSpPr>
        <p:spPr bwMode="auto"/>
      </p:sp>
      <p:sp>
        <p:nvSpPr>
          <p:cNvPr id="1662487737" name="Notes Placeholder 2"/>
          <p:cNvSpPr>
            <a:spLocks noGrp="1"/>
          </p:cNvSpPr>
          <p:nvPr>
            <p:ph type="body" sz="quarter" idx="3"/>
          </p:nvPr>
        </p:nvSpPr>
        <p:spPr bwMode="auto"/>
        <p:txBody>
          <a:bodyPr/>
          <a:lstStyle/>
          <a:p>
            <a:pPr>
              <a:defRPr/>
            </a:pPr>
            <a:r>
              <a:rPr/>
              <a:t>Anticipated questions and the short answers. Why is accuracy 86% but the model weak? Because 84% comes free from predicting nobody leaves — look at recall, 34%. Why not just use the correlations? Because the strongest is minus 0.171; grouped rates are the interpretable view. Is Sales Representative really the worst role? Highest rate, yes, on 83 people — Laboratory Technicians tie it on excess departures with 259 people, and that is the more actionable number. Does overtime cause attrition? Unknown and unknowable from this data: one snapshot, no experiment, and we never controlled for job level. Can we predict who will leave? Not responsibly from this work — and the project's own ethics rules keep protected attributes out of individual scoring, which the current model does not yet respect.</a:t>
            </a:r>
            <a:endParaRPr/>
          </a:p>
        </p:txBody>
      </p:sp>
      <p:sp>
        <p:nvSpPr>
          <p:cNvPr id="447554143"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00288973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583133192"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18544234" name="Date Placeholder 3"/>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1855970766" name="Footer Placeholder 4"/>
          <p:cNvSpPr>
            <a:spLocks noGrp="1"/>
          </p:cNvSpPr>
          <p:nvPr>
            <p:ph type="ftr" sz="quarter" idx="11"/>
          </p:nvPr>
        </p:nvSpPr>
        <p:spPr bwMode="auto"/>
        <p:txBody>
          <a:bodyPr/>
          <a:lstStyle/>
          <a:p>
            <a:pPr>
              <a:defRPr/>
            </a:pPr>
            <a:endParaRPr lang="en-US"/>
          </a:p>
        </p:txBody>
      </p:sp>
      <p:sp>
        <p:nvSpPr>
          <p:cNvPr id="111042274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816870144" name="Title 1"/>
          <p:cNvSpPr>
            <a:spLocks noGrp="1"/>
          </p:cNvSpPr>
          <p:nvPr>
            <p:ph type="title"/>
          </p:nvPr>
        </p:nvSpPr>
        <p:spPr bwMode="auto"/>
        <p:txBody>
          <a:bodyPr/>
          <a:lstStyle/>
          <a:p>
            <a:pPr>
              <a:defRPr/>
            </a:pPr>
            <a:r>
              <a:rPr lang="en-US"/>
              <a:t>Click to edit Master title style</a:t>
            </a:r>
            <a:endParaRPr/>
          </a:p>
        </p:txBody>
      </p:sp>
      <p:sp>
        <p:nvSpPr>
          <p:cNvPr id="1501207287"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4799981" name="Date Placeholder 3"/>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655236092" name="Footer Placeholder 4"/>
          <p:cNvSpPr>
            <a:spLocks noGrp="1"/>
          </p:cNvSpPr>
          <p:nvPr>
            <p:ph type="ftr" sz="quarter" idx="11"/>
          </p:nvPr>
        </p:nvSpPr>
        <p:spPr bwMode="auto"/>
        <p:txBody>
          <a:bodyPr/>
          <a:lstStyle/>
          <a:p>
            <a:pPr>
              <a:defRPr/>
            </a:pPr>
            <a:endParaRPr lang="en-US"/>
          </a:p>
        </p:txBody>
      </p:sp>
      <p:sp>
        <p:nvSpPr>
          <p:cNvPr id="5256350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6966469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923598432"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559512810" name="Date Placeholder 3"/>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737770639" name="Footer Placeholder 4"/>
          <p:cNvSpPr>
            <a:spLocks noGrp="1"/>
          </p:cNvSpPr>
          <p:nvPr>
            <p:ph type="ftr" sz="quarter" idx="11"/>
          </p:nvPr>
        </p:nvSpPr>
        <p:spPr bwMode="auto"/>
        <p:txBody>
          <a:bodyPr/>
          <a:lstStyle/>
          <a:p>
            <a:pPr>
              <a:defRPr/>
            </a:pPr>
            <a:endParaRPr lang="en-US"/>
          </a:p>
        </p:txBody>
      </p:sp>
      <p:sp>
        <p:nvSpPr>
          <p:cNvPr id="126345133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499281704" name="Title 1"/>
          <p:cNvSpPr>
            <a:spLocks noGrp="1"/>
          </p:cNvSpPr>
          <p:nvPr>
            <p:ph type="title"/>
          </p:nvPr>
        </p:nvSpPr>
        <p:spPr bwMode="auto"/>
        <p:txBody>
          <a:bodyPr/>
          <a:lstStyle/>
          <a:p>
            <a:pPr>
              <a:defRPr/>
            </a:pPr>
            <a:r>
              <a:rPr lang="en-US"/>
              <a:t>Click to edit Master title style</a:t>
            </a:r>
            <a:endParaRPr/>
          </a:p>
        </p:txBody>
      </p:sp>
      <p:sp>
        <p:nvSpPr>
          <p:cNvPr id="50862536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41200042"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90846014" name="Date Placeholder 4"/>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567988815" name="Footer Placeholder 5"/>
          <p:cNvSpPr>
            <a:spLocks noGrp="1"/>
          </p:cNvSpPr>
          <p:nvPr>
            <p:ph type="ftr" sz="quarter" idx="11"/>
          </p:nvPr>
        </p:nvSpPr>
        <p:spPr bwMode="auto"/>
        <p:txBody>
          <a:bodyPr/>
          <a:lstStyle/>
          <a:p>
            <a:pPr>
              <a:defRPr/>
            </a:pPr>
            <a:endParaRPr lang="en-US"/>
          </a:p>
        </p:txBody>
      </p:sp>
      <p:sp>
        <p:nvSpPr>
          <p:cNvPr id="141379651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724011344"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113955442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8828539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31435191"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4222510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81636943" name="Date Placeholder 6"/>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915530261" name="Footer Placeholder 7"/>
          <p:cNvSpPr>
            <a:spLocks noGrp="1"/>
          </p:cNvSpPr>
          <p:nvPr>
            <p:ph type="ftr" sz="quarter" idx="11"/>
          </p:nvPr>
        </p:nvSpPr>
        <p:spPr bwMode="auto"/>
        <p:txBody>
          <a:bodyPr/>
          <a:lstStyle/>
          <a:p>
            <a:pPr>
              <a:defRPr/>
            </a:pPr>
            <a:endParaRPr lang="en-US"/>
          </a:p>
        </p:txBody>
      </p:sp>
      <p:sp>
        <p:nvSpPr>
          <p:cNvPr id="2005126772"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472436760" name="Title 1"/>
          <p:cNvSpPr>
            <a:spLocks noGrp="1"/>
          </p:cNvSpPr>
          <p:nvPr>
            <p:ph type="title"/>
          </p:nvPr>
        </p:nvSpPr>
        <p:spPr bwMode="auto"/>
        <p:txBody>
          <a:bodyPr/>
          <a:lstStyle/>
          <a:p>
            <a:pPr>
              <a:defRPr/>
            </a:pPr>
            <a:r>
              <a:rPr lang="en-US"/>
              <a:t>Click to edit Master title style</a:t>
            </a:r>
            <a:endParaRPr/>
          </a:p>
        </p:txBody>
      </p:sp>
      <p:sp>
        <p:nvSpPr>
          <p:cNvPr id="13563550" name="Date Placeholder 2"/>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2034333852" name="Footer Placeholder 3"/>
          <p:cNvSpPr>
            <a:spLocks noGrp="1"/>
          </p:cNvSpPr>
          <p:nvPr>
            <p:ph type="ftr" sz="quarter" idx="11"/>
          </p:nvPr>
        </p:nvSpPr>
        <p:spPr bwMode="auto"/>
        <p:txBody>
          <a:bodyPr/>
          <a:lstStyle/>
          <a:p>
            <a:pPr>
              <a:defRPr/>
            </a:pPr>
            <a:endParaRPr lang="en-US"/>
          </a:p>
        </p:txBody>
      </p:sp>
      <p:sp>
        <p:nvSpPr>
          <p:cNvPr id="346890838"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133467737" name="Date Placeholder 1"/>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2054289214" name="Footer Placeholder 2"/>
          <p:cNvSpPr>
            <a:spLocks noGrp="1"/>
          </p:cNvSpPr>
          <p:nvPr>
            <p:ph type="ftr" sz="quarter" idx="11"/>
          </p:nvPr>
        </p:nvSpPr>
        <p:spPr bwMode="auto"/>
        <p:txBody>
          <a:bodyPr/>
          <a:lstStyle/>
          <a:p>
            <a:pPr>
              <a:defRPr/>
            </a:pPr>
            <a:endParaRPr lang="en-US"/>
          </a:p>
        </p:txBody>
      </p:sp>
      <p:sp>
        <p:nvSpPr>
          <p:cNvPr id="1798780168"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02845565"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1482903026"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6563800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08176987" name="Date Placeholder 4"/>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39014508" name="Footer Placeholder 5"/>
          <p:cNvSpPr>
            <a:spLocks noGrp="1"/>
          </p:cNvSpPr>
          <p:nvPr>
            <p:ph type="ftr" sz="quarter" idx="11"/>
          </p:nvPr>
        </p:nvSpPr>
        <p:spPr bwMode="auto"/>
        <p:txBody>
          <a:bodyPr/>
          <a:lstStyle/>
          <a:p>
            <a:pPr>
              <a:defRPr/>
            </a:pPr>
            <a:endParaRPr lang="en-US"/>
          </a:p>
        </p:txBody>
      </p:sp>
      <p:sp>
        <p:nvSpPr>
          <p:cNvPr id="59687129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822625350"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15503227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49095785"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456481558" name="Date Placeholder 4"/>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1838114971" name="Footer Placeholder 5"/>
          <p:cNvSpPr>
            <a:spLocks noGrp="1"/>
          </p:cNvSpPr>
          <p:nvPr>
            <p:ph type="ftr" sz="quarter" idx="11"/>
          </p:nvPr>
        </p:nvSpPr>
        <p:spPr bwMode="auto"/>
        <p:txBody>
          <a:bodyPr/>
          <a:lstStyle/>
          <a:p>
            <a:pPr>
              <a:defRPr/>
            </a:pPr>
            <a:endParaRPr lang="en-US"/>
          </a:p>
        </p:txBody>
      </p:sp>
      <p:sp>
        <p:nvSpPr>
          <p:cNvPr id="32578601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688887609" name="Title 1"/>
          <p:cNvSpPr>
            <a:spLocks noGrp="1"/>
          </p:cNvSpPr>
          <p:nvPr>
            <p:ph type="title"/>
          </p:nvPr>
        </p:nvSpPr>
        <p:spPr bwMode="auto"/>
        <p:txBody>
          <a:bodyPr/>
          <a:lstStyle/>
          <a:p>
            <a:pPr>
              <a:defRPr/>
            </a:pPr>
            <a:r>
              <a:rPr lang="en-US"/>
              <a:t>Click to edit Master title style</a:t>
            </a:r>
            <a:endParaRPr/>
          </a:p>
        </p:txBody>
      </p:sp>
      <p:sp>
        <p:nvSpPr>
          <p:cNvPr id="140356382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85690707" name="Date Placeholder 3"/>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493841420" name="Footer Placeholder 4"/>
          <p:cNvSpPr>
            <a:spLocks noGrp="1"/>
          </p:cNvSpPr>
          <p:nvPr>
            <p:ph type="ftr" sz="quarter" idx="11"/>
          </p:nvPr>
        </p:nvSpPr>
        <p:spPr bwMode="auto"/>
        <p:txBody>
          <a:bodyPr/>
          <a:lstStyle/>
          <a:p>
            <a:pPr>
              <a:defRPr/>
            </a:pPr>
            <a:endParaRPr lang="en-US"/>
          </a:p>
        </p:txBody>
      </p:sp>
      <p:sp>
        <p:nvSpPr>
          <p:cNvPr id="126724246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00407050"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34037346"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14682189" name="Date Placeholder 3"/>
          <p:cNvSpPr>
            <a:spLocks noGrp="1"/>
          </p:cNvSpPr>
          <p:nvPr>
            <p:ph type="dt" sz="half" idx="10"/>
          </p:nvPr>
        </p:nvSpPr>
        <p:spPr bwMode="auto"/>
        <p:txBody>
          <a:bodyPr/>
          <a:lstStyle/>
          <a:p>
            <a:pPr>
              <a:defRPr/>
            </a:pPr>
            <a:fld id="{5BCAD085-E8A6-8845-BD4E-CB4CCA059FC4}" type="datetimeFigureOut">
              <a:rPr lang="en-US"/>
              <a:t>9/12/2026</a:t>
            </a:fld>
            <a:endParaRPr lang="en-US"/>
          </a:p>
        </p:txBody>
      </p:sp>
      <p:sp>
        <p:nvSpPr>
          <p:cNvPr id="1611938176" name="Footer Placeholder 4"/>
          <p:cNvSpPr>
            <a:spLocks noGrp="1"/>
          </p:cNvSpPr>
          <p:nvPr>
            <p:ph type="ftr" sz="quarter" idx="11"/>
          </p:nvPr>
        </p:nvSpPr>
        <p:spPr bwMode="auto"/>
        <p:txBody>
          <a:bodyPr/>
          <a:lstStyle/>
          <a:p>
            <a:pPr>
              <a:defRPr/>
            </a:pPr>
            <a:endParaRPr lang="en-US"/>
          </a:p>
        </p:txBody>
      </p:sp>
      <p:sp>
        <p:nvSpPr>
          <p:cNvPr id="121053586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90310637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2682763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29769096"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9/12/2026</a:t>
            </a:fld>
            <a:endParaRPr lang="en-US"/>
          </a:p>
        </p:txBody>
      </p:sp>
      <p:sp>
        <p:nvSpPr>
          <p:cNvPr id="120346923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75703678"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3270425" name="Rectangle 1"/>
          <p:cNvSpPr/>
          <p:nvPr/>
        </p:nvSpPr>
        <p:spPr bwMode="auto">
          <a:xfrm>
            <a:off x="0" y="0"/>
            <a:ext cx="12191969" cy="68580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55934982" name="Rectangle 2"/>
          <p:cNvSpPr/>
          <p:nvPr/>
        </p:nvSpPr>
        <p:spPr bwMode="auto">
          <a:xfrm>
            <a:off x="0" y="0"/>
            <a:ext cx="12191969" cy="8229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867083410" name="TextBox 3"/>
          <p:cNvSpPr txBox="1"/>
          <p:nvPr/>
        </p:nvSpPr>
        <p:spPr bwMode="auto">
          <a:xfrm>
            <a:off x="960120" y="1600200"/>
            <a:ext cx="10241280" cy="274320"/>
          </a:xfrm>
          <a:prstGeom prst="rect">
            <a:avLst/>
          </a:prstGeom>
          <a:noFill/>
        </p:spPr>
        <p:txBody>
          <a:bodyPr wrap="square" lIns="0" tIns="0" rIns="0" bIns="0" anchor="t">
            <a:spAutoFit/>
          </a:bodyPr>
          <a:lstStyle/>
          <a:p>
            <a:pPr algn="l">
              <a:lnSpc>
                <a:spcPct val="124000"/>
              </a:lnSpc>
              <a:spcAft>
                <a:spcPts val="0"/>
              </a:spcAft>
              <a:defRPr/>
            </a:pPr>
            <a:r>
              <a:rPr sz="1100" b="1" i="0">
                <a:solidFill>
                  <a:srgbClr val="9EC5F4"/>
                </a:solidFill>
                <a:latin typeface="Segoe UI"/>
              </a:rPr>
              <a:t>NPOWER JUNIOR DATA ANALYST PROGRAM</a:t>
            </a:r>
            <a:endParaRPr/>
          </a:p>
        </p:txBody>
      </p:sp>
      <p:sp>
        <p:nvSpPr>
          <p:cNvPr id="190004263" name="TextBox 4"/>
          <p:cNvSpPr txBox="1"/>
          <p:nvPr/>
        </p:nvSpPr>
        <p:spPr bwMode="auto">
          <a:xfrm>
            <a:off x="960120" y="2029968"/>
            <a:ext cx="10241280" cy="1280160"/>
          </a:xfrm>
          <a:prstGeom prst="rect">
            <a:avLst/>
          </a:prstGeom>
          <a:noFill/>
        </p:spPr>
        <p:txBody>
          <a:bodyPr wrap="square" lIns="0" tIns="0" rIns="0" bIns="0" anchor="t">
            <a:spAutoFit/>
          </a:bodyPr>
          <a:lstStyle/>
          <a:p>
            <a:pPr algn="l">
              <a:lnSpc>
                <a:spcPct val="108000"/>
              </a:lnSpc>
              <a:spcAft>
                <a:spcPts val="0"/>
              </a:spcAft>
              <a:defRPr/>
            </a:pPr>
            <a:r>
              <a:rPr sz="4200" b="1" i="0">
                <a:solidFill>
                  <a:srgbClr val="FFFFFF"/>
                </a:solidFill>
                <a:latin typeface="Segoe UI"/>
              </a:rPr>
              <a:t>IBM Employee Attrition</a:t>
            </a:r>
            <a:br>
              <a:rPr sz="4200" b="1" i="0">
                <a:solidFill>
                  <a:srgbClr val="FFFFFF"/>
                </a:solidFill>
                <a:latin typeface="Segoe UI"/>
              </a:rPr>
            </a:br>
            <a:r>
              <a:rPr sz="4200" b="1" i="0">
                <a:solidFill>
                  <a:srgbClr val="FFFFFF"/>
                </a:solidFill>
                <a:latin typeface="Segoe UI"/>
              </a:rPr>
              <a:t>— Exploratory Data Analysis</a:t>
            </a:r>
            <a:endParaRPr/>
          </a:p>
        </p:txBody>
      </p:sp>
      <p:sp>
        <p:nvSpPr>
          <p:cNvPr id="1341074940" name="TextBox 5"/>
          <p:cNvSpPr txBox="1"/>
          <p:nvPr/>
        </p:nvSpPr>
        <p:spPr bwMode="auto">
          <a:xfrm>
            <a:off x="960120" y="3584448"/>
            <a:ext cx="9509760" cy="402336"/>
          </a:xfrm>
          <a:prstGeom prst="rect">
            <a:avLst/>
          </a:prstGeom>
          <a:noFill/>
        </p:spPr>
        <p:txBody>
          <a:bodyPr wrap="square" lIns="0" tIns="0" rIns="0" bIns="0" anchor="t">
            <a:spAutoFit/>
          </a:bodyPr>
          <a:lstStyle/>
          <a:p>
            <a:pPr algn="l">
              <a:lnSpc>
                <a:spcPct val="124000"/>
              </a:lnSpc>
              <a:spcAft>
                <a:spcPts val="0"/>
              </a:spcAft>
              <a:defRPr/>
            </a:pPr>
            <a:r>
              <a:rPr sz="1700" b="0" i="0">
                <a:solidFill>
                  <a:srgbClr val="CDE2FB"/>
                </a:solidFill>
                <a:latin typeface="Segoe UI"/>
              </a:rPr>
              <a:t>Understanding the Factors Associated with Employee Attrition</a:t>
            </a:r>
            <a:endParaRPr/>
          </a:p>
        </p:txBody>
      </p:sp>
      <p:sp>
        <p:nvSpPr>
          <p:cNvPr id="432826789" name="Rectangle 6"/>
          <p:cNvSpPr/>
          <p:nvPr/>
        </p:nvSpPr>
        <p:spPr bwMode="auto">
          <a:xfrm>
            <a:off x="960120" y="4224528"/>
            <a:ext cx="128016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68993956" name="TextBox 7"/>
          <p:cNvSpPr txBox="1"/>
          <p:nvPr/>
        </p:nvSpPr>
        <p:spPr bwMode="auto">
          <a:xfrm>
            <a:off x="960120" y="4526280"/>
            <a:ext cx="10241280" cy="1005840"/>
          </a:xfrm>
          <a:prstGeom prst="rect">
            <a:avLst/>
          </a:prstGeom>
          <a:noFill/>
        </p:spPr>
        <p:txBody>
          <a:bodyPr wrap="square" lIns="0" tIns="0" rIns="0" bIns="0" anchor="t">
            <a:spAutoFit/>
          </a:bodyPr>
          <a:lstStyle/>
          <a:p>
            <a:pPr algn="l">
              <a:lnSpc>
                <a:spcPct val="170000"/>
              </a:lnSpc>
              <a:spcAft>
                <a:spcPts val="0"/>
              </a:spcAft>
              <a:defRPr/>
            </a:pPr>
            <a:r>
              <a:rPr sz="1400" b="1" i="0">
                <a:solidFill>
                  <a:srgbClr val="FFFFFF"/>
                </a:solidFill>
                <a:latin typeface="Segoe UI"/>
              </a:rPr>
              <a:t>NPower JDA Cohort 2026  </a:t>
            </a:r>
            <a:r>
              <a:rPr sz="1400" b="0" i="0">
                <a:solidFill>
                  <a:srgbClr val="9EC5F4"/>
                </a:solidFill>
                <a:latin typeface="Segoe UI"/>
              </a:rPr>
              <a:t>·  8-person team project</a:t>
            </a:r>
            <a:endParaRPr/>
          </a:p>
          <a:p>
            <a:pPr algn="l">
              <a:lnSpc>
                <a:spcPct val="170000"/>
              </a:lnSpc>
              <a:spcAft>
                <a:spcPts val="0"/>
              </a:spcAft>
              <a:defRPr/>
            </a:pPr>
            <a:r>
              <a:rPr sz="1200" b="0" i="0">
                <a:solidFill>
                  <a:srgbClr val="86B6EF"/>
                </a:solidFill>
                <a:latin typeface="Consolas"/>
              </a:rPr>
              <a:t>github.com/NPower-JDA-Cohort-2026/ibm-analytics-attrition-eda</a:t>
            </a:r>
            <a:endParaRPr/>
          </a:p>
        </p:txBody>
      </p:sp>
      <p:sp>
        <p:nvSpPr>
          <p:cNvPr id="1706850169" name="TextBox 8"/>
          <p:cNvSpPr txBox="1"/>
          <p:nvPr/>
        </p:nvSpPr>
        <p:spPr bwMode="auto">
          <a:xfrm>
            <a:off x="960120" y="5760720"/>
            <a:ext cx="10241280" cy="274320"/>
          </a:xfrm>
          <a:prstGeom prst="rect">
            <a:avLst/>
          </a:prstGeom>
          <a:noFill/>
        </p:spPr>
        <p:txBody>
          <a:bodyPr wrap="square" lIns="0" tIns="0" rIns="0" bIns="0" anchor="t">
            <a:spAutoFit/>
          </a:bodyPr>
          <a:lstStyle/>
          <a:p>
            <a:pPr algn="l">
              <a:lnSpc>
                <a:spcPct val="124000"/>
              </a:lnSpc>
              <a:spcAft>
                <a:spcPts val="0"/>
              </a:spcAft>
              <a:defRPr/>
            </a:pPr>
            <a:r>
              <a:rPr sz="1200" b="0" i="0">
                <a:solidFill>
                  <a:srgbClr val="86B6EF"/>
                </a:solidFill>
                <a:latin typeface="Segoe UI"/>
              </a:rPr>
              <a:t>September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959614"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PROJECT INTRODUCTION</a:t>
            </a:r>
            <a:endParaRPr/>
          </a:p>
        </p:txBody>
      </p:sp>
      <p:sp>
        <p:nvSpPr>
          <p:cNvPr id="713069616"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Why attrition analysis</a:t>
            </a:r>
            <a:endParaRPr/>
          </a:p>
        </p:txBody>
      </p:sp>
      <p:sp>
        <p:nvSpPr>
          <p:cNvPr id="268180929" name="Rectangle 3"/>
          <p:cNvSpPr/>
          <p:nvPr/>
        </p:nvSpPr>
        <p:spPr bwMode="auto">
          <a:xfrm>
            <a:off x="566928" y="1152144"/>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23124483" name="TextBox 4"/>
          <p:cNvSpPr txBox="1"/>
          <p:nvPr/>
        </p:nvSpPr>
        <p:spPr bwMode="auto">
          <a:xfrm>
            <a:off x="566928" y="1389888"/>
            <a:ext cx="5989320" cy="3108960"/>
          </a:xfrm>
          <a:prstGeom prst="rect">
            <a:avLst/>
          </a:prstGeom>
          <a:noFill/>
        </p:spPr>
        <p:txBody>
          <a:bodyPr wrap="square" lIns="0" tIns="0" rIns="0" bIns="0" anchor="t">
            <a:spAutoFit/>
          </a:bodyPr>
          <a:lstStyle/>
          <a:p>
            <a:pPr algn="l">
              <a:lnSpc>
                <a:spcPct val="130000"/>
              </a:lnSpc>
              <a:spcAft>
                <a:spcPts val="1100"/>
              </a:spcAft>
              <a:defRPr/>
            </a:pPr>
            <a:r>
              <a:rPr sz="1350" b="1" i="0">
                <a:solidFill>
                  <a:srgbClr val="0B0B0B"/>
                </a:solidFill>
                <a:latin typeface="Segoe UI"/>
              </a:rPr>
              <a:t>What attrition means</a:t>
            </a:r>
            <a:endParaRPr/>
          </a:p>
          <a:p>
            <a:pPr algn="l">
              <a:lnSpc>
                <a:spcPct val="130000"/>
              </a:lnSpc>
              <a:spcAft>
                <a:spcPts val="1100"/>
              </a:spcAft>
              <a:defRPr/>
            </a:pPr>
            <a:r>
              <a:rPr sz="1200" b="0" i="0">
                <a:solidFill>
                  <a:srgbClr val="52514E"/>
                </a:solidFill>
                <a:latin typeface="Segoe UI"/>
              </a:rPr>
              <a:t>Attrition is the loss of employees from an organisation — in this dataset, one column with two values: whether an employee has left (Yes) or is still employed (No).</a:t>
            </a:r>
            <a:endParaRPr/>
          </a:p>
          <a:p>
            <a:pPr algn="l">
              <a:lnSpc>
                <a:spcPct val="130000"/>
              </a:lnSpc>
              <a:spcAft>
                <a:spcPts val="1100"/>
              </a:spcAft>
              <a:defRPr/>
            </a:pPr>
            <a:r>
              <a:rPr sz="1350" b="1" i="0">
                <a:solidFill>
                  <a:srgbClr val="0B0B0B"/>
                </a:solidFill>
                <a:latin typeface="Segoe UI"/>
              </a:rPr>
              <a:t>Why it matters</a:t>
            </a:r>
            <a:endParaRPr/>
          </a:p>
          <a:p>
            <a:pPr algn="l">
              <a:lnSpc>
                <a:spcPct val="130000"/>
              </a:lnSpc>
              <a:spcAft>
                <a:spcPts val="1100"/>
              </a:spcAft>
              <a:defRPr/>
            </a:pPr>
            <a:r>
              <a:rPr sz="1200" b="0" i="0">
                <a:solidFill>
                  <a:srgbClr val="52514E"/>
                </a:solidFill>
                <a:latin typeface="Segoe UI"/>
              </a:rPr>
              <a:t>Replacing a mid-level employee costs a meaningful multiple of their salary once recruiting, onboarding, lost productivity and institutional knowledge are counted. The signals that precede a resignation usually already sit in HR data that nobody has cross-tabulated.</a:t>
            </a:r>
            <a:endParaRPr/>
          </a:p>
        </p:txBody>
      </p:sp>
      <p:sp>
        <p:nvSpPr>
          <p:cNvPr id="199156145" name="Rectangle 5"/>
          <p:cNvSpPr/>
          <p:nvPr/>
        </p:nvSpPr>
        <p:spPr bwMode="auto">
          <a:xfrm>
            <a:off x="566928" y="4956048"/>
            <a:ext cx="5989320" cy="1170432"/>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44522479" name="Rectangle 6"/>
          <p:cNvSpPr/>
          <p:nvPr/>
        </p:nvSpPr>
        <p:spPr bwMode="auto">
          <a:xfrm>
            <a:off x="566928" y="4956048"/>
            <a:ext cx="41148" cy="1170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803025074" name="TextBox 7"/>
          <p:cNvSpPr txBox="1"/>
          <p:nvPr/>
        </p:nvSpPr>
        <p:spPr bwMode="auto">
          <a:xfrm>
            <a:off x="786384" y="5093208"/>
            <a:ext cx="5586983"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OUR GOAL</a:t>
            </a:r>
            <a:endParaRPr/>
          </a:p>
        </p:txBody>
      </p:sp>
      <p:sp>
        <p:nvSpPr>
          <p:cNvPr id="453635329" name="TextBox 8"/>
          <p:cNvSpPr txBox="1"/>
          <p:nvPr/>
        </p:nvSpPr>
        <p:spPr bwMode="auto">
          <a:xfrm>
            <a:off x="786384" y="5340096"/>
            <a:ext cx="5586983" cy="676656"/>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Not “can we guess who quits” but “which conditions are over-represented among leavers, by how much, and is the gap large enough to act on.”</a:t>
            </a:r>
            <a:endParaRPr/>
          </a:p>
        </p:txBody>
      </p:sp>
      <p:sp>
        <p:nvSpPr>
          <p:cNvPr id="313607338" name="TextBox 9"/>
          <p:cNvSpPr txBox="1"/>
          <p:nvPr/>
        </p:nvSpPr>
        <p:spPr bwMode="auto">
          <a:xfrm>
            <a:off x="6922008" y="1389888"/>
            <a:ext cx="4703033" cy="274320"/>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The five question groups the project set out to answer</a:t>
            </a:r>
            <a:endParaRPr/>
          </a:p>
        </p:txBody>
      </p:sp>
      <p:sp>
        <p:nvSpPr>
          <p:cNvPr id="1885919942" name="TextBox 10"/>
          <p:cNvSpPr txBox="1"/>
          <p:nvPr/>
        </p:nvSpPr>
        <p:spPr bwMode="auto">
          <a:xfrm>
            <a:off x="6922008" y="1773936"/>
            <a:ext cx="4703033" cy="2834640"/>
          </a:xfrm>
          <a:prstGeom prst="rect">
            <a:avLst/>
          </a:prstGeom>
          <a:noFill/>
        </p:spPr>
        <p:txBody>
          <a:bodyPr wrap="square" lIns="0" tIns="0" rIns="0" bIns="0" anchor="t">
            <a:spAutoFit/>
          </a:bodyPr>
          <a:lstStyle/>
          <a:p>
            <a:pPr algn="l">
              <a:lnSpc>
                <a:spcPct val="122000"/>
              </a:lnSpc>
              <a:spcAft>
                <a:spcPts val="900"/>
              </a:spcAft>
              <a:defRPr/>
            </a:pPr>
            <a:r>
              <a:rPr sz="1100" b="1" i="0">
                <a:solidFill>
                  <a:srgbClr val="2A78D6"/>
                </a:solidFill>
                <a:latin typeface="Segoe UI"/>
              </a:rPr>
              <a:t>•  </a:t>
            </a:r>
            <a:r>
              <a:rPr sz="1100" b="1" i="0">
                <a:solidFill>
                  <a:srgbClr val="0B0B0B"/>
                </a:solidFill>
                <a:latin typeface="Segoe UI"/>
              </a:rPr>
              <a:t>Concentration  </a:t>
            </a:r>
            <a:r>
              <a:rPr sz="1100" b="0" i="0">
                <a:solidFill>
                  <a:srgbClr val="52514E"/>
                </a:solidFill>
                <a:latin typeface="Segoe UI"/>
              </a:rPr>
              <a:t>Which roles, departments and levels exceed the baseline — and by enough to matter given headcount?</a:t>
            </a:r>
            <a:endParaRPr/>
          </a:p>
          <a:p>
            <a:pPr algn="l">
              <a:lnSpc>
                <a:spcPct val="122000"/>
              </a:lnSpc>
              <a:spcAft>
                <a:spcPts val="900"/>
              </a:spcAft>
              <a:defRPr/>
            </a:pPr>
            <a:r>
              <a:rPr sz="1100" b="1" i="0">
                <a:solidFill>
                  <a:srgbClr val="2A78D6"/>
                </a:solidFill>
                <a:latin typeface="Segoe UI"/>
              </a:rPr>
              <a:t>•  </a:t>
            </a:r>
            <a:r>
              <a:rPr sz="1100" b="1" i="0">
                <a:solidFill>
                  <a:srgbClr val="0B0B0B"/>
                </a:solidFill>
                <a:latin typeface="Segoe UI"/>
              </a:rPr>
              <a:t>Timing  </a:t>
            </a:r>
            <a:r>
              <a:rPr sz="1100" b="0" i="0">
                <a:solidFill>
                  <a:srgbClr val="52514E"/>
                </a:solidFill>
                <a:latin typeface="Segoe UI"/>
              </a:rPr>
              <a:t>Is attrition an early-tenure phenomenon, a mid-career one, or both?</a:t>
            </a:r>
            <a:endParaRPr/>
          </a:p>
          <a:p>
            <a:pPr algn="l">
              <a:lnSpc>
                <a:spcPct val="122000"/>
              </a:lnSpc>
              <a:spcAft>
                <a:spcPts val="900"/>
              </a:spcAft>
              <a:defRPr/>
            </a:pPr>
            <a:r>
              <a:rPr sz="1100" b="1" i="0">
                <a:solidFill>
                  <a:srgbClr val="2A78D6"/>
                </a:solidFill>
                <a:latin typeface="Segoe UI"/>
              </a:rPr>
              <a:t>•  </a:t>
            </a:r>
            <a:r>
              <a:rPr sz="1100" b="1" i="0">
                <a:solidFill>
                  <a:srgbClr val="0B0B0B"/>
                </a:solidFill>
                <a:latin typeface="Segoe UI"/>
              </a:rPr>
              <a:t>Conditions  </a:t>
            </a:r>
            <a:r>
              <a:rPr sz="1100" b="0" i="0">
                <a:solidFill>
                  <a:srgbClr val="52514E"/>
                </a:solidFill>
                <a:latin typeface="Segoe UI"/>
              </a:rPr>
              <a:t>Does overtime, travel, commute or promotion stagnation move the rate?</a:t>
            </a:r>
            <a:endParaRPr/>
          </a:p>
          <a:p>
            <a:pPr algn="l">
              <a:lnSpc>
                <a:spcPct val="122000"/>
              </a:lnSpc>
              <a:spcAft>
                <a:spcPts val="900"/>
              </a:spcAft>
              <a:defRPr/>
            </a:pPr>
            <a:r>
              <a:rPr sz="1100" b="1" i="0">
                <a:solidFill>
                  <a:srgbClr val="2A78D6"/>
                </a:solidFill>
                <a:latin typeface="Segoe UI"/>
              </a:rPr>
              <a:t>•  </a:t>
            </a:r>
            <a:r>
              <a:rPr sz="1100" b="1" i="0">
                <a:solidFill>
                  <a:srgbClr val="0B0B0B"/>
                </a:solidFill>
                <a:latin typeface="Segoe UI"/>
              </a:rPr>
              <a:t>Compensation  </a:t>
            </a:r>
            <a:r>
              <a:rPr sz="1100" b="0" i="0">
                <a:solidFill>
                  <a:srgbClr val="52514E"/>
                </a:solidFill>
                <a:latin typeface="Segoe UI"/>
              </a:rPr>
              <a:t>Do leavers earn less than stayers? Do stock options behave like a lever?</a:t>
            </a:r>
            <a:endParaRPr/>
          </a:p>
          <a:p>
            <a:pPr algn="l">
              <a:lnSpc>
                <a:spcPct val="122000"/>
              </a:lnSpc>
              <a:spcAft>
                <a:spcPts val="900"/>
              </a:spcAft>
              <a:defRPr/>
            </a:pPr>
            <a:r>
              <a:rPr sz="1100" b="1" i="0">
                <a:solidFill>
                  <a:srgbClr val="2A78D6"/>
                </a:solidFill>
                <a:latin typeface="Segoe UI"/>
              </a:rPr>
              <a:t>•  </a:t>
            </a:r>
            <a:r>
              <a:rPr sz="1100" b="1" i="0">
                <a:solidFill>
                  <a:srgbClr val="0B0B0B"/>
                </a:solidFill>
                <a:latin typeface="Segoe UI"/>
              </a:rPr>
              <a:t>Sentiment  </a:t>
            </a:r>
            <a:r>
              <a:rPr sz="1100" b="0" i="0">
                <a:solidFill>
                  <a:srgbClr val="52514E"/>
                </a:solidFill>
                <a:latin typeface="Segoe UI"/>
              </a:rPr>
              <a:t>Which satisfaction dimension separates leavers from stayers most cleanly?</a:t>
            </a:r>
            <a:endParaRPr/>
          </a:p>
        </p:txBody>
      </p:sp>
      <p:sp>
        <p:nvSpPr>
          <p:cNvPr id="1517390600" name="Rectangle 11"/>
          <p:cNvSpPr/>
          <p:nvPr/>
        </p:nvSpPr>
        <p:spPr bwMode="auto">
          <a:xfrm>
            <a:off x="6922008" y="4956048"/>
            <a:ext cx="4703033" cy="1170432"/>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41041455" name="Rectangle 12"/>
          <p:cNvSpPr/>
          <p:nvPr/>
        </p:nvSpPr>
        <p:spPr bwMode="auto">
          <a:xfrm>
            <a:off x="6922008" y="4956048"/>
            <a:ext cx="41148" cy="1170432"/>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99518330" name="TextBox 13"/>
          <p:cNvSpPr txBox="1"/>
          <p:nvPr/>
        </p:nvSpPr>
        <p:spPr bwMode="auto">
          <a:xfrm>
            <a:off x="7141464" y="5093208"/>
            <a:ext cx="430069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FRAMING</a:t>
            </a:r>
            <a:endParaRPr/>
          </a:p>
        </p:txBody>
      </p:sp>
      <p:sp>
        <p:nvSpPr>
          <p:cNvPr id="1116498301" name="TextBox 14"/>
          <p:cNvSpPr txBox="1"/>
          <p:nvPr/>
        </p:nvSpPr>
        <p:spPr bwMode="auto">
          <a:xfrm>
            <a:off x="7141464" y="5340096"/>
            <a:ext cx="4300697" cy="676656"/>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Diagnostic, not predictive. With one cross-sectional snapshot and no experiment, the honest ceiling is “this condition is over-represented among leavers by n percentage points.”</a:t>
            </a:r>
            <a:endParaRPr/>
          </a:p>
        </p:txBody>
      </p:sp>
      <p:sp>
        <p:nvSpPr>
          <p:cNvPr id="475596919" name="Rectangle 15"/>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86950551" name="TextBox 16"/>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README.md · Overview and Analysis Questions</a:t>
            </a:r>
            <a:endParaRPr/>
          </a:p>
        </p:txBody>
      </p:sp>
      <p:sp>
        <p:nvSpPr>
          <p:cNvPr id="855023572" name="TextBox 17"/>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1486570"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DATASET OVERVIEW</a:t>
            </a:r>
            <a:endParaRPr/>
          </a:p>
        </p:txBody>
      </p:sp>
      <p:sp>
        <p:nvSpPr>
          <p:cNvPr id="1578213591"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IBM HR Analytics Employee Attrition dataset</a:t>
            </a:r>
            <a:endParaRPr/>
          </a:p>
        </p:txBody>
      </p:sp>
      <p:sp>
        <p:nvSpPr>
          <p:cNvPr id="1704743861" name="Rectangle 3"/>
          <p:cNvSpPr/>
          <p:nvPr/>
        </p:nvSpPr>
        <p:spPr bwMode="auto">
          <a:xfrm>
            <a:off x="566928" y="1152144"/>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98644184" name="Rectangle 4"/>
          <p:cNvSpPr/>
          <p:nvPr/>
        </p:nvSpPr>
        <p:spPr bwMode="auto">
          <a:xfrm>
            <a:off x="566928" y="1389888"/>
            <a:ext cx="2599936" cy="11887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03766651" name="Rectangle 5"/>
          <p:cNvSpPr/>
          <p:nvPr/>
        </p:nvSpPr>
        <p:spPr bwMode="auto">
          <a:xfrm>
            <a:off x="566928" y="1389888"/>
            <a:ext cx="41148"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38677711" name="TextBox 6"/>
          <p:cNvSpPr txBox="1"/>
          <p:nvPr/>
        </p:nvSpPr>
        <p:spPr bwMode="auto">
          <a:xfrm>
            <a:off x="804672" y="1545336"/>
            <a:ext cx="2197600"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1,470</a:t>
            </a:r>
            <a:endParaRPr/>
          </a:p>
        </p:txBody>
      </p:sp>
      <p:sp>
        <p:nvSpPr>
          <p:cNvPr id="1472038127" name="TextBox 7"/>
          <p:cNvSpPr txBox="1"/>
          <p:nvPr/>
        </p:nvSpPr>
        <p:spPr bwMode="auto">
          <a:xfrm>
            <a:off x="804672" y="2048256"/>
            <a:ext cx="2197600"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Employee records</a:t>
            </a:r>
            <a:endParaRPr/>
          </a:p>
        </p:txBody>
      </p:sp>
      <p:sp>
        <p:nvSpPr>
          <p:cNvPr id="20312526" name="TextBox 8"/>
          <p:cNvSpPr txBox="1"/>
          <p:nvPr/>
        </p:nvSpPr>
        <p:spPr bwMode="auto">
          <a:xfrm>
            <a:off x="804672" y="2286000"/>
            <a:ext cx="2197600"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One row per employee</a:t>
            </a:r>
            <a:endParaRPr/>
          </a:p>
        </p:txBody>
      </p:sp>
      <p:sp>
        <p:nvSpPr>
          <p:cNvPr id="329013401" name="Rectangle 9"/>
          <p:cNvSpPr/>
          <p:nvPr/>
        </p:nvSpPr>
        <p:spPr bwMode="auto">
          <a:xfrm>
            <a:off x="3386320" y="1389888"/>
            <a:ext cx="2599936" cy="11887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88815517" name="Rectangle 10"/>
          <p:cNvSpPr/>
          <p:nvPr/>
        </p:nvSpPr>
        <p:spPr bwMode="auto">
          <a:xfrm>
            <a:off x="3386320" y="1389888"/>
            <a:ext cx="41148"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50636271" name="TextBox 11"/>
          <p:cNvSpPr txBox="1"/>
          <p:nvPr/>
        </p:nvSpPr>
        <p:spPr bwMode="auto">
          <a:xfrm>
            <a:off x="3624064" y="1545336"/>
            <a:ext cx="2197600"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35</a:t>
            </a:r>
            <a:endParaRPr/>
          </a:p>
        </p:txBody>
      </p:sp>
      <p:sp>
        <p:nvSpPr>
          <p:cNvPr id="780156332" name="TextBox 12"/>
          <p:cNvSpPr txBox="1"/>
          <p:nvPr/>
        </p:nvSpPr>
        <p:spPr bwMode="auto">
          <a:xfrm>
            <a:off x="3624064" y="2048256"/>
            <a:ext cx="2197600"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Columns</a:t>
            </a:r>
            <a:endParaRPr/>
          </a:p>
        </p:txBody>
      </p:sp>
      <p:sp>
        <p:nvSpPr>
          <p:cNvPr id="1765308018" name="TextBox 13"/>
          <p:cNvSpPr txBox="1"/>
          <p:nvPr/>
        </p:nvSpPr>
        <p:spPr bwMode="auto">
          <a:xfrm>
            <a:off x="3624064" y="2286000"/>
            <a:ext cx="2197600"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26 numeric · 9 text</a:t>
            </a:r>
            <a:endParaRPr/>
          </a:p>
        </p:txBody>
      </p:sp>
      <p:sp>
        <p:nvSpPr>
          <p:cNvPr id="2052073041" name="Rectangle 14"/>
          <p:cNvSpPr/>
          <p:nvPr/>
        </p:nvSpPr>
        <p:spPr bwMode="auto">
          <a:xfrm>
            <a:off x="6205712" y="1389888"/>
            <a:ext cx="2599936" cy="11887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803003098" name="Rectangle 15"/>
          <p:cNvSpPr/>
          <p:nvPr/>
        </p:nvSpPr>
        <p:spPr bwMode="auto">
          <a:xfrm>
            <a:off x="6205712" y="1389888"/>
            <a:ext cx="41148"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05956252" name="TextBox 16"/>
          <p:cNvSpPr txBox="1"/>
          <p:nvPr/>
        </p:nvSpPr>
        <p:spPr bwMode="auto">
          <a:xfrm>
            <a:off x="6443456" y="1545336"/>
            <a:ext cx="2197600"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16.1%</a:t>
            </a:r>
            <a:endParaRPr/>
          </a:p>
        </p:txBody>
      </p:sp>
      <p:sp>
        <p:nvSpPr>
          <p:cNvPr id="1292869557" name="TextBox 17"/>
          <p:cNvSpPr txBox="1"/>
          <p:nvPr/>
        </p:nvSpPr>
        <p:spPr bwMode="auto">
          <a:xfrm>
            <a:off x="6443456" y="2048256"/>
            <a:ext cx="2197600"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Overall attrition</a:t>
            </a:r>
            <a:endParaRPr/>
          </a:p>
        </p:txBody>
      </p:sp>
      <p:sp>
        <p:nvSpPr>
          <p:cNvPr id="719880568" name="TextBox 18"/>
          <p:cNvSpPr txBox="1"/>
          <p:nvPr/>
        </p:nvSpPr>
        <p:spPr bwMode="auto">
          <a:xfrm>
            <a:off x="6443456" y="2286000"/>
            <a:ext cx="2197600"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237 left · 1,233 stayed</a:t>
            </a:r>
            <a:endParaRPr/>
          </a:p>
        </p:txBody>
      </p:sp>
      <p:sp>
        <p:nvSpPr>
          <p:cNvPr id="1828603497" name="Rectangle 19"/>
          <p:cNvSpPr/>
          <p:nvPr/>
        </p:nvSpPr>
        <p:spPr bwMode="auto">
          <a:xfrm>
            <a:off x="9025105" y="1389888"/>
            <a:ext cx="2599936" cy="11887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26788275" name="Rectangle 20"/>
          <p:cNvSpPr/>
          <p:nvPr/>
        </p:nvSpPr>
        <p:spPr bwMode="auto">
          <a:xfrm>
            <a:off x="9025105" y="1389888"/>
            <a:ext cx="41148"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58061744" name="TextBox 21"/>
          <p:cNvSpPr txBox="1"/>
          <p:nvPr/>
        </p:nvSpPr>
        <p:spPr bwMode="auto">
          <a:xfrm>
            <a:off x="9262849" y="1545336"/>
            <a:ext cx="2197600"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0</a:t>
            </a:r>
            <a:endParaRPr/>
          </a:p>
        </p:txBody>
      </p:sp>
      <p:sp>
        <p:nvSpPr>
          <p:cNvPr id="1470520644" name="TextBox 22"/>
          <p:cNvSpPr txBox="1"/>
          <p:nvPr/>
        </p:nvSpPr>
        <p:spPr bwMode="auto">
          <a:xfrm>
            <a:off x="9262849" y="2048256"/>
            <a:ext cx="2197600"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Missing values</a:t>
            </a:r>
            <a:endParaRPr/>
          </a:p>
        </p:txBody>
      </p:sp>
      <p:sp>
        <p:nvSpPr>
          <p:cNvPr id="1543117059" name="TextBox 23"/>
          <p:cNvSpPr txBox="1"/>
          <p:nvPr/>
        </p:nvSpPr>
        <p:spPr bwMode="auto">
          <a:xfrm>
            <a:off x="9262849" y="2286000"/>
            <a:ext cx="2197600"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0 duplicate rows</a:t>
            </a:r>
            <a:endParaRPr/>
          </a:p>
        </p:txBody>
      </p:sp>
      <p:sp>
        <p:nvSpPr>
          <p:cNvPr id="1807769191" name="TextBox 24"/>
          <p:cNvSpPr txBox="1"/>
          <p:nvPr/>
        </p:nvSpPr>
        <p:spPr bwMode="auto">
          <a:xfrm>
            <a:off x="566928" y="2871216"/>
            <a:ext cx="5669280"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Variable groups</a:t>
            </a:r>
            <a:endParaRPr/>
          </a:p>
        </p:txBody>
      </p:sp>
      <p:sp>
        <p:nvSpPr>
          <p:cNvPr id="1198561386" name="TextBox 25"/>
          <p:cNvSpPr txBox="1"/>
          <p:nvPr/>
        </p:nvSpPr>
        <p:spPr bwMode="auto">
          <a:xfrm>
            <a:off x="566928" y="3218688"/>
            <a:ext cx="5669280" cy="2743200"/>
          </a:xfrm>
          <a:prstGeom prst="rect">
            <a:avLst/>
          </a:prstGeom>
          <a:noFill/>
        </p:spPr>
        <p:txBody>
          <a:bodyPr wrap="square" lIns="0" tIns="0" rIns="0" bIns="0" anchor="t">
            <a:spAutoFit/>
          </a:bodyPr>
          <a:lstStyle/>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Target  </a:t>
            </a:r>
            <a:r>
              <a:rPr sz="1000" b="0" i="0">
                <a:solidFill>
                  <a:srgbClr val="52514E"/>
                </a:solidFill>
                <a:latin typeface="Segoe UI"/>
              </a:rPr>
              <a:t>Attrition (Yes / No)</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Demographics  </a:t>
            </a:r>
            <a:r>
              <a:rPr sz="1000" b="0" i="0">
                <a:solidFill>
                  <a:srgbClr val="52514E"/>
                </a:solidFill>
                <a:latin typeface="Segoe UI"/>
              </a:rPr>
              <a:t>Age, Gender, MaritalStatus, Education, EducationField, DistanceFromHome</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Role &amp; org  </a:t>
            </a:r>
            <a:r>
              <a:rPr sz="1000" b="0" i="0">
                <a:solidFill>
                  <a:srgbClr val="52514E"/>
                </a:solidFill>
                <a:latin typeface="Segoe UI"/>
              </a:rPr>
              <a:t>Department, JobRole, JobLevel, BusinessTravel, OverTime</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Compensation  </a:t>
            </a:r>
            <a:r>
              <a:rPr sz="1000" b="0" i="0">
                <a:solidFill>
                  <a:srgbClr val="52514E"/>
                </a:solidFill>
                <a:latin typeface="Segoe UI"/>
              </a:rPr>
              <a:t>MonthlyIncome, HourlyRate, DailyRate, MonthlyRate, PercentSalaryHike, StockOptionLevel</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Tenure &amp; history  </a:t>
            </a:r>
            <a:r>
              <a:rPr sz="1000" b="0" i="0">
                <a:solidFill>
                  <a:srgbClr val="52514E"/>
                </a:solidFill>
                <a:latin typeface="Segoe UI"/>
              </a:rPr>
              <a:t>YearsAtCompany, TotalWorkingYears, YearsInCurrentRole, YearsSinceLastPromotion, YearsWithCurrManager, NumCompaniesWorked, TrainingTimesLastYear</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Survey / ordinal  </a:t>
            </a:r>
            <a:r>
              <a:rPr sz="1000" b="0" i="0">
                <a:solidFill>
                  <a:srgbClr val="52514E"/>
                </a:solidFill>
                <a:latin typeface="Segoe UI"/>
              </a:rPr>
              <a:t>JobSatisfaction, EnvironmentSatisfaction, RelationshipSatisfaction, JobInvolvement, WorkLifeBalance, PerformanceRating</a:t>
            </a:r>
            <a:endParaRPr/>
          </a:p>
        </p:txBody>
      </p:sp>
      <p:sp>
        <p:nvSpPr>
          <p:cNvPr id="154443673" name="TextBox 26"/>
          <p:cNvSpPr txBox="1"/>
          <p:nvPr/>
        </p:nvSpPr>
        <p:spPr bwMode="auto">
          <a:xfrm>
            <a:off x="6601968" y="2871216"/>
            <a:ext cx="502307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Source and data quality</a:t>
            </a:r>
            <a:endParaRPr/>
          </a:p>
        </p:txBody>
      </p:sp>
      <p:sp>
        <p:nvSpPr>
          <p:cNvPr id="1300776170" name="TextBox 27"/>
          <p:cNvSpPr txBox="1"/>
          <p:nvPr/>
        </p:nvSpPr>
        <p:spPr bwMode="auto">
          <a:xfrm>
            <a:off x="6601968" y="3218688"/>
            <a:ext cx="5023073" cy="2743200"/>
          </a:xfrm>
          <a:prstGeom prst="rect">
            <a:avLst/>
          </a:prstGeom>
          <a:noFill/>
        </p:spPr>
        <p:txBody>
          <a:bodyPr wrap="square" lIns="0" tIns="0" rIns="0" bIns="0" anchor="t">
            <a:spAutoFit/>
          </a:bodyPr>
          <a:lstStyle/>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Source  </a:t>
            </a:r>
            <a:r>
              <a:rPr sz="1000" b="0" i="0">
                <a:solidFill>
                  <a:srgbClr val="52514E"/>
                </a:solidFill>
                <a:latin typeface="Segoe UI"/>
              </a:rPr>
              <a:t>Kaggle — IBM HR Analytics Employee Attrition &amp; Performance, published by pavansubhasht, authored by IBM</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File  </a:t>
            </a:r>
            <a:r>
              <a:rPr sz="1000" b="0" i="0">
                <a:solidFill>
                  <a:srgbClr val="52514E"/>
                </a:solidFill>
                <a:latin typeface="Segoe UI"/>
              </a:rPr>
              <a:t>WA_Fn-UseC_-HR-Employee-Attrition.csv, a single flat table</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Grain  </a:t>
            </a:r>
            <a:r>
              <a:rPr sz="1000" b="0" i="0">
                <a:solidFill>
                  <a:srgbClr val="52514E"/>
                </a:solidFill>
                <a:latin typeface="Segoe UI"/>
              </a:rPr>
              <a:t>Cross-sectional snapshot — no date or event-timestamp column</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Quality  </a:t>
            </a:r>
            <a:r>
              <a:rPr sz="1000" b="0" i="0">
                <a:solidFill>
                  <a:srgbClr val="52514E"/>
                </a:solidFill>
                <a:latin typeface="Segoe UI"/>
              </a:rPr>
              <a:t>No missing values, no duplicate rows, all 1,470 EmployeeNumbers unique</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Dropped  </a:t>
            </a:r>
            <a:r>
              <a:rPr sz="1000" b="0" i="0">
                <a:solidFill>
                  <a:srgbClr val="52514E"/>
                </a:solidFill>
                <a:latin typeface="Segoe UI"/>
              </a:rPr>
              <a:t>Three constant columns carry no information: EmployeeCount = 1, StandardHours = 80, Over18 = Y</a:t>
            </a:r>
            <a:endParaRPr/>
          </a:p>
          <a:p>
            <a:pPr algn="l">
              <a:lnSpc>
                <a:spcPct val="122000"/>
              </a:lnSpc>
              <a:spcAft>
                <a:spcPts val="600"/>
              </a:spcAft>
              <a:defRPr/>
            </a:pPr>
            <a:r>
              <a:rPr sz="1000" b="1" i="0">
                <a:solidFill>
                  <a:srgbClr val="2A78D6"/>
                </a:solidFill>
                <a:latin typeface="Segoe UI"/>
              </a:rPr>
              <a:t>•  </a:t>
            </a:r>
            <a:r>
              <a:rPr sz="1000" b="1" i="0">
                <a:solidFill>
                  <a:srgbClr val="0B0B0B"/>
                </a:solidFill>
                <a:latin typeface="Segoe UI"/>
              </a:rPr>
              <a:t>Imbalance  </a:t>
            </a:r>
            <a:r>
              <a:rPr sz="1000" b="0" i="0">
                <a:solidFill>
                  <a:srgbClr val="52514E"/>
                </a:solidFill>
                <a:latin typeface="Segoe UI"/>
              </a:rPr>
              <a:t>Leavers are 16.1% of records — every segment rate is reported with its headcount</a:t>
            </a:r>
            <a:endParaRPr/>
          </a:p>
        </p:txBody>
      </p:sp>
      <p:sp>
        <p:nvSpPr>
          <p:cNvPr id="595276525" name="Rectangle 28"/>
          <p:cNvSpPr/>
          <p:nvPr/>
        </p:nvSpPr>
        <p:spPr bwMode="auto">
          <a:xfrm>
            <a:off x="566928" y="5577840"/>
            <a:ext cx="11058113" cy="658368"/>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758465" name="Rectangle 29"/>
          <p:cNvSpPr/>
          <p:nvPr/>
        </p:nvSpPr>
        <p:spPr bwMode="auto">
          <a:xfrm>
            <a:off x="566928" y="5577840"/>
            <a:ext cx="41148" cy="658368"/>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58129957" name="TextBox 30"/>
          <p:cNvSpPr txBox="1"/>
          <p:nvPr/>
        </p:nvSpPr>
        <p:spPr bwMode="auto">
          <a:xfrm>
            <a:off x="786384" y="5715000"/>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IMPORTANT</a:t>
            </a:r>
            <a:endParaRPr/>
          </a:p>
        </p:txBody>
      </p:sp>
      <p:sp>
        <p:nvSpPr>
          <p:cNvPr id="50838842" name="TextBox 31"/>
          <p:cNvSpPr txBox="1"/>
          <p:nvPr/>
        </p:nvSpPr>
        <p:spPr bwMode="auto">
          <a:xfrm>
            <a:off x="786384" y="5961888"/>
            <a:ext cx="10655777" cy="164591"/>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 dataset is fictional — created by IBM data scientists to demonstrate HR analytics. No rate in it is an industry benchmark. Findings demonstrate method.</a:t>
            </a:r>
            <a:endParaRPr/>
          </a:p>
        </p:txBody>
      </p:sp>
      <p:sp>
        <p:nvSpPr>
          <p:cNvPr id="367232958" name="Rectangle 32"/>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58732214" name="TextBox 33"/>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notebooks/00, 01, 02 · README.md</a:t>
            </a:r>
            <a:endParaRPr/>
          </a:p>
        </p:txBody>
      </p:sp>
      <p:sp>
        <p:nvSpPr>
          <p:cNvPr id="246930068" name="TextBox 34"/>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8914211"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METHODOLOGY</a:t>
            </a:r>
            <a:endParaRPr/>
          </a:p>
        </p:txBody>
      </p:sp>
      <p:sp>
        <p:nvSpPr>
          <p:cNvPr id="2123904146"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Eleven notebooks, run in numeric order</a:t>
            </a:r>
            <a:endParaRPr/>
          </a:p>
        </p:txBody>
      </p:sp>
      <p:sp>
        <p:nvSpPr>
          <p:cNvPr id="62266025"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Each notebook reads data/raw and is reproducible on its own; every derived table regenerates by running them in sequence.</a:t>
            </a:r>
            <a:endParaRPr/>
          </a:p>
        </p:txBody>
      </p:sp>
      <p:sp>
        <p:nvSpPr>
          <p:cNvPr id="778105961"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251036163" name="Rectangle 5"/>
          <p:cNvSpPr/>
          <p:nvPr/>
        </p:nvSpPr>
        <p:spPr bwMode="auto">
          <a:xfrm>
            <a:off x="566928"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0504463" name="Rectangle 6"/>
          <p:cNvSpPr/>
          <p:nvPr/>
        </p:nvSpPr>
        <p:spPr bwMode="auto">
          <a:xfrm>
            <a:off x="566928" y="1874519"/>
            <a:ext cx="1454327"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75337185" name="TextBox 7"/>
          <p:cNvSpPr txBox="1"/>
          <p:nvPr/>
        </p:nvSpPr>
        <p:spPr bwMode="auto">
          <a:xfrm>
            <a:off x="713232"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2A78D6"/>
                </a:solidFill>
                <a:latin typeface="Segoe UI"/>
              </a:rPr>
              <a:t>00–02</a:t>
            </a:r>
            <a:endParaRPr/>
          </a:p>
        </p:txBody>
      </p:sp>
      <p:sp>
        <p:nvSpPr>
          <p:cNvPr id="1941349662" name="TextBox 8"/>
          <p:cNvSpPr txBox="1"/>
          <p:nvPr/>
        </p:nvSpPr>
        <p:spPr bwMode="auto">
          <a:xfrm>
            <a:off x="713232"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Profile &amp; validate</a:t>
            </a:r>
            <a:endParaRPr/>
          </a:p>
        </p:txBody>
      </p:sp>
      <p:sp>
        <p:nvSpPr>
          <p:cNvPr id="1698706442" name="TextBox 9"/>
          <p:cNvSpPr txBox="1"/>
          <p:nvPr/>
        </p:nvSpPr>
        <p:spPr bwMode="auto">
          <a:xfrm>
            <a:off x="713232"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Shape, dtypes, duplicates, missing values</a:t>
            </a:r>
            <a:endParaRPr/>
          </a:p>
        </p:txBody>
      </p:sp>
      <p:sp>
        <p:nvSpPr>
          <p:cNvPr id="917661120" name="TextBox 10"/>
          <p:cNvSpPr txBox="1"/>
          <p:nvPr/>
        </p:nvSpPr>
        <p:spPr bwMode="auto">
          <a:xfrm>
            <a:off x="2032227" y="2560320"/>
            <a:ext cx="128016" cy="237744"/>
          </a:xfrm>
          <a:prstGeom prst="rect">
            <a:avLst/>
          </a:prstGeom>
          <a:noFill/>
        </p:spPr>
        <p:txBody>
          <a:bodyPr wrap="square" lIns="0" tIns="0" rIns="0" bIns="0" anchor="t">
            <a:spAutoFit/>
          </a:bodyPr>
          <a:lstStyle/>
          <a:p>
            <a:pPr algn="ctr">
              <a:lnSpc>
                <a:spcPct val="124000"/>
              </a:lnSpc>
              <a:spcAft>
                <a:spcPts val="0"/>
              </a:spcAft>
              <a:defRPr/>
            </a:pPr>
            <a:r>
              <a:rPr sz="1500" b="0" i="0">
                <a:solidFill>
                  <a:srgbClr val="898781"/>
                </a:solidFill>
                <a:latin typeface="Segoe UI"/>
              </a:rPr>
              <a:t>›</a:t>
            </a:r>
            <a:endParaRPr/>
          </a:p>
        </p:txBody>
      </p:sp>
      <p:sp>
        <p:nvSpPr>
          <p:cNvPr id="1716284919" name="Rectangle 11"/>
          <p:cNvSpPr/>
          <p:nvPr/>
        </p:nvSpPr>
        <p:spPr bwMode="auto">
          <a:xfrm>
            <a:off x="2167559"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02172123" name="Rectangle 12"/>
          <p:cNvSpPr/>
          <p:nvPr/>
        </p:nvSpPr>
        <p:spPr bwMode="auto">
          <a:xfrm>
            <a:off x="2167559" y="1874519"/>
            <a:ext cx="1454327"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28663830" name="TextBox 13"/>
          <p:cNvSpPr txBox="1"/>
          <p:nvPr/>
        </p:nvSpPr>
        <p:spPr bwMode="auto">
          <a:xfrm>
            <a:off x="2313863"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2A78D6"/>
                </a:solidFill>
                <a:latin typeface="Segoe UI"/>
              </a:rPr>
              <a:t>03–04</a:t>
            </a:r>
            <a:endParaRPr/>
          </a:p>
        </p:txBody>
      </p:sp>
      <p:sp>
        <p:nvSpPr>
          <p:cNvPr id="1796293709" name="TextBox 14"/>
          <p:cNvSpPr txBox="1"/>
          <p:nvPr/>
        </p:nvSpPr>
        <p:spPr bwMode="auto">
          <a:xfrm>
            <a:off x="2313863"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Prepare</a:t>
            </a:r>
            <a:endParaRPr/>
          </a:p>
        </p:txBody>
      </p:sp>
      <p:sp>
        <p:nvSpPr>
          <p:cNvPr id="2142084303" name="TextBox 15"/>
          <p:cNvSpPr txBox="1"/>
          <p:nvPr/>
        </p:nvSpPr>
        <p:spPr bwMode="auto">
          <a:xfrm>
            <a:off x="2313863"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Encoding, scaling, feature groups, wrangled extract</a:t>
            </a:r>
            <a:endParaRPr/>
          </a:p>
        </p:txBody>
      </p:sp>
      <p:sp>
        <p:nvSpPr>
          <p:cNvPr id="5933939" name="TextBox 16"/>
          <p:cNvSpPr txBox="1"/>
          <p:nvPr/>
        </p:nvSpPr>
        <p:spPr bwMode="auto">
          <a:xfrm>
            <a:off x="3632858" y="2560320"/>
            <a:ext cx="128016" cy="237744"/>
          </a:xfrm>
          <a:prstGeom prst="rect">
            <a:avLst/>
          </a:prstGeom>
          <a:noFill/>
        </p:spPr>
        <p:txBody>
          <a:bodyPr wrap="square" lIns="0" tIns="0" rIns="0" bIns="0" anchor="t">
            <a:spAutoFit/>
          </a:bodyPr>
          <a:lstStyle/>
          <a:p>
            <a:pPr algn="ctr">
              <a:lnSpc>
                <a:spcPct val="124000"/>
              </a:lnSpc>
              <a:spcAft>
                <a:spcPts val="0"/>
              </a:spcAft>
              <a:defRPr/>
            </a:pPr>
            <a:r>
              <a:rPr sz="1500" b="0" i="0">
                <a:solidFill>
                  <a:srgbClr val="898781"/>
                </a:solidFill>
                <a:latin typeface="Segoe UI"/>
              </a:rPr>
              <a:t>›</a:t>
            </a:r>
            <a:endParaRPr/>
          </a:p>
        </p:txBody>
      </p:sp>
      <p:sp>
        <p:nvSpPr>
          <p:cNvPr id="438151260" name="Rectangle 17"/>
          <p:cNvSpPr/>
          <p:nvPr/>
        </p:nvSpPr>
        <p:spPr bwMode="auto">
          <a:xfrm>
            <a:off x="3768190"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23437715" name="Rectangle 18"/>
          <p:cNvSpPr/>
          <p:nvPr/>
        </p:nvSpPr>
        <p:spPr bwMode="auto">
          <a:xfrm>
            <a:off x="3768190" y="1874519"/>
            <a:ext cx="1454327"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9710124" name="TextBox 19"/>
          <p:cNvSpPr txBox="1"/>
          <p:nvPr/>
        </p:nvSpPr>
        <p:spPr bwMode="auto">
          <a:xfrm>
            <a:off x="3914494"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2A78D6"/>
                </a:solidFill>
                <a:latin typeface="Segoe UI"/>
              </a:rPr>
              <a:t>05</a:t>
            </a:r>
            <a:endParaRPr/>
          </a:p>
        </p:txBody>
      </p:sp>
      <p:sp>
        <p:nvSpPr>
          <p:cNvPr id="1398905127" name="TextBox 20"/>
          <p:cNvSpPr txBox="1"/>
          <p:nvPr/>
        </p:nvSpPr>
        <p:spPr bwMode="auto">
          <a:xfrm>
            <a:off x="3914494"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Attrition analysis</a:t>
            </a:r>
            <a:endParaRPr/>
          </a:p>
        </p:txBody>
      </p:sp>
      <p:sp>
        <p:nvSpPr>
          <p:cNvPr id="622823502" name="TextBox 21"/>
          <p:cNvSpPr txBox="1"/>
          <p:nvPr/>
        </p:nvSpPr>
        <p:spPr bwMode="auto">
          <a:xfrm>
            <a:off x="3914494"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Segment rates vs the 16.1% baseline</a:t>
            </a:r>
            <a:endParaRPr/>
          </a:p>
        </p:txBody>
      </p:sp>
      <p:sp>
        <p:nvSpPr>
          <p:cNvPr id="129454571" name="TextBox 22"/>
          <p:cNvSpPr txBox="1"/>
          <p:nvPr/>
        </p:nvSpPr>
        <p:spPr bwMode="auto">
          <a:xfrm>
            <a:off x="5233490" y="2560320"/>
            <a:ext cx="128016" cy="237744"/>
          </a:xfrm>
          <a:prstGeom prst="rect">
            <a:avLst/>
          </a:prstGeom>
          <a:noFill/>
        </p:spPr>
        <p:txBody>
          <a:bodyPr wrap="square" lIns="0" tIns="0" rIns="0" bIns="0" anchor="t">
            <a:spAutoFit/>
          </a:bodyPr>
          <a:lstStyle/>
          <a:p>
            <a:pPr algn="ctr">
              <a:lnSpc>
                <a:spcPct val="124000"/>
              </a:lnSpc>
              <a:spcAft>
                <a:spcPts val="0"/>
              </a:spcAft>
              <a:defRPr/>
            </a:pPr>
            <a:r>
              <a:rPr sz="1500" b="0" i="0">
                <a:solidFill>
                  <a:srgbClr val="898781"/>
                </a:solidFill>
                <a:latin typeface="Segoe UI"/>
              </a:rPr>
              <a:t>›</a:t>
            </a:r>
            <a:endParaRPr/>
          </a:p>
        </p:txBody>
      </p:sp>
      <p:sp>
        <p:nvSpPr>
          <p:cNvPr id="1141126708" name="Rectangle 23"/>
          <p:cNvSpPr/>
          <p:nvPr/>
        </p:nvSpPr>
        <p:spPr bwMode="auto">
          <a:xfrm>
            <a:off x="5368821"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76943598" name="Rectangle 24"/>
          <p:cNvSpPr/>
          <p:nvPr/>
        </p:nvSpPr>
        <p:spPr bwMode="auto">
          <a:xfrm>
            <a:off x="5368821" y="1874519"/>
            <a:ext cx="1454327"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97883007" name="TextBox 25"/>
          <p:cNvSpPr txBox="1"/>
          <p:nvPr/>
        </p:nvSpPr>
        <p:spPr bwMode="auto">
          <a:xfrm>
            <a:off x="5515125"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2A78D6"/>
                </a:solidFill>
                <a:latin typeface="Segoe UI"/>
              </a:rPr>
              <a:t>06–07</a:t>
            </a:r>
            <a:endParaRPr/>
          </a:p>
        </p:txBody>
      </p:sp>
      <p:sp>
        <p:nvSpPr>
          <p:cNvPr id="1692101727" name="TextBox 26"/>
          <p:cNvSpPr txBox="1"/>
          <p:nvPr/>
        </p:nvSpPr>
        <p:spPr bwMode="auto">
          <a:xfrm>
            <a:off x="5515125"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Distribution &amp; outliers</a:t>
            </a:r>
            <a:endParaRPr/>
          </a:p>
        </p:txBody>
      </p:sp>
      <p:sp>
        <p:nvSpPr>
          <p:cNvPr id="550779938" name="TextBox 27"/>
          <p:cNvSpPr txBox="1"/>
          <p:nvPr/>
        </p:nvSpPr>
        <p:spPr bwMode="auto">
          <a:xfrm>
            <a:off x="5515125"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Shape of every numeric feature, IQR review</a:t>
            </a:r>
            <a:endParaRPr/>
          </a:p>
        </p:txBody>
      </p:sp>
      <p:sp>
        <p:nvSpPr>
          <p:cNvPr id="367412296" name="TextBox 28"/>
          <p:cNvSpPr txBox="1"/>
          <p:nvPr/>
        </p:nvSpPr>
        <p:spPr bwMode="auto">
          <a:xfrm>
            <a:off x="6834121" y="2560320"/>
            <a:ext cx="128016" cy="237744"/>
          </a:xfrm>
          <a:prstGeom prst="rect">
            <a:avLst/>
          </a:prstGeom>
          <a:noFill/>
        </p:spPr>
        <p:txBody>
          <a:bodyPr wrap="square" lIns="0" tIns="0" rIns="0" bIns="0" anchor="t">
            <a:spAutoFit/>
          </a:bodyPr>
          <a:lstStyle/>
          <a:p>
            <a:pPr algn="ctr">
              <a:lnSpc>
                <a:spcPct val="124000"/>
              </a:lnSpc>
              <a:spcAft>
                <a:spcPts val="0"/>
              </a:spcAft>
              <a:defRPr/>
            </a:pPr>
            <a:r>
              <a:rPr sz="1500" b="0" i="0">
                <a:solidFill>
                  <a:srgbClr val="898781"/>
                </a:solidFill>
                <a:latin typeface="Segoe UI"/>
              </a:rPr>
              <a:t>›</a:t>
            </a:r>
            <a:endParaRPr/>
          </a:p>
        </p:txBody>
      </p:sp>
      <p:sp>
        <p:nvSpPr>
          <p:cNvPr id="1085164161" name="Rectangle 29"/>
          <p:cNvSpPr/>
          <p:nvPr/>
        </p:nvSpPr>
        <p:spPr bwMode="auto">
          <a:xfrm>
            <a:off x="6969452"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01918437" name="Rectangle 30"/>
          <p:cNvSpPr/>
          <p:nvPr/>
        </p:nvSpPr>
        <p:spPr bwMode="auto">
          <a:xfrm>
            <a:off x="6969452" y="1874519"/>
            <a:ext cx="1454327"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3427747" name="TextBox 31"/>
          <p:cNvSpPr txBox="1"/>
          <p:nvPr/>
        </p:nvSpPr>
        <p:spPr bwMode="auto">
          <a:xfrm>
            <a:off x="7115756"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2A78D6"/>
                </a:solidFill>
                <a:latin typeface="Segoe UI"/>
              </a:rPr>
              <a:t>08</a:t>
            </a:r>
            <a:endParaRPr/>
          </a:p>
        </p:txBody>
      </p:sp>
      <p:sp>
        <p:nvSpPr>
          <p:cNvPr id="878761339" name="TextBox 32"/>
          <p:cNvSpPr txBox="1"/>
          <p:nvPr/>
        </p:nvSpPr>
        <p:spPr bwMode="auto">
          <a:xfrm>
            <a:off x="7115756"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Correlation</a:t>
            </a:r>
            <a:endParaRPr/>
          </a:p>
        </p:txBody>
      </p:sp>
      <p:sp>
        <p:nvSpPr>
          <p:cNvPr id="1376114682" name="TextBox 33"/>
          <p:cNvSpPr txBox="1"/>
          <p:nvPr/>
        </p:nvSpPr>
        <p:spPr bwMode="auto">
          <a:xfrm>
            <a:off x="7115756"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Group gaps and Pearson screening</a:t>
            </a:r>
            <a:endParaRPr/>
          </a:p>
        </p:txBody>
      </p:sp>
      <p:sp>
        <p:nvSpPr>
          <p:cNvPr id="299876390" name="TextBox 34"/>
          <p:cNvSpPr txBox="1"/>
          <p:nvPr/>
        </p:nvSpPr>
        <p:spPr bwMode="auto">
          <a:xfrm>
            <a:off x="8434752" y="2560320"/>
            <a:ext cx="128016" cy="237744"/>
          </a:xfrm>
          <a:prstGeom prst="rect">
            <a:avLst/>
          </a:prstGeom>
          <a:noFill/>
        </p:spPr>
        <p:txBody>
          <a:bodyPr wrap="square" lIns="0" tIns="0" rIns="0" bIns="0" anchor="t">
            <a:spAutoFit/>
          </a:bodyPr>
          <a:lstStyle/>
          <a:p>
            <a:pPr algn="ctr">
              <a:lnSpc>
                <a:spcPct val="124000"/>
              </a:lnSpc>
              <a:spcAft>
                <a:spcPts val="0"/>
              </a:spcAft>
              <a:defRPr/>
            </a:pPr>
            <a:r>
              <a:rPr sz="1500" b="0" i="0">
                <a:solidFill>
                  <a:srgbClr val="898781"/>
                </a:solidFill>
                <a:latin typeface="Segoe UI"/>
              </a:rPr>
              <a:t>›</a:t>
            </a:r>
            <a:endParaRPr/>
          </a:p>
        </p:txBody>
      </p:sp>
      <p:sp>
        <p:nvSpPr>
          <p:cNvPr id="165243432" name="Rectangle 35"/>
          <p:cNvSpPr/>
          <p:nvPr/>
        </p:nvSpPr>
        <p:spPr bwMode="auto">
          <a:xfrm>
            <a:off x="8570083"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59439784" name="Rectangle 36"/>
          <p:cNvSpPr/>
          <p:nvPr/>
        </p:nvSpPr>
        <p:spPr bwMode="auto">
          <a:xfrm>
            <a:off x="8570083" y="1874519"/>
            <a:ext cx="1454327"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7370993" name="TextBox 37"/>
          <p:cNvSpPr txBox="1"/>
          <p:nvPr/>
        </p:nvSpPr>
        <p:spPr bwMode="auto">
          <a:xfrm>
            <a:off x="8716387"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2A78D6"/>
                </a:solidFill>
                <a:latin typeface="Segoe UI"/>
              </a:rPr>
              <a:t>09</a:t>
            </a:r>
            <a:endParaRPr/>
          </a:p>
        </p:txBody>
      </p:sp>
      <p:sp>
        <p:nvSpPr>
          <p:cNvPr id="837511274" name="TextBox 38"/>
          <p:cNvSpPr txBox="1"/>
          <p:nvPr/>
        </p:nvSpPr>
        <p:spPr bwMode="auto">
          <a:xfrm>
            <a:off x="8716387"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Visualise</a:t>
            </a:r>
            <a:endParaRPr/>
          </a:p>
        </p:txBody>
      </p:sp>
      <p:sp>
        <p:nvSpPr>
          <p:cNvPr id="1018684272" name="TextBox 39"/>
          <p:cNvSpPr txBox="1"/>
          <p:nvPr/>
        </p:nvSpPr>
        <p:spPr bwMode="auto">
          <a:xfrm>
            <a:off x="8716387"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Age, income, tenure, experience distributions</a:t>
            </a:r>
            <a:endParaRPr/>
          </a:p>
        </p:txBody>
      </p:sp>
      <p:sp>
        <p:nvSpPr>
          <p:cNvPr id="686012616" name="TextBox 40"/>
          <p:cNvSpPr txBox="1"/>
          <p:nvPr/>
        </p:nvSpPr>
        <p:spPr bwMode="auto">
          <a:xfrm>
            <a:off x="10035383" y="2560320"/>
            <a:ext cx="128016" cy="237744"/>
          </a:xfrm>
          <a:prstGeom prst="rect">
            <a:avLst/>
          </a:prstGeom>
          <a:noFill/>
        </p:spPr>
        <p:txBody>
          <a:bodyPr wrap="square" lIns="0" tIns="0" rIns="0" bIns="0" anchor="t">
            <a:spAutoFit/>
          </a:bodyPr>
          <a:lstStyle/>
          <a:p>
            <a:pPr algn="ctr">
              <a:lnSpc>
                <a:spcPct val="124000"/>
              </a:lnSpc>
              <a:spcAft>
                <a:spcPts val="0"/>
              </a:spcAft>
              <a:defRPr/>
            </a:pPr>
            <a:r>
              <a:rPr sz="1500" b="0" i="0">
                <a:solidFill>
                  <a:srgbClr val="898781"/>
                </a:solidFill>
                <a:latin typeface="Segoe UI"/>
              </a:rPr>
              <a:t>›</a:t>
            </a:r>
            <a:endParaRPr/>
          </a:p>
        </p:txBody>
      </p:sp>
      <p:sp>
        <p:nvSpPr>
          <p:cNvPr id="1325905840" name="Rectangle 41"/>
          <p:cNvSpPr/>
          <p:nvPr/>
        </p:nvSpPr>
        <p:spPr bwMode="auto">
          <a:xfrm>
            <a:off x="10170714" y="1874519"/>
            <a:ext cx="1454327" cy="178308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86179382" name="Rectangle 42"/>
          <p:cNvSpPr/>
          <p:nvPr/>
        </p:nvSpPr>
        <p:spPr bwMode="auto">
          <a:xfrm>
            <a:off x="10170714" y="1874519"/>
            <a:ext cx="1454327" cy="41148"/>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77477406" name="TextBox 43"/>
          <p:cNvSpPr txBox="1"/>
          <p:nvPr/>
        </p:nvSpPr>
        <p:spPr bwMode="auto">
          <a:xfrm>
            <a:off x="10317018" y="2066543"/>
            <a:ext cx="1161719" cy="256032"/>
          </a:xfrm>
          <a:prstGeom prst="rect">
            <a:avLst/>
          </a:prstGeom>
          <a:noFill/>
        </p:spPr>
        <p:txBody>
          <a:bodyPr wrap="square" lIns="0" tIns="0" rIns="0" bIns="0" anchor="t">
            <a:spAutoFit/>
          </a:bodyPr>
          <a:lstStyle/>
          <a:p>
            <a:pPr algn="l">
              <a:lnSpc>
                <a:spcPct val="124000"/>
              </a:lnSpc>
              <a:spcAft>
                <a:spcPts val="0"/>
              </a:spcAft>
              <a:defRPr/>
            </a:pPr>
            <a:r>
              <a:rPr sz="1500" b="1" i="0">
                <a:solidFill>
                  <a:srgbClr val="898781"/>
                </a:solidFill>
                <a:latin typeface="Segoe UI"/>
              </a:rPr>
              <a:t>10</a:t>
            </a:r>
            <a:endParaRPr/>
          </a:p>
        </p:txBody>
      </p:sp>
      <p:sp>
        <p:nvSpPr>
          <p:cNvPr id="1915038294" name="TextBox 44"/>
          <p:cNvSpPr txBox="1"/>
          <p:nvPr/>
        </p:nvSpPr>
        <p:spPr bwMode="auto">
          <a:xfrm>
            <a:off x="10317018" y="2395728"/>
            <a:ext cx="1161719" cy="512064"/>
          </a:xfrm>
          <a:prstGeom prst="rect">
            <a:avLst/>
          </a:prstGeom>
          <a:noFill/>
        </p:spPr>
        <p:txBody>
          <a:bodyPr wrap="square" lIns="0" tIns="0" rIns="0" bIns="0" anchor="t">
            <a:spAutoFit/>
          </a:bodyPr>
          <a:lstStyle/>
          <a:p>
            <a:pPr algn="l">
              <a:lnSpc>
                <a:spcPct val="118000"/>
              </a:lnSpc>
              <a:spcAft>
                <a:spcPts val="0"/>
              </a:spcAft>
              <a:defRPr/>
            </a:pPr>
            <a:r>
              <a:rPr sz="1150" b="1" i="0">
                <a:solidFill>
                  <a:srgbClr val="0B0B0B"/>
                </a:solidFill>
                <a:latin typeface="Segoe UI"/>
              </a:rPr>
              <a:t>Model</a:t>
            </a:r>
            <a:endParaRPr/>
          </a:p>
        </p:txBody>
      </p:sp>
      <p:sp>
        <p:nvSpPr>
          <p:cNvPr id="1970749111" name="TextBox 45"/>
          <p:cNvSpPr txBox="1"/>
          <p:nvPr/>
        </p:nvSpPr>
        <p:spPr bwMode="auto">
          <a:xfrm>
            <a:off x="10317018" y="2944368"/>
            <a:ext cx="1161719" cy="640080"/>
          </a:xfrm>
          <a:prstGeom prst="rect">
            <a:avLst/>
          </a:prstGeom>
          <a:noFill/>
        </p:spPr>
        <p:txBody>
          <a:bodyPr wrap="square" lIns="0" tIns="0" rIns="0" bIns="0" anchor="t">
            <a:spAutoFit/>
          </a:bodyPr>
          <a:lstStyle/>
          <a:p>
            <a:pPr algn="l">
              <a:lnSpc>
                <a:spcPct val="120000"/>
              </a:lnSpc>
              <a:spcAft>
                <a:spcPts val="0"/>
              </a:spcAft>
              <a:defRPr/>
            </a:pPr>
            <a:r>
              <a:rPr sz="900" b="0" i="0">
                <a:solidFill>
                  <a:srgbClr val="898781"/>
                </a:solidFill>
                <a:latin typeface="Segoe UI"/>
              </a:rPr>
              <a:t>Logistic regression as a closing check</a:t>
            </a:r>
            <a:endParaRPr/>
          </a:p>
        </p:txBody>
      </p:sp>
      <p:sp>
        <p:nvSpPr>
          <p:cNvPr id="1638798455" name="TextBox 46"/>
          <p:cNvSpPr txBox="1"/>
          <p:nvPr/>
        </p:nvSpPr>
        <p:spPr bwMode="auto">
          <a:xfrm>
            <a:off x="566928" y="3986784"/>
            <a:ext cx="1105811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How every segment rate is read</a:t>
            </a:r>
            <a:endParaRPr/>
          </a:p>
        </p:txBody>
      </p:sp>
      <p:sp>
        <p:nvSpPr>
          <p:cNvPr id="612484209" name="TextBox 47"/>
          <p:cNvSpPr txBox="1"/>
          <p:nvPr/>
        </p:nvSpPr>
        <p:spPr bwMode="auto">
          <a:xfrm>
            <a:off x="566928" y="4334256"/>
            <a:ext cx="5852160" cy="1737360"/>
          </a:xfrm>
          <a:prstGeom prst="rect">
            <a:avLst/>
          </a:prstGeom>
          <a:noFill/>
        </p:spPr>
        <p:txBody>
          <a:bodyPr wrap="square" lIns="0" tIns="0" rIns="0" bIns="0" anchor="t">
            <a:spAutoFit/>
          </a:bodyPr>
          <a:lstStyle/>
          <a:p>
            <a:pPr algn="l">
              <a:lnSpc>
                <a:spcPct val="122000"/>
              </a:lnSpc>
              <a:spcAft>
                <a:spcPts val="700"/>
              </a:spcAft>
              <a:defRPr/>
            </a:pPr>
            <a:r>
              <a:rPr sz="1050" b="1" i="0">
                <a:solidFill>
                  <a:srgbClr val="2A78D6"/>
                </a:solidFill>
                <a:latin typeface="Segoe UI"/>
              </a:rPr>
              <a:t>•  </a:t>
            </a:r>
            <a:r>
              <a:rPr sz="1050" b="1" i="0">
                <a:solidFill>
                  <a:srgbClr val="0B0B0B"/>
                </a:solidFill>
                <a:latin typeface="Segoe UI"/>
              </a:rPr>
              <a:t>Rate  </a:t>
            </a:r>
            <a:r>
              <a:rPr sz="1050" b="0" i="0">
                <a:solidFill>
                  <a:srgbClr val="52514E"/>
                </a:solidFill>
                <a:latin typeface="Segoe UI"/>
              </a:rPr>
              <a:t>Leavers ÷ headcount within the segment</a:t>
            </a:r>
            <a:endParaRPr/>
          </a:p>
          <a:p>
            <a:pPr algn="l">
              <a:lnSpc>
                <a:spcPct val="122000"/>
              </a:lnSpc>
              <a:spcAft>
                <a:spcPts val="700"/>
              </a:spcAft>
              <a:defRPr/>
            </a:pPr>
            <a:r>
              <a:rPr sz="1050" b="1" i="0">
                <a:solidFill>
                  <a:srgbClr val="2A78D6"/>
                </a:solidFill>
                <a:latin typeface="Segoe UI"/>
              </a:rPr>
              <a:t>•  </a:t>
            </a:r>
            <a:r>
              <a:rPr sz="1050" b="1" i="0">
                <a:solidFill>
                  <a:srgbClr val="0B0B0B"/>
                </a:solidFill>
                <a:latin typeface="Segoe UI"/>
              </a:rPr>
              <a:t>Gap  </a:t>
            </a:r>
            <a:r>
              <a:rPr sz="1050" b="0" i="0">
                <a:solidFill>
                  <a:srgbClr val="52514E"/>
                </a:solidFill>
                <a:latin typeface="Segoe UI"/>
              </a:rPr>
              <a:t>Segment rate minus the 16.1% company baseline, in percentage points</a:t>
            </a:r>
            <a:endParaRPr/>
          </a:p>
          <a:p>
            <a:pPr algn="l">
              <a:lnSpc>
                <a:spcPct val="122000"/>
              </a:lnSpc>
              <a:spcAft>
                <a:spcPts val="700"/>
              </a:spcAft>
              <a:defRPr/>
            </a:pPr>
            <a:r>
              <a:rPr sz="1050" b="1" i="0">
                <a:solidFill>
                  <a:srgbClr val="2A78D6"/>
                </a:solidFill>
                <a:latin typeface="Segoe UI"/>
              </a:rPr>
              <a:t>•  </a:t>
            </a:r>
            <a:r>
              <a:rPr sz="1050" b="1" i="0">
                <a:solidFill>
                  <a:srgbClr val="0B0B0B"/>
                </a:solidFill>
                <a:latin typeface="Segoe UI"/>
              </a:rPr>
              <a:t>Relative  </a:t>
            </a:r>
            <a:r>
              <a:rPr sz="1050" b="0" i="0">
                <a:solidFill>
                  <a:srgbClr val="52514E"/>
                </a:solidFill>
                <a:latin typeface="Segoe UI"/>
              </a:rPr>
              <a:t>Segment rate ÷ baseline — how many times the company rate</a:t>
            </a:r>
            <a:endParaRPr/>
          </a:p>
          <a:p>
            <a:pPr algn="l">
              <a:lnSpc>
                <a:spcPct val="122000"/>
              </a:lnSpc>
              <a:spcAft>
                <a:spcPts val="700"/>
              </a:spcAft>
              <a:defRPr/>
            </a:pPr>
            <a:r>
              <a:rPr sz="1050" b="1" i="0">
                <a:solidFill>
                  <a:srgbClr val="2A78D6"/>
                </a:solidFill>
                <a:latin typeface="Segoe UI"/>
              </a:rPr>
              <a:t>•  </a:t>
            </a:r>
            <a:r>
              <a:rPr sz="1050" b="1" i="0">
                <a:solidFill>
                  <a:srgbClr val="0B0B0B"/>
                </a:solidFill>
                <a:latin typeface="Segoe UI"/>
              </a:rPr>
              <a:t>Excess  </a:t>
            </a:r>
            <a:r>
              <a:rPr sz="1050" b="0" i="0">
                <a:solidFill>
                  <a:srgbClr val="52514E"/>
                </a:solidFill>
                <a:latin typeface="Segoe UI"/>
              </a:rPr>
              <a:t>Actual leavers minus headcount × 16.1% — separates a high rate from a large number of extra departures</a:t>
            </a:r>
            <a:endParaRPr/>
          </a:p>
        </p:txBody>
      </p:sp>
      <p:sp>
        <p:nvSpPr>
          <p:cNvPr id="1404975909" name="Rectangle 48"/>
          <p:cNvSpPr/>
          <p:nvPr/>
        </p:nvSpPr>
        <p:spPr bwMode="auto">
          <a:xfrm>
            <a:off x="6784848" y="3986784"/>
            <a:ext cx="4840192" cy="210312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554474" name="Rectangle 49"/>
          <p:cNvSpPr/>
          <p:nvPr/>
        </p:nvSpPr>
        <p:spPr bwMode="auto">
          <a:xfrm>
            <a:off x="6784848" y="3986784"/>
            <a:ext cx="41148" cy="21031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76034930" name="TextBox 50"/>
          <p:cNvSpPr txBox="1"/>
          <p:nvPr/>
        </p:nvSpPr>
        <p:spPr bwMode="auto">
          <a:xfrm>
            <a:off x="7004304" y="4123944"/>
            <a:ext cx="443785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WHY EXCESS ATTRITION MATTERS</a:t>
            </a:r>
            <a:endParaRPr/>
          </a:p>
        </p:txBody>
      </p:sp>
      <p:sp>
        <p:nvSpPr>
          <p:cNvPr id="2000230167" name="TextBox 51"/>
          <p:cNvSpPr txBox="1"/>
          <p:nvPr/>
        </p:nvSpPr>
        <p:spPr bwMode="auto">
          <a:xfrm>
            <a:off x="7004304" y="4370832"/>
            <a:ext cx="4437857" cy="1609343"/>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A 23.1% rate in Human Resources (52 people) and a 23.9% rate among Laboratory Technicians (259 people) look alike as percentages. In excess departures they are +4 and +20. Rate says where the problem is sharpest; excess says where it is biggest.</a:t>
            </a:r>
            <a:endParaRPr/>
          </a:p>
        </p:txBody>
      </p:sp>
      <p:sp>
        <p:nvSpPr>
          <p:cNvPr id="447190825" name="Rectangle 52"/>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92687894" name="TextBox 53"/>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notebooks/00–10 · README.md Roadmap</a:t>
            </a:r>
            <a:endParaRPr/>
          </a:p>
        </p:txBody>
      </p:sp>
      <p:sp>
        <p:nvSpPr>
          <p:cNvPr id="2010544539" name="TextBox 54"/>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1113488"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00–02</a:t>
            </a:r>
            <a:endParaRPr/>
          </a:p>
        </p:txBody>
      </p:sp>
      <p:sp>
        <p:nvSpPr>
          <p:cNvPr id="150436665"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Steps 00–02 · Profiling, duplicates and missing values</a:t>
            </a:r>
            <a:endParaRPr/>
          </a:p>
        </p:txBody>
      </p:sp>
      <p:sp>
        <p:nvSpPr>
          <p:cNvPr id="2132900607"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establish that the data is complete, unique and structurally sound before any analysis depends on it.</a:t>
            </a:r>
            <a:endParaRPr/>
          </a:p>
        </p:txBody>
      </p:sp>
      <p:sp>
        <p:nvSpPr>
          <p:cNvPr id="619102528"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64696330" name="Rectangle 5"/>
          <p:cNvSpPr/>
          <p:nvPr/>
        </p:nvSpPr>
        <p:spPr bwMode="auto">
          <a:xfrm>
            <a:off x="566928" y="1700784"/>
            <a:ext cx="3527541" cy="32461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93733777" name="Rectangle 6"/>
          <p:cNvSpPr/>
          <p:nvPr/>
        </p:nvSpPr>
        <p:spPr bwMode="auto">
          <a:xfrm>
            <a:off x="566928" y="1700784"/>
            <a:ext cx="3527541"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39157414" name="TextBox 7"/>
          <p:cNvSpPr txBox="1"/>
          <p:nvPr/>
        </p:nvSpPr>
        <p:spPr bwMode="auto">
          <a:xfrm>
            <a:off x="786384" y="1920240"/>
            <a:ext cx="3088629" cy="512064"/>
          </a:xfrm>
          <a:prstGeom prst="rect">
            <a:avLst/>
          </a:prstGeom>
          <a:noFill/>
        </p:spPr>
        <p:txBody>
          <a:bodyPr wrap="square" lIns="0" tIns="0" rIns="0" bIns="0" anchor="t">
            <a:spAutoFit/>
          </a:bodyPr>
          <a:lstStyle/>
          <a:p>
            <a:pPr algn="l">
              <a:lnSpc>
                <a:spcPct val="118000"/>
              </a:lnSpc>
              <a:spcAft>
                <a:spcPts val="0"/>
              </a:spcAft>
              <a:defRPr/>
            </a:pPr>
            <a:r>
              <a:rPr sz="1250" b="1" i="0">
                <a:solidFill>
                  <a:srgbClr val="0B0B0B"/>
                </a:solidFill>
                <a:latin typeface="Segoe UI"/>
              </a:rPr>
              <a:t>00 · Exploring the dataset</a:t>
            </a:r>
            <a:endParaRPr/>
          </a:p>
        </p:txBody>
      </p:sp>
      <p:sp>
        <p:nvSpPr>
          <p:cNvPr id="297605770" name="TextBox 8"/>
          <p:cNvSpPr txBox="1"/>
          <p:nvPr/>
        </p:nvSpPr>
        <p:spPr bwMode="auto">
          <a:xfrm>
            <a:off x="786384" y="2523744"/>
            <a:ext cx="308862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ANALYSIS PERFORMED</a:t>
            </a:r>
            <a:endParaRPr/>
          </a:p>
        </p:txBody>
      </p:sp>
      <p:sp>
        <p:nvSpPr>
          <p:cNvPr id="519624259" name="TextBox 9"/>
          <p:cNvSpPr txBox="1"/>
          <p:nvPr/>
        </p:nvSpPr>
        <p:spPr bwMode="auto">
          <a:xfrm>
            <a:off x="786384" y="2761488"/>
            <a:ext cx="3088629" cy="914400"/>
          </a:xfrm>
          <a:prstGeom prst="rect">
            <a:avLst/>
          </a:prstGeom>
          <a:noFill/>
        </p:spPr>
        <p:txBody>
          <a:bodyPr wrap="square" lIns="0" tIns="0" rIns="0" bIns="0" anchor="t">
            <a:spAutoFit/>
          </a:bodyPr>
          <a:lstStyle/>
          <a:p>
            <a:pPr algn="l">
              <a:lnSpc>
                <a:spcPct val="124000"/>
              </a:lnSpc>
              <a:spcAft>
                <a:spcPts val="0"/>
              </a:spcAft>
              <a:defRPr/>
            </a:pPr>
            <a:r>
              <a:rPr sz="1050" b="0" i="0">
                <a:solidFill>
                  <a:srgbClr val="52514E"/>
                </a:solidFill>
                <a:latin typeface="Segoe UI"/>
              </a:rPr>
              <a:t>Loaded the CSV, checked shape, catalogued every column's data type and unique-value count, and read the summary statistics for all numeric fields.</a:t>
            </a:r>
            <a:endParaRPr/>
          </a:p>
        </p:txBody>
      </p:sp>
      <p:sp>
        <p:nvSpPr>
          <p:cNvPr id="104253300" name="TextBox 10"/>
          <p:cNvSpPr txBox="1"/>
          <p:nvPr/>
        </p:nvSpPr>
        <p:spPr bwMode="auto">
          <a:xfrm>
            <a:off x="786384" y="3712464"/>
            <a:ext cx="308862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2007296383" name="TextBox 11"/>
          <p:cNvSpPr txBox="1"/>
          <p:nvPr/>
        </p:nvSpPr>
        <p:spPr bwMode="auto">
          <a:xfrm>
            <a:off x="786384" y="3950208"/>
            <a:ext cx="3088629" cy="914400"/>
          </a:xfrm>
          <a:prstGeom prst="rect">
            <a:avLst/>
          </a:prstGeom>
          <a:noFill/>
        </p:spPr>
        <p:txBody>
          <a:bodyPr wrap="square" lIns="0" tIns="0" rIns="0" bIns="0" anchor="t">
            <a:spAutoFit/>
          </a:bodyPr>
          <a:lstStyle/>
          <a:p>
            <a:pPr algn="l">
              <a:lnSpc>
                <a:spcPct val="124000"/>
              </a:lnSpc>
              <a:spcAft>
                <a:spcPts val="0"/>
              </a:spcAft>
              <a:defRPr/>
            </a:pPr>
            <a:r>
              <a:rPr sz="1050" b="0" i="0">
                <a:solidFill>
                  <a:srgbClr val="0B0B0B"/>
                </a:solidFill>
                <a:latin typeface="Segoe UI"/>
              </a:rPr>
              <a:t>1,470 rows × 35 columns, with 26 numeric and 9 text columns. Three columns hold a single value throughout — EmployeeCount, StandardHours and Over18 — and carry no analytical value.</a:t>
            </a:r>
            <a:endParaRPr/>
          </a:p>
        </p:txBody>
      </p:sp>
      <p:sp>
        <p:nvSpPr>
          <p:cNvPr id="2119407554" name="Rectangle 12"/>
          <p:cNvSpPr/>
          <p:nvPr/>
        </p:nvSpPr>
        <p:spPr bwMode="auto">
          <a:xfrm>
            <a:off x="4332213" y="1700784"/>
            <a:ext cx="3527541" cy="32461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68374499" name="Rectangle 13"/>
          <p:cNvSpPr/>
          <p:nvPr/>
        </p:nvSpPr>
        <p:spPr bwMode="auto">
          <a:xfrm>
            <a:off x="4332213" y="1700784"/>
            <a:ext cx="3527541"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10944085" name="TextBox 14"/>
          <p:cNvSpPr txBox="1"/>
          <p:nvPr/>
        </p:nvSpPr>
        <p:spPr bwMode="auto">
          <a:xfrm>
            <a:off x="4551669" y="1920240"/>
            <a:ext cx="3088629" cy="512064"/>
          </a:xfrm>
          <a:prstGeom prst="rect">
            <a:avLst/>
          </a:prstGeom>
          <a:noFill/>
        </p:spPr>
        <p:txBody>
          <a:bodyPr wrap="square" lIns="0" tIns="0" rIns="0" bIns="0" anchor="t">
            <a:spAutoFit/>
          </a:bodyPr>
          <a:lstStyle/>
          <a:p>
            <a:pPr algn="l">
              <a:lnSpc>
                <a:spcPct val="118000"/>
              </a:lnSpc>
              <a:spcAft>
                <a:spcPts val="0"/>
              </a:spcAft>
              <a:defRPr/>
            </a:pPr>
            <a:r>
              <a:rPr sz="1250" b="1" i="0">
                <a:solidFill>
                  <a:srgbClr val="0B0B0B"/>
                </a:solidFill>
                <a:latin typeface="Segoe UI"/>
              </a:rPr>
              <a:t>01 · Handling duplicates</a:t>
            </a:r>
            <a:endParaRPr/>
          </a:p>
        </p:txBody>
      </p:sp>
      <p:sp>
        <p:nvSpPr>
          <p:cNvPr id="1276317320" name="TextBox 15"/>
          <p:cNvSpPr txBox="1"/>
          <p:nvPr/>
        </p:nvSpPr>
        <p:spPr bwMode="auto">
          <a:xfrm>
            <a:off x="4551669" y="2523744"/>
            <a:ext cx="308862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ANALYSIS PERFORMED</a:t>
            </a:r>
            <a:endParaRPr/>
          </a:p>
        </p:txBody>
      </p:sp>
      <p:sp>
        <p:nvSpPr>
          <p:cNvPr id="902437361" name="TextBox 16"/>
          <p:cNvSpPr txBox="1"/>
          <p:nvPr/>
        </p:nvSpPr>
        <p:spPr bwMode="auto">
          <a:xfrm>
            <a:off x="4551669" y="2761488"/>
            <a:ext cx="3088629" cy="914400"/>
          </a:xfrm>
          <a:prstGeom prst="rect">
            <a:avLst/>
          </a:prstGeom>
          <a:noFill/>
        </p:spPr>
        <p:txBody>
          <a:bodyPr wrap="square" lIns="0" tIns="0" rIns="0" bIns="0" anchor="t">
            <a:spAutoFit/>
          </a:bodyPr>
          <a:lstStyle/>
          <a:p>
            <a:pPr algn="l">
              <a:lnSpc>
                <a:spcPct val="124000"/>
              </a:lnSpc>
              <a:spcAft>
                <a:spcPts val="0"/>
              </a:spcAft>
              <a:defRPr/>
            </a:pPr>
            <a:r>
              <a:rPr sz="1050" b="0" i="0">
                <a:solidFill>
                  <a:srgbClr val="52514E"/>
                </a:solidFill>
                <a:latin typeface="Segoe UI"/>
              </a:rPr>
              <a:t>Checked for fully duplicated rows and for repeated values in EmployeeNumber, the dataset's unique identifier.</a:t>
            </a:r>
            <a:endParaRPr/>
          </a:p>
        </p:txBody>
      </p:sp>
      <p:sp>
        <p:nvSpPr>
          <p:cNvPr id="636455662" name="TextBox 17"/>
          <p:cNvSpPr txBox="1"/>
          <p:nvPr/>
        </p:nvSpPr>
        <p:spPr bwMode="auto">
          <a:xfrm>
            <a:off x="4551669" y="3712464"/>
            <a:ext cx="308862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567868017" name="TextBox 18"/>
          <p:cNvSpPr txBox="1"/>
          <p:nvPr/>
        </p:nvSpPr>
        <p:spPr bwMode="auto">
          <a:xfrm>
            <a:off x="4551669" y="3950208"/>
            <a:ext cx="3088629" cy="914400"/>
          </a:xfrm>
          <a:prstGeom prst="rect">
            <a:avLst/>
          </a:prstGeom>
          <a:noFill/>
        </p:spPr>
        <p:txBody>
          <a:bodyPr wrap="square" lIns="0" tIns="0" rIns="0" bIns="0" anchor="t">
            <a:spAutoFit/>
          </a:bodyPr>
          <a:lstStyle/>
          <a:p>
            <a:pPr algn="l">
              <a:lnSpc>
                <a:spcPct val="124000"/>
              </a:lnSpc>
              <a:spcAft>
                <a:spcPts val="0"/>
              </a:spcAft>
              <a:defRPr/>
            </a:pPr>
            <a:r>
              <a:rPr sz="1050" b="0" i="0">
                <a:solidFill>
                  <a:srgbClr val="0B0B0B"/>
                </a:solidFill>
                <a:latin typeface="Segoe UI"/>
              </a:rPr>
              <a:t>Zero completely duplicated rows and 1,470 unique EmployeeNumbers, so every record represents a distinct employee. No de-duplication was required.</a:t>
            </a:r>
            <a:endParaRPr/>
          </a:p>
        </p:txBody>
      </p:sp>
      <p:sp>
        <p:nvSpPr>
          <p:cNvPr id="556832700" name="Rectangle 19"/>
          <p:cNvSpPr/>
          <p:nvPr/>
        </p:nvSpPr>
        <p:spPr bwMode="auto">
          <a:xfrm>
            <a:off x="8097499" y="1700784"/>
            <a:ext cx="3527541" cy="32461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34311642" name="Rectangle 20"/>
          <p:cNvSpPr/>
          <p:nvPr/>
        </p:nvSpPr>
        <p:spPr bwMode="auto">
          <a:xfrm>
            <a:off x="8097499" y="1700784"/>
            <a:ext cx="3527541"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25404665" name="TextBox 21"/>
          <p:cNvSpPr txBox="1"/>
          <p:nvPr/>
        </p:nvSpPr>
        <p:spPr bwMode="auto">
          <a:xfrm>
            <a:off x="8316955" y="1920240"/>
            <a:ext cx="3088629" cy="512064"/>
          </a:xfrm>
          <a:prstGeom prst="rect">
            <a:avLst/>
          </a:prstGeom>
          <a:noFill/>
        </p:spPr>
        <p:txBody>
          <a:bodyPr wrap="square" lIns="0" tIns="0" rIns="0" bIns="0" anchor="t">
            <a:spAutoFit/>
          </a:bodyPr>
          <a:lstStyle/>
          <a:p>
            <a:pPr algn="l">
              <a:lnSpc>
                <a:spcPct val="118000"/>
              </a:lnSpc>
              <a:spcAft>
                <a:spcPts val="0"/>
              </a:spcAft>
              <a:defRPr/>
            </a:pPr>
            <a:r>
              <a:rPr sz="1250" b="1" i="0">
                <a:solidFill>
                  <a:srgbClr val="0B0B0B"/>
                </a:solidFill>
                <a:latin typeface="Segoe UI"/>
              </a:rPr>
              <a:t>02 · Handling missing values</a:t>
            </a:r>
            <a:endParaRPr/>
          </a:p>
        </p:txBody>
      </p:sp>
      <p:sp>
        <p:nvSpPr>
          <p:cNvPr id="61677646" name="TextBox 22"/>
          <p:cNvSpPr txBox="1"/>
          <p:nvPr/>
        </p:nvSpPr>
        <p:spPr bwMode="auto">
          <a:xfrm>
            <a:off x="8316955" y="2523744"/>
            <a:ext cx="308862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ANALYSIS PERFORMED</a:t>
            </a:r>
            <a:endParaRPr/>
          </a:p>
        </p:txBody>
      </p:sp>
      <p:sp>
        <p:nvSpPr>
          <p:cNvPr id="429351766" name="TextBox 23"/>
          <p:cNvSpPr txBox="1"/>
          <p:nvPr/>
        </p:nvSpPr>
        <p:spPr bwMode="auto">
          <a:xfrm>
            <a:off x="8316955" y="2761488"/>
            <a:ext cx="3088629" cy="914400"/>
          </a:xfrm>
          <a:prstGeom prst="rect">
            <a:avLst/>
          </a:prstGeom>
          <a:noFill/>
        </p:spPr>
        <p:txBody>
          <a:bodyPr wrap="square" lIns="0" tIns="0" rIns="0" bIns="0" anchor="t">
            <a:spAutoFit/>
          </a:bodyPr>
          <a:lstStyle/>
          <a:p>
            <a:pPr algn="l">
              <a:lnSpc>
                <a:spcPct val="124000"/>
              </a:lnSpc>
              <a:spcAft>
                <a:spcPts val="0"/>
              </a:spcAft>
              <a:defRPr/>
            </a:pPr>
            <a:r>
              <a:rPr sz="1050" b="0" i="0">
                <a:solidFill>
                  <a:srgbClr val="52514E"/>
                </a:solidFill>
                <a:latin typeface="Segoe UI"/>
              </a:rPr>
              <a:t>Counted nulls and the null percentage for each of the 35 columns.</a:t>
            </a:r>
            <a:endParaRPr/>
          </a:p>
        </p:txBody>
      </p:sp>
      <p:sp>
        <p:nvSpPr>
          <p:cNvPr id="1928985547" name="TextBox 24"/>
          <p:cNvSpPr txBox="1"/>
          <p:nvPr/>
        </p:nvSpPr>
        <p:spPr bwMode="auto">
          <a:xfrm>
            <a:off x="8316955" y="3712464"/>
            <a:ext cx="308862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94538862" name="TextBox 25"/>
          <p:cNvSpPr txBox="1"/>
          <p:nvPr/>
        </p:nvSpPr>
        <p:spPr bwMode="auto">
          <a:xfrm>
            <a:off x="8316955" y="3950208"/>
            <a:ext cx="3088629" cy="914400"/>
          </a:xfrm>
          <a:prstGeom prst="rect">
            <a:avLst/>
          </a:prstGeom>
          <a:noFill/>
        </p:spPr>
        <p:txBody>
          <a:bodyPr wrap="square" lIns="0" tIns="0" rIns="0" bIns="0" anchor="t">
            <a:spAutoFit/>
          </a:bodyPr>
          <a:lstStyle/>
          <a:p>
            <a:pPr algn="l">
              <a:lnSpc>
                <a:spcPct val="124000"/>
              </a:lnSpc>
              <a:spcAft>
                <a:spcPts val="0"/>
              </a:spcAft>
              <a:defRPr/>
            </a:pPr>
            <a:r>
              <a:rPr sz="1050" b="0" i="0">
                <a:solidFill>
                  <a:srgbClr val="0B0B0B"/>
                </a:solidFill>
                <a:latin typeface="Segoe UI"/>
              </a:rPr>
              <a:t>Zero missing values in every column — 0.0% throughout. No imputation and no record deletion was needed.</a:t>
            </a:r>
            <a:endParaRPr/>
          </a:p>
        </p:txBody>
      </p:sp>
      <p:sp>
        <p:nvSpPr>
          <p:cNvPr id="245273854" name="Rectangle 26"/>
          <p:cNvSpPr/>
          <p:nvPr/>
        </p:nvSpPr>
        <p:spPr bwMode="auto">
          <a:xfrm>
            <a:off x="566928" y="5074920"/>
            <a:ext cx="11058113" cy="1060704"/>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54783969" name="Rectangle 27"/>
          <p:cNvSpPr/>
          <p:nvPr/>
        </p:nvSpPr>
        <p:spPr bwMode="auto">
          <a:xfrm>
            <a:off x="566928" y="5074920"/>
            <a:ext cx="41148" cy="10607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63494431" name="TextBox 28"/>
          <p:cNvSpPr txBox="1"/>
          <p:nvPr/>
        </p:nvSpPr>
        <p:spPr bwMode="auto">
          <a:xfrm>
            <a:off x="786384" y="5212080"/>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CONCLUSION</a:t>
            </a:r>
            <a:endParaRPr/>
          </a:p>
        </p:txBody>
      </p:sp>
      <p:sp>
        <p:nvSpPr>
          <p:cNvPr id="399267852" name="TextBox 29"/>
          <p:cNvSpPr txBox="1"/>
          <p:nvPr/>
        </p:nvSpPr>
        <p:spPr bwMode="auto">
          <a:xfrm>
            <a:off x="786384" y="5458968"/>
            <a:ext cx="10655777" cy="566927"/>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 dataset needed no cleaning in the usual sense — it arrives complete, unique and consistently typed. The real preparation work is therefore interpretive: decoding unlabelled 1–4 survey scales and dropping the three constant columns, which is what steps 03 and 04 take on.</a:t>
            </a:r>
            <a:endParaRPr/>
          </a:p>
        </p:txBody>
      </p:sp>
      <p:sp>
        <p:nvSpPr>
          <p:cNvPr id="105276599" name="Rectangle 30"/>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15799842" name="TextBox 31"/>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notebooks/00-exploring-the-dataset · 01-handling-duplicates · 02-handling-missing-values</a:t>
            </a:r>
            <a:endParaRPr/>
          </a:p>
        </p:txBody>
      </p:sp>
      <p:sp>
        <p:nvSpPr>
          <p:cNvPr id="611194680" name="TextBox 32"/>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6109841"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03</a:t>
            </a:r>
            <a:endParaRPr/>
          </a:p>
        </p:txBody>
      </p:sp>
      <p:sp>
        <p:nvSpPr>
          <p:cNvPr id="1683690953"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03 · Normalizing data</a:t>
            </a:r>
            <a:endParaRPr/>
          </a:p>
        </p:txBody>
      </p:sp>
      <p:sp>
        <p:nvSpPr>
          <p:cNvPr id="1897812213"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turn a mixed table of text, binary and ordinal columns into a purely numeric matrix that a model can read.</a:t>
            </a:r>
            <a:endParaRPr/>
          </a:p>
        </p:txBody>
      </p:sp>
      <p:sp>
        <p:nvSpPr>
          <p:cNvPr id="1852033516"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92525879" name="TextBox 5"/>
          <p:cNvSpPr txBox="1"/>
          <p:nvPr/>
        </p:nvSpPr>
        <p:spPr bwMode="auto">
          <a:xfrm>
            <a:off x="566928" y="1700784"/>
            <a:ext cx="5760720"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Analysis performed</a:t>
            </a:r>
            <a:endParaRPr/>
          </a:p>
        </p:txBody>
      </p:sp>
      <p:sp>
        <p:nvSpPr>
          <p:cNvPr id="1533043914" name="TextBox 6"/>
          <p:cNvSpPr txBox="1"/>
          <p:nvPr/>
        </p:nvSpPr>
        <p:spPr bwMode="auto">
          <a:xfrm>
            <a:off x="566928" y="2048256"/>
            <a:ext cx="5765759" cy="2359003"/>
          </a:xfrm>
          <a:prstGeom prst="rect">
            <a:avLst/>
          </a:prstGeom>
          <a:noFill/>
        </p:spPr>
        <p:txBody>
          <a:bodyPr wrap="square" lIns="0" tIns="0" rIns="0" bIns="0" anchor="t">
            <a:spAutoFit/>
          </a:bodyPr>
          <a:lstStyle/>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Binary mapping  </a:t>
            </a:r>
            <a:r>
              <a:rPr sz="1050" b="0" i="0">
                <a:solidFill>
                  <a:srgbClr val="52514E"/>
                </a:solidFill>
                <a:latin typeface="Segoe UI"/>
              </a:rPr>
              <a:t>Attrition and OverTime recoded from Yes/No to 1/0 so they can be averaged and correlated directly.</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One-hot encoding  </a:t>
            </a:r>
            <a:r>
              <a:rPr sz="1050" b="0" i="0">
                <a:solidFill>
                  <a:srgbClr val="52514E"/>
                </a:solidFill>
                <a:latin typeface="Segoe UI"/>
              </a:rPr>
              <a:t>Six categorical columns: BusinessTravel, Department, EducationField, Gender, JobRole and MaritalStatus are expanded into indicator columns, one per category.</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Rating collapse  </a:t>
            </a:r>
            <a:r>
              <a:rPr sz="1050" b="0" i="0">
                <a:solidFill>
                  <a:srgbClr val="52514E"/>
                </a:solidFill>
                <a:latin typeface="Segoe UI"/>
              </a:rPr>
              <a:t>PerformanceRating holds only two values in this data (3 and 4), so it was recoded to 0/1.</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Scaling  </a:t>
            </a:r>
            <a:r>
              <a:rPr sz="1050" b="0" i="0">
                <a:solidFill>
                  <a:srgbClr val="52514E"/>
                </a:solidFill>
                <a:latin typeface="Segoe UI"/>
              </a:rPr>
              <a:t>Fourteen continuous columns standardised, so a monthly income in the thousands does not outweigh a tenure in single years.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Column drop  </a:t>
            </a:r>
            <a:r>
              <a:rPr sz="1050" b="0" i="0">
                <a:solidFill>
                  <a:srgbClr val="52514E"/>
                </a:solidFill>
                <a:latin typeface="Segoe UI"/>
              </a:rPr>
              <a:t>EmployeeNumber (an identifier) plus the three constant columns removed, no predictive variability.</a:t>
            </a:r>
            <a:endParaRPr/>
          </a:p>
        </p:txBody>
      </p:sp>
      <p:sp>
        <p:nvSpPr>
          <p:cNvPr id="288209989" name="TextBox 7"/>
          <p:cNvSpPr txBox="1"/>
          <p:nvPr/>
        </p:nvSpPr>
        <p:spPr bwMode="auto">
          <a:xfrm>
            <a:off x="6693408" y="1700784"/>
            <a:ext cx="493163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Result</a:t>
            </a:r>
            <a:endParaRPr/>
          </a:p>
        </p:txBody>
      </p:sp>
      <p:sp>
        <p:nvSpPr>
          <p:cNvPr id="1133723527" name="Rectangle 8"/>
          <p:cNvSpPr/>
          <p:nvPr/>
        </p:nvSpPr>
        <p:spPr bwMode="auto">
          <a:xfrm>
            <a:off x="6693408" y="2048256"/>
            <a:ext cx="2365232" cy="10607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56109636" name="Rectangle 9"/>
          <p:cNvSpPr/>
          <p:nvPr/>
        </p:nvSpPr>
        <p:spPr bwMode="auto">
          <a:xfrm>
            <a:off x="6693408" y="2048256"/>
            <a:ext cx="41148" cy="10607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50548378" name="TextBox 10"/>
          <p:cNvSpPr txBox="1"/>
          <p:nvPr/>
        </p:nvSpPr>
        <p:spPr bwMode="auto">
          <a:xfrm>
            <a:off x="6931152" y="2203704"/>
            <a:ext cx="1962896"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50</a:t>
            </a:r>
            <a:endParaRPr/>
          </a:p>
        </p:txBody>
      </p:sp>
      <p:sp>
        <p:nvSpPr>
          <p:cNvPr id="1850158527" name="TextBox 11"/>
          <p:cNvSpPr txBox="1"/>
          <p:nvPr/>
        </p:nvSpPr>
        <p:spPr bwMode="auto">
          <a:xfrm>
            <a:off x="6931152" y="2706624"/>
            <a:ext cx="1962896"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Model features</a:t>
            </a:r>
            <a:endParaRPr/>
          </a:p>
        </p:txBody>
      </p:sp>
      <p:sp>
        <p:nvSpPr>
          <p:cNvPr id="101804494" name="TextBox 12"/>
          <p:cNvSpPr txBox="1"/>
          <p:nvPr/>
        </p:nvSpPr>
        <p:spPr bwMode="auto">
          <a:xfrm>
            <a:off x="6931152" y="2944368"/>
            <a:ext cx="1962896"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from 35 source columns</a:t>
            </a:r>
            <a:endParaRPr/>
          </a:p>
        </p:txBody>
      </p:sp>
      <p:sp>
        <p:nvSpPr>
          <p:cNvPr id="203063379" name="Rectangle 13"/>
          <p:cNvSpPr/>
          <p:nvPr/>
        </p:nvSpPr>
        <p:spPr bwMode="auto">
          <a:xfrm>
            <a:off x="9259808" y="2048256"/>
            <a:ext cx="2365232" cy="10607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43522522" name="Rectangle 14"/>
          <p:cNvSpPr/>
          <p:nvPr/>
        </p:nvSpPr>
        <p:spPr bwMode="auto">
          <a:xfrm>
            <a:off x="9259808" y="2048256"/>
            <a:ext cx="41148" cy="10607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21703424" name="TextBox 15"/>
          <p:cNvSpPr txBox="1"/>
          <p:nvPr/>
        </p:nvSpPr>
        <p:spPr bwMode="auto">
          <a:xfrm>
            <a:off x="9497552" y="2203704"/>
            <a:ext cx="1962896"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1,470</a:t>
            </a:r>
            <a:endParaRPr/>
          </a:p>
        </p:txBody>
      </p:sp>
      <p:sp>
        <p:nvSpPr>
          <p:cNvPr id="2075727390" name="TextBox 16"/>
          <p:cNvSpPr txBox="1"/>
          <p:nvPr/>
        </p:nvSpPr>
        <p:spPr bwMode="auto">
          <a:xfrm>
            <a:off x="9497552" y="2706624"/>
            <a:ext cx="1962896"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Rows retained</a:t>
            </a:r>
            <a:endParaRPr/>
          </a:p>
        </p:txBody>
      </p:sp>
      <p:sp>
        <p:nvSpPr>
          <p:cNvPr id="458228551" name="TextBox 17"/>
          <p:cNvSpPr txBox="1"/>
          <p:nvPr/>
        </p:nvSpPr>
        <p:spPr bwMode="auto">
          <a:xfrm>
            <a:off x="9497552" y="2944368"/>
            <a:ext cx="1962896"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nothing dropped</a:t>
            </a:r>
            <a:endParaRPr/>
          </a:p>
        </p:txBody>
      </p:sp>
      <p:sp>
        <p:nvSpPr>
          <p:cNvPr id="1994440061" name="TextBox 18"/>
          <p:cNvSpPr txBox="1"/>
          <p:nvPr/>
        </p:nvSpPr>
        <p:spPr bwMode="auto">
          <a:xfrm>
            <a:off x="6693408" y="3291840"/>
            <a:ext cx="4931633" cy="822960"/>
          </a:xfrm>
          <a:prstGeom prst="rect">
            <a:avLst/>
          </a:prstGeom>
          <a:noFill/>
        </p:spPr>
        <p:txBody>
          <a:bodyPr wrap="square" lIns="0" tIns="0" rIns="0" bIns="0" anchor="t">
            <a:spAutoFit/>
          </a:bodyPr>
          <a:lstStyle/>
          <a:p>
            <a:pPr algn="l">
              <a:lnSpc>
                <a:spcPct val="124000"/>
              </a:lnSpc>
              <a:spcAft>
                <a:spcPts val="0"/>
              </a:spcAft>
              <a:defRPr/>
            </a:pPr>
            <a:r>
              <a:rPr sz="1050" b="0" i="0">
                <a:solidFill>
                  <a:srgbClr val="52514E"/>
                </a:solidFill>
                <a:latin typeface="Segoe UI"/>
              </a:rPr>
              <a:t>Written to data/processed/Employee-Attrition_Regression_Ready.csv, leaving the raw file untouched so the descriptive notebooks keep their readable labels.</a:t>
            </a:r>
            <a:endParaRPr/>
          </a:p>
        </p:txBody>
      </p:sp>
      <p:sp>
        <p:nvSpPr>
          <p:cNvPr id="97242427" name="Rectangle 19"/>
          <p:cNvSpPr/>
          <p:nvPr/>
        </p:nvSpPr>
        <p:spPr bwMode="auto">
          <a:xfrm>
            <a:off x="6693408" y="4187952"/>
            <a:ext cx="4931633" cy="877824"/>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873513532" name="Rectangle 20"/>
          <p:cNvSpPr/>
          <p:nvPr/>
        </p:nvSpPr>
        <p:spPr bwMode="auto">
          <a:xfrm>
            <a:off x="6693408" y="4187952"/>
            <a:ext cx="41148" cy="87782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5376012" name="TextBox 21"/>
          <p:cNvSpPr txBox="1"/>
          <p:nvPr/>
        </p:nvSpPr>
        <p:spPr bwMode="auto">
          <a:xfrm>
            <a:off x="6912864" y="4325112"/>
            <a:ext cx="452929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143869282" name="TextBox 22"/>
          <p:cNvSpPr txBox="1"/>
          <p:nvPr/>
        </p:nvSpPr>
        <p:spPr bwMode="auto">
          <a:xfrm>
            <a:off x="6912864" y="4572000"/>
            <a:ext cx="4529297" cy="384047"/>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Encoding is a reversible presentation choice, not an analytical result — but it is what makes step 10 possible at all.</a:t>
            </a:r>
            <a:endParaRPr/>
          </a:p>
        </p:txBody>
      </p:sp>
      <p:sp>
        <p:nvSpPr>
          <p:cNvPr id="158419310" name="Rectangle 23"/>
          <p:cNvSpPr/>
          <p:nvPr/>
        </p:nvSpPr>
        <p:spPr bwMode="auto">
          <a:xfrm>
            <a:off x="566928" y="5138928"/>
            <a:ext cx="11058113" cy="100584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02769529" name="Rectangle 24"/>
          <p:cNvSpPr/>
          <p:nvPr/>
        </p:nvSpPr>
        <p:spPr bwMode="auto">
          <a:xfrm>
            <a:off x="566928" y="5138928"/>
            <a:ext cx="41148" cy="10058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16761810" name="TextBox 25"/>
          <p:cNvSpPr txBox="1"/>
          <p:nvPr/>
        </p:nvSpPr>
        <p:spPr bwMode="auto">
          <a:xfrm>
            <a:off x="786384" y="5276088"/>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INTERPRETATION</a:t>
            </a:r>
            <a:endParaRPr/>
          </a:p>
        </p:txBody>
      </p:sp>
      <p:sp>
        <p:nvSpPr>
          <p:cNvPr id="379967030" name="TextBox 26"/>
          <p:cNvSpPr txBox="1"/>
          <p:nvPr/>
        </p:nvSpPr>
        <p:spPr bwMode="auto">
          <a:xfrm>
            <a:off x="786384" y="5522976"/>
            <a:ext cx="10655777" cy="51206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Decoding matters beyond modelling: the survey fields arrive as bare integers 1–4 with no labels attached. An axis reading “1, 2, 3, 4” is unreadable to an HR audience, so the codebook in the README (1 Low → 4 Very High, 1 Bad → 4 Best) is a required step rather than a nicety.</a:t>
            </a:r>
            <a:endParaRPr/>
          </a:p>
        </p:txBody>
      </p:sp>
      <p:sp>
        <p:nvSpPr>
          <p:cNvPr id="1176384273" name="Rectangle 27"/>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385708" name="TextBox 28"/>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notebooks/03-normalizing-data.ipynb</a:t>
            </a:r>
            <a:endParaRPr/>
          </a:p>
        </p:txBody>
      </p:sp>
      <p:sp>
        <p:nvSpPr>
          <p:cNvPr id="1380917311" name="TextBox 29"/>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5114319"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04</a:t>
            </a:r>
            <a:endParaRPr/>
          </a:p>
        </p:txBody>
      </p:sp>
      <p:sp>
        <p:nvSpPr>
          <p:cNvPr id="397922740"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04 · Data wrangling</a:t>
            </a:r>
            <a:endParaRPr/>
          </a:p>
        </p:txBody>
      </p:sp>
      <p:sp>
        <p:nvSpPr>
          <p:cNvPr id="401661088"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build a compact, analysis-ready extract with comparable employee groups instead of raw continuous columns.</a:t>
            </a:r>
            <a:endParaRPr/>
          </a:p>
        </p:txBody>
      </p:sp>
      <p:sp>
        <p:nvSpPr>
          <p:cNvPr id="689967960"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50921038" name="TextBox 5"/>
          <p:cNvSpPr txBox="1"/>
          <p:nvPr/>
        </p:nvSpPr>
        <p:spPr bwMode="auto">
          <a:xfrm>
            <a:off x="566928" y="1700784"/>
            <a:ext cx="5212080"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Analysis performed</a:t>
            </a:r>
            <a:endParaRPr/>
          </a:p>
        </p:txBody>
      </p:sp>
      <p:sp>
        <p:nvSpPr>
          <p:cNvPr id="1939163832" name="TextBox 6"/>
          <p:cNvSpPr txBox="1"/>
          <p:nvPr/>
        </p:nvSpPr>
        <p:spPr bwMode="auto">
          <a:xfrm>
            <a:off x="566928" y="2048256"/>
            <a:ext cx="5212080" cy="2651760"/>
          </a:xfrm>
          <a:prstGeom prst="rect">
            <a:avLst/>
          </a:prstGeom>
          <a:noFill/>
        </p:spPr>
        <p:txBody>
          <a:bodyPr wrap="square" lIns="0" tIns="0" rIns="0" bIns="0" anchor="t">
            <a:spAutoFit/>
          </a:bodyPr>
          <a:lstStyle/>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Selection  </a:t>
            </a:r>
            <a:r>
              <a:rPr sz="1050" b="0" i="0">
                <a:solidFill>
                  <a:srgbClr val="52514E"/>
                </a:solidFill>
                <a:latin typeface="Segoe UI"/>
              </a:rPr>
              <a:t>Fourteen variables most relevant to attrition kept from the 35, covering demographics, role, pay, sentiment and tenure.</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Binary mapping  </a:t>
            </a:r>
            <a:r>
              <a:rPr sz="1050" b="0" i="0">
                <a:solidFill>
                  <a:srgbClr val="52514E"/>
                </a:solidFill>
                <a:latin typeface="Segoe UI"/>
              </a:rPr>
              <a:t>Attrition and OverTime recoded to 1/0 so group means read directly as attrition rates.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Age groups  </a:t>
            </a:r>
            <a:r>
              <a:rPr sz="1050" b="0" i="0">
                <a:solidFill>
                  <a:srgbClr val="52514E"/>
                </a:solidFill>
                <a:latin typeface="Segoe UI"/>
              </a:rPr>
              <a:t>Under 30 · 30–39 · 40–49 · 50+</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Tenure groups  </a:t>
            </a:r>
            <a:r>
              <a:rPr sz="1050" b="0" i="0">
                <a:solidFill>
                  <a:srgbClr val="52514E"/>
                </a:solidFill>
                <a:latin typeface="Segoe UI"/>
              </a:rPr>
              <a:t>0–2 · 3–5 · 6–10 · 10+ years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Validation  </a:t>
            </a:r>
            <a:r>
              <a:rPr sz="1050" b="0" i="0">
                <a:solidFill>
                  <a:srgbClr val="52514E"/>
                </a:solidFill>
                <a:latin typeface="Segoe UI"/>
              </a:rPr>
              <a:t>Result is 1,470 rows × 16 columns with zero nulls, saved as HR_Employee_Attrition_Wrangled.csv.</a:t>
            </a:r>
            <a:endParaRPr/>
          </a:p>
        </p:txBody>
      </p:sp>
      <p:pic>
        <p:nvPicPr>
          <p:cNvPr id="1612011732" name="Picture 7" descr="04_department.png"/>
          <p:cNvPicPr>
            <a:picLocks noChangeAspect="1"/>
          </p:cNvPicPr>
          <p:nvPr/>
        </p:nvPicPr>
        <p:blipFill rotWithShape="1">
          <a:blip r:embed="rId3"/>
          <a:stretch/>
        </p:blipFill>
        <p:spPr bwMode="auto">
          <a:xfrm>
            <a:off x="6099048" y="1817984"/>
            <a:ext cx="5525993" cy="2600239"/>
          </a:xfrm>
          <a:prstGeom prst="rect">
            <a:avLst/>
          </a:prstGeom>
        </p:spPr>
      </p:pic>
      <p:sp>
        <p:nvSpPr>
          <p:cNvPr id="1728222214" name="Rectangle 8"/>
          <p:cNvSpPr/>
          <p:nvPr/>
        </p:nvSpPr>
        <p:spPr bwMode="auto">
          <a:xfrm>
            <a:off x="566928" y="4663440"/>
            <a:ext cx="5401040" cy="1481328"/>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09697527" name="Rectangle 9"/>
          <p:cNvSpPr/>
          <p:nvPr/>
        </p:nvSpPr>
        <p:spPr bwMode="auto">
          <a:xfrm>
            <a:off x="566928" y="4663440"/>
            <a:ext cx="41148" cy="14813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30654143" name="TextBox 10"/>
          <p:cNvSpPr txBox="1"/>
          <p:nvPr/>
        </p:nvSpPr>
        <p:spPr bwMode="auto">
          <a:xfrm>
            <a:off x="786384" y="4800600"/>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663892761" name="TextBox 11"/>
          <p:cNvSpPr txBox="1"/>
          <p:nvPr/>
        </p:nvSpPr>
        <p:spPr bwMode="auto">
          <a:xfrm>
            <a:off x="786384" y="5047488"/>
            <a:ext cx="4998704" cy="987552"/>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 first departmental cut already separates the business: Sales leaves at 20.63% (92 of 446) and Human Resources at 19.05% (12 of 63), both above the 16.1% company rate, while Research &amp; Development sits below it at 13.84% (133 of 961).</a:t>
            </a:r>
            <a:endParaRPr/>
          </a:p>
        </p:txBody>
      </p:sp>
      <p:sp>
        <p:nvSpPr>
          <p:cNvPr id="685110970" name="Rectangle 12"/>
          <p:cNvSpPr/>
          <p:nvPr/>
        </p:nvSpPr>
        <p:spPr bwMode="auto">
          <a:xfrm>
            <a:off x="6224000" y="4663440"/>
            <a:ext cx="5401040" cy="1481328"/>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98504118" name="Rectangle 13"/>
          <p:cNvSpPr/>
          <p:nvPr/>
        </p:nvSpPr>
        <p:spPr bwMode="auto">
          <a:xfrm>
            <a:off x="6224000" y="4663440"/>
            <a:ext cx="41148" cy="1481328"/>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92149769" name="TextBox 14"/>
          <p:cNvSpPr txBox="1"/>
          <p:nvPr/>
        </p:nvSpPr>
        <p:spPr bwMode="auto">
          <a:xfrm>
            <a:off x="6443456" y="4800600"/>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1612153919" name="TextBox 15"/>
          <p:cNvSpPr txBox="1"/>
          <p:nvPr/>
        </p:nvSpPr>
        <p:spPr bwMode="auto">
          <a:xfrm>
            <a:off x="6443456" y="5047488"/>
            <a:ext cx="4998704" cy="987552"/>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Grouping is what makes comparison possible — a 0–2 year band can be set beside an 11+ year band, which 37 distinct tenure values cannot. R&amp;D also holds the largest share of headcount, so its below-average rate still accounts for the largest absolute number of leavers.</a:t>
            </a:r>
            <a:endParaRPr/>
          </a:p>
        </p:txBody>
      </p:sp>
      <p:sp>
        <p:nvSpPr>
          <p:cNvPr id="958132634" name="Rectangle 16"/>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51871986" name="TextBox 17"/>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notebooks/04-data-wrangling.ipynb</a:t>
            </a:r>
            <a:endParaRPr/>
          </a:p>
        </p:txBody>
      </p:sp>
      <p:sp>
        <p:nvSpPr>
          <p:cNvPr id="1553600873" name="TextBox 18"/>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4125986"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05 · 1 OF 3</a:t>
            </a:r>
            <a:endParaRPr/>
          </a:p>
        </p:txBody>
      </p:sp>
      <p:sp>
        <p:nvSpPr>
          <p:cNvPr id="146176835"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05 · Where is attrition concentrated?</a:t>
            </a:r>
            <a:endParaRPr/>
          </a:p>
        </p:txBody>
      </p:sp>
      <p:sp>
        <p:nvSpPr>
          <p:cNvPr id="1104435020"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find which job roles exceed the 16.1% baseline — and which of them matter once headcount is taken into account.</a:t>
            </a:r>
            <a:endParaRPr/>
          </a:p>
        </p:txBody>
      </p:sp>
      <p:sp>
        <p:nvSpPr>
          <p:cNvPr id="850654669"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1577991372" name="Picture 5" descr="05_jobrole.png"/>
          <p:cNvPicPr>
            <a:picLocks noChangeAspect="1"/>
          </p:cNvPicPr>
          <p:nvPr/>
        </p:nvPicPr>
        <p:blipFill rotWithShape="1">
          <a:blip r:embed="rId3"/>
          <a:stretch/>
        </p:blipFill>
        <p:spPr bwMode="auto">
          <a:xfrm>
            <a:off x="1021332" y="1645919"/>
            <a:ext cx="5720590" cy="3246120"/>
          </a:xfrm>
          <a:prstGeom prst="rect">
            <a:avLst/>
          </a:prstGeom>
        </p:spPr>
      </p:pic>
      <p:pic>
        <p:nvPicPr>
          <p:cNvPr id="218481375" name="Picture 6" descr="05_excess_role.png"/>
          <p:cNvPicPr>
            <a:picLocks noChangeAspect="1"/>
          </p:cNvPicPr>
          <p:nvPr/>
        </p:nvPicPr>
        <p:blipFill rotWithShape="1">
          <a:blip r:embed="rId4"/>
          <a:stretch/>
        </p:blipFill>
        <p:spPr bwMode="auto">
          <a:xfrm>
            <a:off x="7287768" y="1596518"/>
            <a:ext cx="4337273" cy="3335778"/>
          </a:xfrm>
          <a:prstGeom prst="rect">
            <a:avLst/>
          </a:prstGeom>
        </p:spPr>
      </p:pic>
      <p:sp>
        <p:nvSpPr>
          <p:cNvPr id="1576031487" name="Rectangle 7"/>
          <p:cNvSpPr/>
          <p:nvPr/>
        </p:nvSpPr>
        <p:spPr bwMode="auto">
          <a:xfrm>
            <a:off x="566928" y="4773168"/>
            <a:ext cx="5401040" cy="137160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33687377" name="Rectangle 8"/>
          <p:cNvSpPr/>
          <p:nvPr/>
        </p:nvSpPr>
        <p:spPr bwMode="auto">
          <a:xfrm>
            <a:off x="566928" y="4773168"/>
            <a:ext cx="41148" cy="13716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97000471" name="TextBox 9"/>
          <p:cNvSpPr txBox="1"/>
          <p:nvPr/>
        </p:nvSpPr>
        <p:spPr bwMode="auto">
          <a:xfrm>
            <a:off x="786384" y="4910328"/>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725905595" name="TextBox 10"/>
          <p:cNvSpPr txBox="1"/>
          <p:nvPr/>
        </p:nvSpPr>
        <p:spPr bwMode="auto">
          <a:xfrm>
            <a:off x="786384" y="5157216"/>
            <a:ext cx="4998704" cy="87782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Four of nine roles sit above the baseline. Sales Representatives leave at 39.76% — 2.47× the company rate, +23.6 pp — followed by Laboratory Technicians at 23.94% and Human Resources at 23.08%. Both Sales Representatives and Laboratory Technicians account for roughly 20 excess departures each.</a:t>
            </a:r>
            <a:endParaRPr/>
          </a:p>
        </p:txBody>
      </p:sp>
      <p:sp>
        <p:nvSpPr>
          <p:cNvPr id="1414453992" name="Rectangle 11"/>
          <p:cNvSpPr/>
          <p:nvPr/>
        </p:nvSpPr>
        <p:spPr bwMode="auto">
          <a:xfrm>
            <a:off x="6224000" y="4773168"/>
            <a:ext cx="5401040" cy="1371600"/>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74445717" name="Rectangle 12"/>
          <p:cNvSpPr/>
          <p:nvPr/>
        </p:nvSpPr>
        <p:spPr bwMode="auto">
          <a:xfrm>
            <a:off x="6224000" y="4773168"/>
            <a:ext cx="41148" cy="13716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32571347" name="TextBox 13"/>
          <p:cNvSpPr txBox="1"/>
          <p:nvPr/>
        </p:nvSpPr>
        <p:spPr bwMode="auto">
          <a:xfrm>
            <a:off x="6443456" y="4910328"/>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442312704" name="TextBox 14"/>
          <p:cNvSpPr txBox="1"/>
          <p:nvPr/>
        </p:nvSpPr>
        <p:spPr bwMode="auto">
          <a:xfrm>
            <a:off x="6443456" y="5157216"/>
            <a:ext cx="4998704" cy="87782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Rate and volume point to different roles. Sales Representatives have the sharpest rate on only 83 people; Laboratory Technicians reach the same excess on 259. Research Directors sit at the opposite end — 2.50%, 0.16× baseline — so attrition is associated with specific operational roles rather than spread evenly.</a:t>
            </a:r>
            <a:endParaRPr/>
          </a:p>
        </p:txBody>
      </p:sp>
      <p:sp>
        <p:nvSpPr>
          <p:cNvPr id="4540959" name="Rectangle 15"/>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04228383" name="TextBox 16"/>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notebooks/05-exploratory-data-analysis.ipynb</a:t>
            </a:r>
            <a:endParaRPr/>
          </a:p>
        </p:txBody>
      </p:sp>
      <p:sp>
        <p:nvSpPr>
          <p:cNvPr id="407406434" name="TextBox 17"/>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5218376"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05 · 2 OF 3</a:t>
            </a:r>
            <a:endParaRPr/>
          </a:p>
        </p:txBody>
      </p:sp>
      <p:sp>
        <p:nvSpPr>
          <p:cNvPr id="1822014905"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05 · Department and job level</a:t>
            </a:r>
            <a:endParaRPr/>
          </a:p>
        </p:txBody>
      </p:sp>
      <p:sp>
        <p:nvSpPr>
          <p:cNvPr id="56775764"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test whether the concentration is organisational (which department) or hierarchical (which level).</a:t>
            </a:r>
            <a:endParaRPr/>
          </a:p>
        </p:txBody>
      </p:sp>
      <p:sp>
        <p:nvSpPr>
          <p:cNvPr id="764021382"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1347582695" name="Picture 5" descr="05_joblevel.png"/>
          <p:cNvPicPr>
            <a:picLocks noChangeAspect="1"/>
          </p:cNvPicPr>
          <p:nvPr/>
        </p:nvPicPr>
        <p:blipFill rotWithShape="1">
          <a:blip r:embed="rId3"/>
          <a:stretch/>
        </p:blipFill>
        <p:spPr bwMode="auto">
          <a:xfrm>
            <a:off x="842972" y="1645919"/>
            <a:ext cx="5254350" cy="3246120"/>
          </a:xfrm>
          <a:prstGeom prst="rect">
            <a:avLst/>
          </a:prstGeom>
        </p:spPr>
      </p:pic>
      <p:sp>
        <p:nvSpPr>
          <p:cNvPr id="1631587971" name="TextBox 6"/>
          <p:cNvSpPr txBox="1"/>
          <p:nvPr/>
        </p:nvSpPr>
        <p:spPr bwMode="auto">
          <a:xfrm>
            <a:off x="6647687" y="1700784"/>
            <a:ext cx="497735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What the two cuts show</a:t>
            </a:r>
            <a:endParaRPr/>
          </a:p>
        </p:txBody>
      </p:sp>
      <p:sp>
        <p:nvSpPr>
          <p:cNvPr id="1884598712" name="TextBox 7"/>
          <p:cNvSpPr txBox="1"/>
          <p:nvPr/>
        </p:nvSpPr>
        <p:spPr bwMode="auto">
          <a:xfrm>
            <a:off x="6647687" y="2048256"/>
            <a:ext cx="4977353" cy="2651760"/>
          </a:xfrm>
          <a:prstGeom prst="rect">
            <a:avLst/>
          </a:prstGeom>
          <a:noFill/>
        </p:spPr>
        <p:txBody>
          <a:bodyPr wrap="square" lIns="0" tIns="0" rIns="0" bIns="0" anchor="t">
            <a:spAutoFit/>
          </a:bodyPr>
          <a:lstStyle/>
          <a:p>
            <a:pPr algn="l">
              <a:lnSpc>
                <a:spcPct val="122000"/>
              </a:lnSpc>
              <a:spcAft>
                <a:spcPts val="900"/>
              </a:spcAft>
              <a:defRPr/>
            </a:pPr>
            <a:r>
              <a:rPr sz="1050" b="1" i="0">
                <a:solidFill>
                  <a:srgbClr val="2A78D6"/>
                </a:solidFill>
                <a:latin typeface="Segoe UI"/>
              </a:rPr>
              <a:t>•  </a:t>
            </a:r>
            <a:r>
              <a:rPr sz="1050" b="1" i="0">
                <a:solidFill>
                  <a:srgbClr val="0B0B0B"/>
                </a:solidFill>
                <a:latin typeface="Segoe UI"/>
              </a:rPr>
              <a:t>Job level 1  </a:t>
            </a:r>
            <a:r>
              <a:rPr sz="1050" b="0" i="0">
                <a:solidFill>
                  <a:srgbClr val="52514E"/>
                </a:solidFill>
                <a:latin typeface="Segoe UI"/>
              </a:rPr>
              <a:t>26.34% on 543 employees — 1.63× baseline, +10.2 pp, and +55 excess departures, the largest excess of any segment in the project.</a:t>
            </a:r>
            <a:endParaRPr/>
          </a:p>
          <a:p>
            <a:pPr algn="l">
              <a:lnSpc>
                <a:spcPct val="122000"/>
              </a:lnSpc>
              <a:spcAft>
                <a:spcPts val="900"/>
              </a:spcAft>
              <a:defRPr/>
            </a:pPr>
            <a:r>
              <a:rPr sz="1050" b="1" i="0">
                <a:solidFill>
                  <a:srgbClr val="2A78D6"/>
                </a:solidFill>
                <a:latin typeface="Segoe UI"/>
              </a:rPr>
              <a:t>•  </a:t>
            </a:r>
            <a:r>
              <a:rPr sz="1050" b="1" i="0">
                <a:solidFill>
                  <a:srgbClr val="0B0B0B"/>
                </a:solidFill>
                <a:latin typeface="Segoe UI"/>
              </a:rPr>
              <a:t>Levels 2–5  </a:t>
            </a:r>
            <a:r>
              <a:rPr sz="1050" b="0" i="0">
                <a:solidFill>
                  <a:srgbClr val="52514E"/>
                </a:solidFill>
                <a:latin typeface="Segoe UI"/>
              </a:rPr>
              <a:t>All below baseline: 9.74%, 14.68%, 4.72% and 7.25% respectively.</a:t>
            </a:r>
            <a:endParaRPr/>
          </a:p>
          <a:p>
            <a:pPr algn="l">
              <a:lnSpc>
                <a:spcPct val="122000"/>
              </a:lnSpc>
              <a:spcAft>
                <a:spcPts val="900"/>
              </a:spcAft>
              <a:defRPr/>
            </a:pPr>
            <a:r>
              <a:rPr sz="1050" b="1" i="0">
                <a:solidFill>
                  <a:srgbClr val="2A78D6"/>
                </a:solidFill>
                <a:latin typeface="Segoe UI"/>
              </a:rPr>
              <a:t>•  </a:t>
            </a:r>
            <a:r>
              <a:rPr sz="1050" b="1" i="0">
                <a:solidFill>
                  <a:srgbClr val="0B0B0B"/>
                </a:solidFill>
                <a:latin typeface="Segoe UI"/>
              </a:rPr>
              <a:t>Departments  </a:t>
            </a:r>
            <a:r>
              <a:rPr sz="1050" b="0" i="0">
                <a:solidFill>
                  <a:srgbClr val="52514E"/>
                </a:solidFill>
                <a:latin typeface="Segoe UI"/>
              </a:rPr>
              <a:t>Sales 20.63% (+20 excess) and Human Resources 19.05% (+2 excess) sit above baseline; R&amp;D 13.84% sits 22 departures below its expectation.</a:t>
            </a:r>
            <a:endParaRPr/>
          </a:p>
          <a:p>
            <a:pPr algn="l">
              <a:lnSpc>
                <a:spcPct val="122000"/>
              </a:lnSpc>
              <a:spcAft>
                <a:spcPts val="900"/>
              </a:spcAft>
              <a:defRPr/>
            </a:pPr>
            <a:r>
              <a:rPr sz="1050" b="1" i="0">
                <a:solidFill>
                  <a:srgbClr val="2A78D6"/>
                </a:solidFill>
                <a:latin typeface="Segoe UI"/>
              </a:rPr>
              <a:t>•  </a:t>
            </a:r>
            <a:r>
              <a:rPr sz="1050" b="1" i="0">
                <a:solidFill>
                  <a:srgbClr val="0B0B0B"/>
                </a:solidFill>
                <a:latin typeface="Segoe UI"/>
              </a:rPr>
              <a:t>Headcount check  </a:t>
            </a:r>
            <a:r>
              <a:rPr sz="1050" b="0" i="0">
                <a:solidFill>
                  <a:srgbClr val="52514E"/>
                </a:solidFill>
                <a:latin typeface="Segoe UI"/>
              </a:rPr>
              <a:t>Level 1 and level 2 together hold 1,077 of 1,470 employees, so the level-1 result is not a small-sample artefact.</a:t>
            </a:r>
            <a:endParaRPr/>
          </a:p>
        </p:txBody>
      </p:sp>
      <p:sp>
        <p:nvSpPr>
          <p:cNvPr id="215564541" name="Rectangle 8"/>
          <p:cNvSpPr/>
          <p:nvPr/>
        </p:nvSpPr>
        <p:spPr bwMode="auto">
          <a:xfrm>
            <a:off x="566928" y="4773168"/>
            <a:ext cx="5401040" cy="137160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1972807" name="Rectangle 9"/>
          <p:cNvSpPr/>
          <p:nvPr/>
        </p:nvSpPr>
        <p:spPr bwMode="auto">
          <a:xfrm>
            <a:off x="566928" y="4773168"/>
            <a:ext cx="41148" cy="13716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72825445" name="TextBox 10"/>
          <p:cNvSpPr txBox="1"/>
          <p:nvPr/>
        </p:nvSpPr>
        <p:spPr bwMode="auto">
          <a:xfrm>
            <a:off x="786384" y="4910328"/>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776343011" name="TextBox 11"/>
          <p:cNvSpPr txBox="1"/>
          <p:nvPr/>
        </p:nvSpPr>
        <p:spPr bwMode="auto">
          <a:xfrm>
            <a:off x="786384" y="5157216"/>
            <a:ext cx="4998704" cy="87782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Level is the stronger of the two cuts. Entry-level attrition of 26.34% produces 55 more departures than the baseline would predict — more than the Sales and Human Resources departments' excess combined.</a:t>
            </a:r>
            <a:endParaRPr/>
          </a:p>
        </p:txBody>
      </p:sp>
      <p:sp>
        <p:nvSpPr>
          <p:cNvPr id="1669765146" name="Rectangle 12"/>
          <p:cNvSpPr/>
          <p:nvPr/>
        </p:nvSpPr>
        <p:spPr bwMode="auto">
          <a:xfrm>
            <a:off x="6224000" y="4773168"/>
            <a:ext cx="5401040" cy="1371600"/>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82683861" name="Rectangle 13"/>
          <p:cNvSpPr/>
          <p:nvPr/>
        </p:nvSpPr>
        <p:spPr bwMode="auto">
          <a:xfrm>
            <a:off x="6224000" y="4773168"/>
            <a:ext cx="41148" cy="137160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84879707" name="TextBox 14"/>
          <p:cNvSpPr txBox="1"/>
          <p:nvPr/>
        </p:nvSpPr>
        <p:spPr bwMode="auto">
          <a:xfrm>
            <a:off x="6443456" y="4910328"/>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1068906833" name="TextBox 15"/>
          <p:cNvSpPr txBox="1"/>
          <p:nvPr/>
        </p:nvSpPr>
        <p:spPr bwMode="auto">
          <a:xfrm>
            <a:off x="6443456" y="5157216"/>
            <a:ext cx="4998704" cy="87782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Seniority is associated with staying, and the relationship is close to monotonic above level 1. The high-attrition roles identified on the previous slide are also predominantly entry-level roles, so department, role and level are not independent signals — they overlap on the same population.</a:t>
            </a:r>
            <a:endParaRPr/>
          </a:p>
        </p:txBody>
      </p:sp>
      <p:sp>
        <p:nvSpPr>
          <p:cNvPr id="1269420395" name="Rectangle 16"/>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23700349" name="TextBox 17"/>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notebooks/05-exploratory-data-analysis.ipynb</a:t>
            </a:r>
            <a:endParaRPr/>
          </a:p>
        </p:txBody>
      </p:sp>
      <p:sp>
        <p:nvSpPr>
          <p:cNvPr id="2124535179" name="TextBox 18"/>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6719069"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05 · 3 OF 3</a:t>
            </a:r>
            <a:endParaRPr/>
          </a:p>
        </p:txBody>
      </p:sp>
      <p:sp>
        <p:nvSpPr>
          <p:cNvPr id="2115232059"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05 · Is attrition an early-tenure phenomenon?</a:t>
            </a:r>
            <a:endParaRPr/>
          </a:p>
        </p:txBody>
      </p:sp>
      <p:sp>
        <p:nvSpPr>
          <p:cNvPr id="1675008371"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separate “new to the company” from “early in a career” and find when the risk period ends.</a:t>
            </a:r>
            <a:endParaRPr/>
          </a:p>
        </p:txBody>
      </p:sp>
      <p:sp>
        <p:nvSpPr>
          <p:cNvPr id="723825802"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118985354" name="Picture 5" descr="05_tenure.png"/>
          <p:cNvPicPr>
            <a:picLocks noChangeAspect="1"/>
          </p:cNvPicPr>
          <p:nvPr/>
        </p:nvPicPr>
        <p:blipFill rotWithShape="1">
          <a:blip r:embed="rId3"/>
          <a:stretch/>
        </p:blipFill>
        <p:spPr bwMode="auto">
          <a:xfrm>
            <a:off x="888443" y="1609344"/>
            <a:ext cx="4340448" cy="2788920"/>
          </a:xfrm>
          <a:prstGeom prst="rect">
            <a:avLst/>
          </a:prstGeom>
        </p:spPr>
      </p:pic>
      <p:pic>
        <p:nvPicPr>
          <p:cNvPr id="378680067" name="Picture 6" descr="05_tenure_curve.png"/>
          <p:cNvPicPr>
            <a:picLocks noChangeAspect="1"/>
          </p:cNvPicPr>
          <p:nvPr/>
        </p:nvPicPr>
        <p:blipFill rotWithShape="1">
          <a:blip r:embed="rId4"/>
          <a:stretch/>
        </p:blipFill>
        <p:spPr bwMode="auto">
          <a:xfrm>
            <a:off x="6428898" y="1609344"/>
            <a:ext cx="4500531" cy="2788920"/>
          </a:xfrm>
          <a:prstGeom prst="rect">
            <a:avLst/>
          </a:prstGeom>
        </p:spPr>
      </p:pic>
      <p:pic>
        <p:nvPicPr>
          <p:cNvPr id="618663384" name="Picture 7" descr="05_early_signals.png"/>
          <p:cNvPicPr>
            <a:picLocks noChangeAspect="1"/>
          </p:cNvPicPr>
          <p:nvPr/>
        </p:nvPicPr>
        <p:blipFill rotWithShape="1">
          <a:blip r:embed="rId5"/>
          <a:stretch/>
        </p:blipFill>
        <p:spPr bwMode="auto">
          <a:xfrm>
            <a:off x="3436704" y="4425696"/>
            <a:ext cx="5318560" cy="1481328"/>
          </a:xfrm>
          <a:prstGeom prst="rect">
            <a:avLst/>
          </a:prstGeom>
        </p:spPr>
      </p:pic>
      <p:sp>
        <p:nvSpPr>
          <p:cNvPr id="666688834" name="Rectangle 8"/>
          <p:cNvSpPr/>
          <p:nvPr/>
        </p:nvSpPr>
        <p:spPr bwMode="auto">
          <a:xfrm>
            <a:off x="566928" y="5138928"/>
            <a:ext cx="5401040" cy="100584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8118166" name="Rectangle 9"/>
          <p:cNvSpPr/>
          <p:nvPr/>
        </p:nvSpPr>
        <p:spPr bwMode="auto">
          <a:xfrm>
            <a:off x="566928" y="5138928"/>
            <a:ext cx="41148" cy="10058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80993199" name="TextBox 10"/>
          <p:cNvSpPr txBox="1"/>
          <p:nvPr/>
        </p:nvSpPr>
        <p:spPr bwMode="auto">
          <a:xfrm>
            <a:off x="786384" y="5276088"/>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426286260" name="TextBox 11"/>
          <p:cNvSpPr txBox="1"/>
          <p:nvPr/>
        </p:nvSpPr>
        <p:spPr bwMode="auto">
          <a:xfrm>
            <a:off x="786384" y="5522976"/>
            <a:ext cx="4998704" cy="51206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Attrition is an early-tenure phenomenon. It runs at 29.82% in the first two years (342 employees, 1.85× baseline, +47 excess), then falls to 13.82%, 12.28% and 8.13% across the later bands.</a:t>
            </a:r>
            <a:endParaRPr/>
          </a:p>
        </p:txBody>
      </p:sp>
      <p:sp>
        <p:nvSpPr>
          <p:cNvPr id="147464464" name="Rectangle 12"/>
          <p:cNvSpPr/>
          <p:nvPr/>
        </p:nvSpPr>
        <p:spPr bwMode="auto">
          <a:xfrm>
            <a:off x="6224000" y="5138928"/>
            <a:ext cx="5401040" cy="1005840"/>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05089999" name="Rectangle 13"/>
          <p:cNvSpPr/>
          <p:nvPr/>
        </p:nvSpPr>
        <p:spPr bwMode="auto">
          <a:xfrm>
            <a:off x="6224000" y="5138928"/>
            <a:ext cx="41148" cy="1005840"/>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78198589" name="TextBox 14"/>
          <p:cNvSpPr txBox="1"/>
          <p:nvPr/>
        </p:nvSpPr>
        <p:spPr bwMode="auto">
          <a:xfrm>
            <a:off x="6443456" y="5276088"/>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1514471761" name="TextBox 15"/>
          <p:cNvSpPr txBox="1"/>
          <p:nvPr/>
        </p:nvSpPr>
        <p:spPr bwMode="auto">
          <a:xfrm>
            <a:off x="6443456" y="5522976"/>
            <a:ext cx="4998704" cy="51206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Three independent clocks agree: first year in role 27.91%, first year with a manager 28.32%, first two years of a whole career 43.90%. Risk is concentrated in the first two years, with no second mid-career peak.</a:t>
            </a:r>
            <a:endParaRPr/>
          </a:p>
        </p:txBody>
      </p:sp>
      <p:sp>
        <p:nvSpPr>
          <p:cNvPr id="1807983420" name="Rectangle 16"/>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62604787" name="TextBox 17"/>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notebooks/05-exploratory-data-analysis.ipynb</a:t>
            </a:r>
            <a:endParaRPr/>
          </a:p>
        </p:txBody>
      </p:sp>
      <p:sp>
        <p:nvSpPr>
          <p:cNvPr id="977399738" name="TextBox 18"/>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2772299"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06</a:t>
            </a:r>
            <a:endParaRPr/>
          </a:p>
        </p:txBody>
      </p:sp>
      <p:sp>
        <p:nvSpPr>
          <p:cNvPr id="888157196"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06 · Finding how the data is distributed</a:t>
            </a:r>
            <a:endParaRPr/>
          </a:p>
        </p:txBody>
      </p:sp>
      <p:sp>
        <p:nvSpPr>
          <p:cNvPr id="313932182"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profile the shape of every numeric feature before trusting any mean, correlation or bin edge drawn from it.</a:t>
            </a:r>
            <a:endParaRPr/>
          </a:p>
        </p:txBody>
      </p:sp>
      <p:sp>
        <p:nvSpPr>
          <p:cNvPr id="1554812994"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53703769" name="Rectangle 8"/>
          <p:cNvSpPr/>
          <p:nvPr/>
        </p:nvSpPr>
        <p:spPr bwMode="auto">
          <a:xfrm>
            <a:off x="2200298" y="2595819"/>
            <a:ext cx="5023073" cy="1060704"/>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86579704" name="Rectangle 9"/>
          <p:cNvSpPr/>
          <p:nvPr/>
        </p:nvSpPr>
        <p:spPr bwMode="auto">
          <a:xfrm>
            <a:off x="566927" y="1481327"/>
            <a:ext cx="45719" cy="2786095"/>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08808399" name="TextBox 10"/>
          <p:cNvSpPr txBox="1"/>
          <p:nvPr/>
        </p:nvSpPr>
        <p:spPr bwMode="auto">
          <a:xfrm>
            <a:off x="786384" y="1568196"/>
            <a:ext cx="462073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045710527" name="TextBox 11"/>
          <p:cNvSpPr txBox="1"/>
          <p:nvPr/>
        </p:nvSpPr>
        <p:spPr bwMode="auto">
          <a:xfrm>
            <a:off x="786384" y="1739646"/>
            <a:ext cx="4359358" cy="2585323"/>
          </a:xfrm>
          <a:prstGeom prst="rect">
            <a:avLst/>
          </a:prstGeom>
          <a:noFill/>
        </p:spPr>
        <p:txBody>
          <a:bodyPr wrap="square" lIns="0" tIns="0" rIns="0" bIns="0" anchor="t">
            <a:spAutoFit/>
          </a:bodyPr>
          <a:lstStyle/>
          <a:p>
            <a:pPr marL="342900" lvl="0" indent="-342900">
              <a:lnSpc>
                <a:spcPct val="100000"/>
              </a:lnSpc>
              <a:buFont typeface="Arial"/>
              <a:buChar char="•"/>
              <a:defRPr/>
            </a:pPr>
            <a:r>
              <a:rPr lang="en-CA" sz="1200"/>
              <a:t>Numeric features showed two distinct patterns: </a:t>
            </a:r>
            <a:endParaRPr/>
          </a:p>
          <a:p>
            <a:pPr marL="742950" lvl="1" indent="-285750">
              <a:lnSpc>
                <a:spcPct val="100000"/>
              </a:lnSpc>
              <a:buFont typeface="Arial"/>
              <a:buChar char="•"/>
              <a:defRPr/>
            </a:pPr>
            <a:r>
              <a:rPr lang="en-CA" sz="1200"/>
              <a:t>Continuous variables (</a:t>
            </a:r>
            <a:r>
              <a:rPr lang="en-CA" sz="1200"/>
              <a:t>MonthlyIncome</a:t>
            </a:r>
            <a:r>
              <a:rPr lang="en-CA" sz="1200"/>
              <a:t>, </a:t>
            </a:r>
            <a:r>
              <a:rPr lang="en-CA" sz="1200"/>
              <a:t>TotalWorkingYears</a:t>
            </a:r>
            <a:r>
              <a:rPr lang="en-CA" sz="1200"/>
              <a:t>, </a:t>
            </a:r>
            <a:r>
              <a:rPr lang="en-CA" sz="1200"/>
              <a:t>YearsAtCompany</a:t>
            </a:r>
            <a:r>
              <a:rPr lang="en-CA" sz="1200"/>
              <a:t>) displayed strong left-skewed distributions with long lower tails.</a:t>
            </a:r>
            <a:endParaRPr/>
          </a:p>
          <a:p>
            <a:pPr marL="742950" lvl="1" indent="-285750">
              <a:lnSpc>
                <a:spcPct val="100000"/>
              </a:lnSpc>
              <a:buFont typeface="Arial"/>
              <a:buChar char="•"/>
              <a:defRPr/>
            </a:pPr>
            <a:r>
              <a:rPr lang="en-CA" sz="1200"/>
              <a:t>Ordinal survey variables (</a:t>
            </a:r>
            <a:r>
              <a:rPr lang="en-CA" sz="1200"/>
              <a:t>JobSatisfaction</a:t>
            </a:r>
            <a:r>
              <a:rPr lang="en-CA" sz="1200"/>
              <a:t>, </a:t>
            </a:r>
            <a:r>
              <a:rPr lang="en-CA" sz="1200"/>
              <a:t>EnvironmentSatisfaction</a:t>
            </a:r>
            <a:r>
              <a:rPr lang="en-CA" sz="1200"/>
              <a:t>, </a:t>
            </a:r>
            <a:r>
              <a:rPr lang="en-CA" sz="1200"/>
              <a:t>WorkLifeBalance</a:t>
            </a:r>
            <a:r>
              <a:rPr lang="en-CA" sz="1200"/>
              <a:t>) clustered around mid-higher values.</a:t>
            </a:r>
            <a:endParaRPr/>
          </a:p>
          <a:p>
            <a:pPr marL="342900" lvl="0" indent="-342900">
              <a:lnSpc>
                <a:spcPct val="100000"/>
              </a:lnSpc>
              <a:buFont typeface="Arial"/>
              <a:buChar char="•"/>
              <a:defRPr/>
            </a:pPr>
            <a:r>
              <a:rPr lang="en-CA" sz="1200"/>
              <a:t>Median values are more representative than means for compensation and tenure variables because a relatively small group of highly paid, highly experienced employees pulls averages upward.</a:t>
            </a:r>
            <a:endParaRPr/>
          </a:p>
          <a:p>
            <a:pPr marL="342900" lvl="0" indent="-342900">
              <a:lnSpc>
                <a:spcPct val="100000"/>
              </a:lnSpc>
              <a:buFont typeface="Arial"/>
              <a:buChar char="•"/>
              <a:defRPr/>
            </a:pPr>
            <a:r>
              <a:rPr lang="en-CA" sz="1200"/>
              <a:t>No unusual distributional patterns suggested data-quality issues; observed extreme values aligned with realistic senior employee profiles.</a:t>
            </a:r>
            <a:endParaRPr/>
          </a:p>
        </p:txBody>
      </p:sp>
      <p:sp>
        <p:nvSpPr>
          <p:cNvPr id="625480167" name="Rectangle 12"/>
          <p:cNvSpPr/>
          <p:nvPr/>
        </p:nvSpPr>
        <p:spPr bwMode="auto">
          <a:xfrm>
            <a:off x="6601968" y="4901184"/>
            <a:ext cx="5023073" cy="1188720"/>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17127263" name="Rectangle 13"/>
          <p:cNvSpPr/>
          <p:nvPr/>
        </p:nvSpPr>
        <p:spPr bwMode="auto">
          <a:xfrm>
            <a:off x="566927" y="4267422"/>
            <a:ext cx="45719" cy="1712754"/>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7837279" name="TextBox 14"/>
          <p:cNvSpPr txBox="1"/>
          <p:nvPr/>
        </p:nvSpPr>
        <p:spPr bwMode="auto">
          <a:xfrm>
            <a:off x="786381" y="4267421"/>
            <a:ext cx="462073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1002825096" name="TextBox 19"/>
          <p:cNvSpPr txBox="1"/>
          <p:nvPr/>
        </p:nvSpPr>
        <p:spPr bwMode="auto">
          <a:xfrm>
            <a:off x="786382" y="4458914"/>
            <a:ext cx="4359360" cy="1477328"/>
          </a:xfrm>
          <a:prstGeom prst="rect">
            <a:avLst/>
          </a:prstGeom>
          <a:noFill/>
        </p:spPr>
        <p:txBody>
          <a:bodyPr wrap="square" lIns="0" tIns="0" rIns="0" bIns="0" anchor="t">
            <a:spAutoFit/>
          </a:bodyPr>
          <a:lstStyle/>
          <a:p>
            <a:pPr>
              <a:lnSpc>
                <a:spcPct val="100000"/>
              </a:lnSpc>
              <a:buNone/>
              <a:defRPr/>
            </a:pPr>
            <a:r>
              <a:rPr lang="en-CA" sz="1200"/>
              <a:t>The employee population is not evenly distributed. Most employees are concentrated in lower-tenure, lower-income, and lower-experience ranges, while a relatively small group occupies the high-income and long-tenure tail. This matters because later attrition analysis shows the highest attrition rates occur within these larger early-career groups. The distribution therefore suggests that attrition risk is concentrated where most employees are already located, amplifying its business impact.</a:t>
            </a:r>
            <a:endParaRPr/>
          </a:p>
        </p:txBody>
      </p:sp>
      <p:sp>
        <p:nvSpPr>
          <p:cNvPr id="275714897" name="Rectangle 20"/>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42020504" name="TextBox 21"/>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notebooks/06-finding-how-data-distributed.ipynb</a:t>
            </a:r>
            <a:endParaRPr/>
          </a:p>
        </p:txBody>
      </p:sp>
      <p:sp>
        <p:nvSpPr>
          <p:cNvPr id="79122859" name="TextBox 22"/>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11</a:t>
            </a:r>
            <a:endParaRPr/>
          </a:p>
        </p:txBody>
      </p:sp>
      <p:pic>
        <p:nvPicPr>
          <p:cNvPr id="653015686" name="Picture 24"/>
          <p:cNvPicPr>
            <a:picLocks noChangeAspect="1"/>
          </p:cNvPicPr>
          <p:nvPr/>
        </p:nvPicPr>
        <p:blipFill rotWithShape="1">
          <a:blip r:embed="rId3"/>
          <a:stretch/>
        </p:blipFill>
        <p:spPr bwMode="auto">
          <a:xfrm>
            <a:off x="5407118" y="1298785"/>
            <a:ext cx="6784879" cy="2184376"/>
          </a:xfrm>
          <a:prstGeom prst="rect">
            <a:avLst/>
          </a:prstGeom>
        </p:spPr>
      </p:pic>
      <p:pic>
        <p:nvPicPr>
          <p:cNvPr id="1257958917" name="Picture 26"/>
          <p:cNvPicPr>
            <a:picLocks noChangeAspect="1"/>
          </p:cNvPicPr>
          <p:nvPr/>
        </p:nvPicPr>
        <p:blipFill rotWithShape="1">
          <a:blip r:embed="rId4"/>
          <a:stretch/>
        </p:blipFill>
        <p:spPr bwMode="auto">
          <a:xfrm>
            <a:off x="5357491" y="3481761"/>
            <a:ext cx="6784879" cy="226981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7656570"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07</a:t>
            </a:r>
            <a:endParaRPr/>
          </a:p>
        </p:txBody>
      </p:sp>
      <p:sp>
        <p:nvSpPr>
          <p:cNvPr id="1645002838"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07 · Finding outliers</a:t>
            </a:r>
            <a:endParaRPr/>
          </a:p>
        </p:txBody>
      </p:sp>
      <p:sp>
        <p:nvSpPr>
          <p:cNvPr id="2041765809"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identify unusually high or low values with the IQR rule, then decide whether each is a data error or a real employee.</a:t>
            </a:r>
            <a:endParaRPr/>
          </a:p>
        </p:txBody>
      </p:sp>
      <p:sp>
        <p:nvSpPr>
          <p:cNvPr id="545167450"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1790432308" name="Picture 5" descr="07_outliers.png"/>
          <p:cNvPicPr>
            <a:picLocks noChangeAspect="1"/>
          </p:cNvPicPr>
          <p:nvPr/>
        </p:nvPicPr>
        <p:blipFill rotWithShape="1">
          <a:blip r:embed="rId3"/>
          <a:stretch/>
        </p:blipFill>
        <p:spPr bwMode="auto">
          <a:xfrm>
            <a:off x="1048438" y="1655063"/>
            <a:ext cx="5300618" cy="3154680"/>
          </a:xfrm>
          <a:prstGeom prst="rect">
            <a:avLst/>
          </a:prstGeom>
        </p:spPr>
      </p:pic>
      <p:sp>
        <p:nvSpPr>
          <p:cNvPr id="896435791" name="TextBox 6"/>
          <p:cNvSpPr txBox="1"/>
          <p:nvPr/>
        </p:nvSpPr>
        <p:spPr bwMode="auto">
          <a:xfrm>
            <a:off x="7013448" y="1700784"/>
            <a:ext cx="461159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Analysis performed</a:t>
            </a:r>
            <a:endParaRPr/>
          </a:p>
        </p:txBody>
      </p:sp>
      <p:sp>
        <p:nvSpPr>
          <p:cNvPr id="1485722578" name="TextBox 7"/>
          <p:cNvSpPr txBox="1"/>
          <p:nvPr/>
        </p:nvSpPr>
        <p:spPr bwMode="auto">
          <a:xfrm>
            <a:off x="7013448" y="2048256"/>
            <a:ext cx="4611593" cy="1828800"/>
          </a:xfrm>
          <a:prstGeom prst="rect">
            <a:avLst/>
          </a:prstGeom>
          <a:noFill/>
        </p:spPr>
        <p:txBody>
          <a:bodyPr wrap="square" lIns="0" tIns="0" rIns="0" bIns="0" anchor="t">
            <a:spAutoFit/>
          </a:bodyPr>
          <a:lstStyle/>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Scope  </a:t>
            </a:r>
            <a:r>
              <a:rPr sz="1050" b="0" i="0">
                <a:solidFill>
                  <a:srgbClr val="52514E"/>
                </a:solidFill>
                <a:latin typeface="Segoe UI"/>
              </a:rPr>
              <a:t>Fourteen genuinely continuous columns. Identifiers, constant columns and rating scales such as JobLevel and JobSatisfaction were excluded — a category code has no meaningful upper fence.</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Rule  </a:t>
            </a:r>
            <a:r>
              <a:rPr sz="1050" b="0" i="0">
                <a:solidFill>
                  <a:srgbClr val="52514E"/>
                </a:solidFill>
                <a:latin typeface="Segoe UI"/>
              </a:rPr>
              <a:t>Values below Q1 − 1.5×IQR or above Q3 + 1.5×IQR were flagged.</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Review  </a:t>
            </a:r>
            <a:r>
              <a:rPr sz="1050" b="0" i="0">
                <a:solidFill>
                  <a:srgbClr val="52514E"/>
                </a:solidFill>
                <a:latin typeface="Segoe UI"/>
              </a:rPr>
              <a:t>The 114 MonthlyIncome flags were inspected individually against job level, role and total experience.</a:t>
            </a:r>
            <a:endParaRPr/>
          </a:p>
        </p:txBody>
      </p:sp>
      <p:sp>
        <p:nvSpPr>
          <p:cNvPr id="506202333" name="Rectangle 8"/>
          <p:cNvSpPr/>
          <p:nvPr/>
        </p:nvSpPr>
        <p:spPr bwMode="auto">
          <a:xfrm>
            <a:off x="7013448" y="3913632"/>
            <a:ext cx="4611593" cy="91440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54000030" name="Rectangle 9"/>
          <p:cNvSpPr/>
          <p:nvPr/>
        </p:nvSpPr>
        <p:spPr bwMode="auto">
          <a:xfrm>
            <a:off x="7013448" y="3913632"/>
            <a:ext cx="41148"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295639484" name="TextBox 10"/>
          <p:cNvSpPr txBox="1"/>
          <p:nvPr/>
        </p:nvSpPr>
        <p:spPr bwMode="auto">
          <a:xfrm>
            <a:off x="7232904" y="4050792"/>
            <a:ext cx="420925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589552506" name="TextBox 11"/>
          <p:cNvSpPr txBox="1"/>
          <p:nvPr/>
        </p:nvSpPr>
        <p:spPr bwMode="auto">
          <a:xfrm>
            <a:off x="7232904" y="4297680"/>
            <a:ext cx="4209257" cy="420623"/>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Eight of the 14 columns carry flagged values. All 114 MonthlyIncome flags exceed the $16,581 upper fence — every one is a level 4 or 5 Manager or Research Director with 21 to 35 years of experience.</a:t>
            </a:r>
            <a:endParaRPr/>
          </a:p>
        </p:txBody>
      </p:sp>
      <p:sp>
        <p:nvSpPr>
          <p:cNvPr id="1547958230" name="Rectangle 12"/>
          <p:cNvSpPr/>
          <p:nvPr/>
        </p:nvSpPr>
        <p:spPr bwMode="auto">
          <a:xfrm>
            <a:off x="566928" y="4882896"/>
            <a:ext cx="5401040" cy="1261872"/>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61290545" name="Rectangle 13"/>
          <p:cNvSpPr/>
          <p:nvPr/>
        </p:nvSpPr>
        <p:spPr bwMode="auto">
          <a:xfrm>
            <a:off x="566928" y="4882896"/>
            <a:ext cx="41148" cy="1261872"/>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00629544" name="TextBox 14"/>
          <p:cNvSpPr txBox="1"/>
          <p:nvPr/>
        </p:nvSpPr>
        <p:spPr bwMode="auto">
          <a:xfrm>
            <a:off x="786384" y="5020056"/>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1359112891" name="TextBox 15"/>
          <p:cNvSpPr txBox="1"/>
          <p:nvPr/>
        </p:nvSpPr>
        <p:spPr bwMode="auto">
          <a:xfrm>
            <a:off x="786384" y="5266944"/>
            <a:ext cx="4998704" cy="768095"/>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These are not errors, they are the senior tail of a right-skewed pay distribution. TrainingTimesLastYear is flagged at 16.19% for a different reason: it takes only seven values with a one-unit IQR, so the fence sits at 4.5 and any employee with five or six sessions falls outside it.</a:t>
            </a:r>
            <a:endParaRPr/>
          </a:p>
        </p:txBody>
      </p:sp>
      <p:sp>
        <p:nvSpPr>
          <p:cNvPr id="793608304" name="Rectangle 16"/>
          <p:cNvSpPr/>
          <p:nvPr/>
        </p:nvSpPr>
        <p:spPr bwMode="auto">
          <a:xfrm>
            <a:off x="6224000" y="4882896"/>
            <a:ext cx="5401040" cy="1261872"/>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36064" name="Rectangle 17"/>
          <p:cNvSpPr/>
          <p:nvPr/>
        </p:nvSpPr>
        <p:spPr bwMode="auto">
          <a:xfrm>
            <a:off x="6224000" y="4882896"/>
            <a:ext cx="41148" cy="126187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04341912" name="TextBox 18"/>
          <p:cNvSpPr txBox="1"/>
          <p:nvPr/>
        </p:nvSpPr>
        <p:spPr bwMode="auto">
          <a:xfrm>
            <a:off x="6443456" y="5020056"/>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898781"/>
                </a:solidFill>
                <a:latin typeface="Segoe UI"/>
              </a:rPr>
              <a:t>CONCLUSION</a:t>
            </a:r>
            <a:endParaRPr/>
          </a:p>
        </p:txBody>
      </p:sp>
      <p:sp>
        <p:nvSpPr>
          <p:cNvPr id="352633139" name="TextBox 19"/>
          <p:cNvSpPr txBox="1"/>
          <p:nvPr/>
        </p:nvSpPr>
        <p:spPr bwMode="auto">
          <a:xfrm>
            <a:off x="6443456" y="5266944"/>
            <a:ext cx="4998704" cy="768095"/>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All flagged values were retained. Removing them would delete exactly the senior, long-tenured, well-paid employees whose low attrition rates are central to the analysis — and would bias the results rather than clean them.</a:t>
            </a:r>
            <a:endParaRPr/>
          </a:p>
        </p:txBody>
      </p:sp>
      <p:sp>
        <p:nvSpPr>
          <p:cNvPr id="2122500713" name="Rectangle 20"/>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8314156" name="TextBox 21"/>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notebooks/07-finding-outliers.ipynb</a:t>
            </a:r>
            <a:endParaRPr/>
          </a:p>
        </p:txBody>
      </p:sp>
      <p:sp>
        <p:nvSpPr>
          <p:cNvPr id="845950220" name="TextBox 22"/>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2411409"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08</a:t>
            </a:r>
            <a:endParaRPr/>
          </a:p>
        </p:txBody>
      </p:sp>
      <p:sp>
        <p:nvSpPr>
          <p:cNvPr id="225099284"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08 · Finding correlation</a:t>
            </a:r>
            <a:endParaRPr/>
          </a:p>
        </p:txBody>
      </p:sp>
      <p:sp>
        <p:nvSpPr>
          <p:cNvPr id="1258138900"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screen every variable at once — both as grouped attrition rates and as a direct correlation with leaving.</a:t>
            </a:r>
            <a:endParaRPr/>
          </a:p>
        </p:txBody>
      </p:sp>
      <p:sp>
        <p:nvSpPr>
          <p:cNvPr id="981520541"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17315057" name="Rectangle 7"/>
          <p:cNvSpPr/>
          <p:nvPr/>
        </p:nvSpPr>
        <p:spPr bwMode="auto">
          <a:xfrm>
            <a:off x="694944" y="3746693"/>
            <a:ext cx="5401040" cy="118872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02542380" name="Rectangle 8"/>
          <p:cNvSpPr/>
          <p:nvPr/>
        </p:nvSpPr>
        <p:spPr bwMode="auto">
          <a:xfrm>
            <a:off x="562357" y="1508759"/>
            <a:ext cx="45719" cy="2962879"/>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57322754" name="TextBox 9"/>
          <p:cNvSpPr txBox="1"/>
          <p:nvPr/>
        </p:nvSpPr>
        <p:spPr bwMode="auto">
          <a:xfrm>
            <a:off x="694944" y="1553237"/>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935552353" name="TextBox 10"/>
          <p:cNvSpPr txBox="1"/>
          <p:nvPr/>
        </p:nvSpPr>
        <p:spPr bwMode="auto">
          <a:xfrm>
            <a:off x="694944" y="1701651"/>
            <a:ext cx="3779018" cy="2800767"/>
          </a:xfrm>
          <a:prstGeom prst="rect">
            <a:avLst/>
          </a:prstGeom>
          <a:noFill/>
        </p:spPr>
        <p:txBody>
          <a:bodyPr wrap="square" lIns="0" tIns="0" rIns="0" bIns="0" anchor="t">
            <a:spAutoFit/>
          </a:bodyPr>
          <a:lstStyle/>
          <a:p>
            <a:pPr marL="342900" lvl="0" indent="-342900">
              <a:lnSpc>
                <a:spcPct val="100000"/>
              </a:lnSpc>
              <a:buFont typeface="Arial"/>
              <a:buChar char="•"/>
              <a:defRPr/>
            </a:pPr>
            <a:r>
              <a:rPr lang="en-CA" sz="1400"/>
              <a:t>All correlations are relatively weak (|r| &lt; 0.20), indicating that no single numeric variable strongly explains employee attrition.</a:t>
            </a:r>
            <a:endParaRPr/>
          </a:p>
          <a:p>
            <a:pPr marL="342900" lvl="0" indent="-342900">
              <a:lnSpc>
                <a:spcPct val="100000"/>
              </a:lnSpc>
              <a:buFont typeface="Arial"/>
              <a:buChar char="•"/>
              <a:defRPr/>
            </a:pPr>
            <a:r>
              <a:rPr lang="en-CA" sz="1400"/>
              <a:t>Employees with less total work experience, lower job levels, lower income, and shorter tenure with managers were more likely to leave.</a:t>
            </a:r>
            <a:endParaRPr/>
          </a:p>
          <a:p>
            <a:pPr marL="342900" lvl="0" indent="-342900">
              <a:lnSpc>
                <a:spcPct val="100000"/>
              </a:lnSpc>
              <a:buFont typeface="Arial"/>
              <a:buChar char="•"/>
              <a:defRPr/>
            </a:pPr>
            <a:r>
              <a:rPr lang="en-CA" sz="1400"/>
              <a:t>The only notable positive relationship was </a:t>
            </a:r>
            <a:r>
              <a:rPr lang="en-CA" sz="1400"/>
              <a:t>DistanceFromHome</a:t>
            </a:r>
            <a:r>
              <a:rPr lang="en-CA" sz="1400"/>
              <a:t> (+0.078), suggesting attrition tends to increase as commute distance grows.</a:t>
            </a:r>
            <a:endParaRPr/>
          </a:p>
          <a:p>
            <a:pPr marL="342900" lvl="0" indent="-342900">
              <a:lnSpc>
                <a:spcPct val="100000"/>
              </a:lnSpc>
              <a:buFont typeface="Arial"/>
              <a:buChar char="•"/>
              <a:defRPr/>
            </a:pPr>
            <a:r>
              <a:rPr lang="en-CA" sz="1400"/>
              <a:t>Correlations should be viewed as screening indicators, not evidence of causation.</a:t>
            </a:r>
            <a:endParaRPr/>
          </a:p>
        </p:txBody>
      </p:sp>
      <p:sp>
        <p:nvSpPr>
          <p:cNvPr id="569870671" name="Rectangle 11"/>
          <p:cNvSpPr/>
          <p:nvPr/>
        </p:nvSpPr>
        <p:spPr bwMode="auto">
          <a:xfrm>
            <a:off x="6224000" y="4956048"/>
            <a:ext cx="5401040" cy="1188720"/>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8939849" name="Rectangle 12"/>
          <p:cNvSpPr/>
          <p:nvPr/>
        </p:nvSpPr>
        <p:spPr bwMode="auto">
          <a:xfrm>
            <a:off x="562356" y="4471639"/>
            <a:ext cx="45719" cy="1956592"/>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5168148" name="TextBox 13"/>
          <p:cNvSpPr txBox="1"/>
          <p:nvPr/>
        </p:nvSpPr>
        <p:spPr bwMode="auto">
          <a:xfrm>
            <a:off x="694944" y="4472383"/>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311756956" name="TextBox 14"/>
          <p:cNvSpPr txBox="1"/>
          <p:nvPr/>
        </p:nvSpPr>
        <p:spPr bwMode="auto">
          <a:xfrm>
            <a:off x="694943" y="4638008"/>
            <a:ext cx="3779019" cy="1508105"/>
          </a:xfrm>
          <a:prstGeom prst="rect">
            <a:avLst/>
          </a:prstGeom>
          <a:noFill/>
        </p:spPr>
        <p:txBody>
          <a:bodyPr wrap="square" lIns="0" tIns="0" rIns="0" bIns="0" anchor="t">
            <a:spAutoFit/>
          </a:bodyPr>
          <a:lstStyle/>
          <a:p>
            <a:pPr marL="342900" lvl="0" indent="-342900">
              <a:lnSpc>
                <a:spcPct val="100000"/>
              </a:lnSpc>
              <a:buFont typeface="Arial"/>
              <a:buChar char="•"/>
              <a:defRPr/>
            </a:pPr>
            <a:r>
              <a:rPr lang="en-CA" sz="1400"/>
              <a:t>Employees with ≤ 6 total working years had a 25.6% attrition rate, compared with 8.7% for employees with more than 15 years of experience.</a:t>
            </a:r>
            <a:endParaRPr/>
          </a:p>
          <a:p>
            <a:pPr marL="342900" lvl="0" indent="-342900">
              <a:lnSpc>
                <a:spcPct val="100000"/>
              </a:lnSpc>
              <a:buFont typeface="Arial"/>
              <a:buChar char="•"/>
              <a:defRPr/>
            </a:pPr>
            <a:r>
              <a:rPr lang="en-CA" sz="1400"/>
              <a:t>Employees in the lowest income quartile experienced 29.3% attrition, nearly three times the rate of the highest income quartile (~10%).</a:t>
            </a:r>
            <a:endParaRPr/>
          </a:p>
        </p:txBody>
      </p:sp>
      <p:sp>
        <p:nvSpPr>
          <p:cNvPr id="837989718" name="Rectangle 15"/>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295885060" name="TextBox 16"/>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notebooks/08-finding-correlation.ipynb</a:t>
            </a:r>
            <a:endParaRPr/>
          </a:p>
        </p:txBody>
      </p:sp>
      <p:sp>
        <p:nvSpPr>
          <p:cNvPr id="1411316632" name="TextBox 17"/>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13</a:t>
            </a:r>
            <a:endParaRPr/>
          </a:p>
        </p:txBody>
      </p:sp>
      <p:pic>
        <p:nvPicPr>
          <p:cNvPr id="1030569250" name="Picture 23"/>
          <p:cNvPicPr>
            <a:picLocks noChangeAspect="1"/>
          </p:cNvPicPr>
          <p:nvPr/>
        </p:nvPicPr>
        <p:blipFill rotWithShape="1">
          <a:blip r:embed="rId3"/>
          <a:stretch/>
        </p:blipFill>
        <p:spPr bwMode="auto">
          <a:xfrm>
            <a:off x="9690266" y="1369349"/>
            <a:ext cx="2501734" cy="5488652"/>
          </a:xfrm>
          <a:prstGeom prst="rect">
            <a:avLst/>
          </a:prstGeom>
        </p:spPr>
      </p:pic>
      <p:pic>
        <p:nvPicPr>
          <p:cNvPr id="111681309" name="Picture 27"/>
          <p:cNvPicPr>
            <a:picLocks noChangeAspect="1"/>
          </p:cNvPicPr>
          <p:nvPr/>
        </p:nvPicPr>
        <p:blipFill rotWithShape="1">
          <a:blip r:embed="rId4"/>
          <a:stretch/>
        </p:blipFill>
        <p:spPr bwMode="auto">
          <a:xfrm>
            <a:off x="4497714" y="1712623"/>
            <a:ext cx="5192552" cy="41753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8206310"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09</a:t>
            </a:r>
            <a:endParaRPr/>
          </a:p>
        </p:txBody>
      </p:sp>
      <p:sp>
        <p:nvSpPr>
          <p:cNvPr id="517755483"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09 · Visualizing distribution</a:t>
            </a:r>
            <a:endParaRPr/>
          </a:p>
        </p:txBody>
      </p:sp>
      <p:sp>
        <p:nvSpPr>
          <p:cNvPr id="1934711091"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describe the workforce itself — age, pay, tenure and experience — so the segment rates have a population to sit in.</a:t>
            </a:r>
            <a:endParaRPr/>
          </a:p>
        </p:txBody>
      </p:sp>
      <p:sp>
        <p:nvSpPr>
          <p:cNvPr id="1844873816"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879267338" name="Picture 5" descr="09_distributions.png"/>
          <p:cNvPicPr>
            <a:picLocks noChangeAspect="1"/>
          </p:cNvPicPr>
          <p:nvPr/>
        </p:nvPicPr>
        <p:blipFill rotWithShape="1">
          <a:blip r:embed="rId3"/>
          <a:stretch/>
        </p:blipFill>
        <p:spPr bwMode="auto">
          <a:xfrm>
            <a:off x="799790" y="1627632"/>
            <a:ext cx="6437995" cy="3291840"/>
          </a:xfrm>
          <a:prstGeom prst="rect">
            <a:avLst/>
          </a:prstGeom>
        </p:spPr>
      </p:pic>
      <p:sp>
        <p:nvSpPr>
          <p:cNvPr id="1686065916" name="TextBox 6"/>
          <p:cNvSpPr txBox="1"/>
          <p:nvPr/>
        </p:nvSpPr>
        <p:spPr bwMode="auto">
          <a:xfrm>
            <a:off x="7607808" y="1682496"/>
            <a:ext cx="401723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Finding</a:t>
            </a:r>
            <a:endParaRPr/>
          </a:p>
        </p:txBody>
      </p:sp>
      <p:sp>
        <p:nvSpPr>
          <p:cNvPr id="1151142498" name="TextBox 7"/>
          <p:cNvSpPr txBox="1"/>
          <p:nvPr/>
        </p:nvSpPr>
        <p:spPr bwMode="auto">
          <a:xfrm>
            <a:off x="7607808" y="2011680"/>
            <a:ext cx="4017233" cy="2103120"/>
          </a:xfrm>
          <a:prstGeom prst="rect">
            <a:avLst/>
          </a:prstGeom>
          <a:noFill/>
        </p:spPr>
        <p:txBody>
          <a:bodyPr wrap="square" lIns="0" tIns="0" rIns="0" bIns="0" anchor="t">
            <a:spAutoFit/>
          </a:bodyPr>
          <a:lstStyle/>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Age  </a:t>
            </a:r>
            <a:r>
              <a:rPr sz="1050" b="0" i="0">
                <a:solidFill>
                  <a:srgbClr val="52514E"/>
                </a:solidFill>
                <a:latin typeface="Segoe UI"/>
              </a:rPr>
              <a:t>18 to 60, mean 36.9, median 36.0 — close to symmetric with a mild right skew.</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Monthly income  </a:t>
            </a:r>
            <a:r>
              <a:rPr sz="1050" b="0" i="0">
                <a:solidFill>
                  <a:srgbClr val="52514E"/>
                </a:solidFill>
                <a:latin typeface="Segoe UI"/>
              </a:rPr>
              <a:t>Mean $6,503 against a median of $4,919 — strongly right-skewed.</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Years at company  </a:t>
            </a:r>
            <a:r>
              <a:rPr sz="1050" b="0" i="0">
                <a:solidFill>
                  <a:srgbClr val="52514E"/>
                </a:solidFill>
                <a:latin typeface="Segoe UI"/>
              </a:rPr>
              <a:t>Mean 7.0 against a median of 5.0; most employees sit between 2 and 10 years.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Total working years  </a:t>
            </a:r>
            <a:r>
              <a:rPr sz="1050" b="0" i="0">
                <a:solidFill>
                  <a:srgbClr val="52514E"/>
                </a:solidFill>
                <a:latin typeface="Segoe UI"/>
              </a:rPr>
              <a:t>Mean 11.3 against a median of 10.0, concentrated between 5 and 12 years.</a:t>
            </a:r>
            <a:endParaRPr/>
          </a:p>
        </p:txBody>
      </p:sp>
      <p:sp>
        <p:nvSpPr>
          <p:cNvPr id="1916314225" name="Rectangle 8"/>
          <p:cNvSpPr/>
          <p:nvPr/>
        </p:nvSpPr>
        <p:spPr bwMode="auto">
          <a:xfrm>
            <a:off x="7607808" y="4005072"/>
            <a:ext cx="4017233" cy="969264"/>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52549137" name="Rectangle 9"/>
          <p:cNvSpPr/>
          <p:nvPr/>
        </p:nvSpPr>
        <p:spPr bwMode="auto">
          <a:xfrm>
            <a:off x="7607808" y="4005072"/>
            <a:ext cx="41148" cy="969264"/>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35567094" name="TextBox 10"/>
          <p:cNvSpPr txBox="1"/>
          <p:nvPr/>
        </p:nvSpPr>
        <p:spPr bwMode="auto">
          <a:xfrm>
            <a:off x="7827264" y="4142232"/>
            <a:ext cx="361489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115432566" name="TextBox 11"/>
          <p:cNvSpPr txBox="1"/>
          <p:nvPr/>
        </p:nvSpPr>
        <p:spPr bwMode="auto">
          <a:xfrm>
            <a:off x="7827264" y="4389120"/>
            <a:ext cx="3614897" cy="475488"/>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Where mean and median diverge, the median is the honest description of a typical employee — a small group of senior, high-earning, long-tenured people pulls every average upward.</a:t>
            </a:r>
            <a:endParaRPr/>
          </a:p>
        </p:txBody>
      </p:sp>
      <p:sp>
        <p:nvSpPr>
          <p:cNvPr id="3811569" name="Rectangle 12"/>
          <p:cNvSpPr/>
          <p:nvPr/>
        </p:nvSpPr>
        <p:spPr bwMode="auto">
          <a:xfrm>
            <a:off x="566928" y="4956048"/>
            <a:ext cx="11058113" cy="118872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10499475" name="Rectangle 13"/>
          <p:cNvSpPr/>
          <p:nvPr/>
        </p:nvSpPr>
        <p:spPr bwMode="auto">
          <a:xfrm>
            <a:off x="566928" y="4956048"/>
            <a:ext cx="41148" cy="1188720"/>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88584956" name="TextBox 14"/>
          <p:cNvSpPr txBox="1"/>
          <p:nvPr/>
        </p:nvSpPr>
        <p:spPr bwMode="auto">
          <a:xfrm>
            <a:off x="786384" y="5093208"/>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898781"/>
                </a:solidFill>
                <a:latin typeface="Segoe UI"/>
              </a:rPr>
              <a:t>CONCLUSION</a:t>
            </a:r>
            <a:endParaRPr/>
          </a:p>
        </p:txBody>
      </p:sp>
      <p:sp>
        <p:nvSpPr>
          <p:cNvPr id="20607897" name="TextBox 15"/>
          <p:cNvSpPr txBox="1"/>
          <p:nvPr/>
        </p:nvSpPr>
        <p:spPr bwMode="auto">
          <a:xfrm>
            <a:off x="786384" y="5340096"/>
            <a:ext cx="10655777" cy="694944"/>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These charts describe the population, not the leaving. They matter to the argument in one specific way: the workforce is concentrated in exactly the early-tenure, lower-income, entry-level bands that the attrition analysis identified as highest-risk — which is why those segments carry large headcounts as well as high rates. The notebook states plainly that distributions alone establish nothing about what causes attrition.</a:t>
            </a:r>
            <a:endParaRPr/>
          </a:p>
        </p:txBody>
      </p:sp>
      <p:sp>
        <p:nvSpPr>
          <p:cNvPr id="2006687935" name="Rectangle 16"/>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90278149" name="TextBox 17"/>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notebooks/09-visualizing-distribution.ipynb · contributor: Asif Hassan</a:t>
            </a:r>
            <a:endParaRPr/>
          </a:p>
        </p:txBody>
      </p:sp>
      <p:sp>
        <p:nvSpPr>
          <p:cNvPr id="1878465017" name="TextBox 18"/>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2412115"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EDA STEP 10</a:t>
            </a:r>
            <a:endParaRPr/>
          </a:p>
        </p:txBody>
      </p:sp>
      <p:sp>
        <p:nvSpPr>
          <p:cNvPr id="730417581"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Step 10 · Regression model</a:t>
            </a:r>
            <a:endParaRPr/>
          </a:p>
        </p:txBody>
      </p:sp>
      <p:sp>
        <p:nvSpPr>
          <p:cNvPr id="209692159"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Objective: check whether the patterns found descriptively also separate leavers from stayers when fitted together.</a:t>
            </a:r>
            <a:endParaRPr/>
          </a:p>
        </p:txBody>
      </p:sp>
      <p:sp>
        <p:nvSpPr>
          <p:cNvPr id="1128432419"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735654083" name="Picture 5" descr="10_confusion.png"/>
          <p:cNvPicPr>
            <a:picLocks noChangeAspect="1"/>
          </p:cNvPicPr>
          <p:nvPr/>
        </p:nvPicPr>
        <p:blipFill rotWithShape="1">
          <a:blip r:embed="rId3"/>
          <a:stretch/>
        </p:blipFill>
        <p:spPr bwMode="auto">
          <a:xfrm>
            <a:off x="721547" y="1792224"/>
            <a:ext cx="2936881" cy="2468880"/>
          </a:xfrm>
          <a:prstGeom prst="rect">
            <a:avLst/>
          </a:prstGeom>
        </p:spPr>
      </p:pic>
      <p:pic>
        <p:nvPicPr>
          <p:cNvPr id="849630718" name="Picture 6" descr="10_coefficients.png"/>
          <p:cNvPicPr>
            <a:picLocks noChangeAspect="1"/>
          </p:cNvPicPr>
          <p:nvPr/>
        </p:nvPicPr>
        <p:blipFill rotWithShape="1">
          <a:blip r:embed="rId4"/>
          <a:stretch/>
        </p:blipFill>
        <p:spPr bwMode="auto">
          <a:xfrm>
            <a:off x="5117252" y="1572768"/>
            <a:ext cx="5386463" cy="3063240"/>
          </a:xfrm>
          <a:prstGeom prst="rect">
            <a:avLst/>
          </a:prstGeom>
        </p:spPr>
      </p:pic>
      <p:sp>
        <p:nvSpPr>
          <p:cNvPr id="1847522763" name="Rectangle 7"/>
          <p:cNvSpPr/>
          <p:nvPr/>
        </p:nvSpPr>
        <p:spPr bwMode="auto">
          <a:xfrm>
            <a:off x="566928" y="4352544"/>
            <a:ext cx="1549907" cy="932688"/>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2753832" name="Rectangle 8"/>
          <p:cNvSpPr/>
          <p:nvPr/>
        </p:nvSpPr>
        <p:spPr bwMode="auto">
          <a:xfrm>
            <a:off x="566928" y="4352544"/>
            <a:ext cx="41148" cy="93268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05727750" name="TextBox 9"/>
          <p:cNvSpPr txBox="1"/>
          <p:nvPr/>
        </p:nvSpPr>
        <p:spPr bwMode="auto">
          <a:xfrm>
            <a:off x="804672" y="4507992"/>
            <a:ext cx="1147572"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86.0%</a:t>
            </a:r>
            <a:endParaRPr/>
          </a:p>
        </p:txBody>
      </p:sp>
      <p:sp>
        <p:nvSpPr>
          <p:cNvPr id="57287232" name="TextBox 10"/>
          <p:cNvSpPr txBox="1"/>
          <p:nvPr/>
        </p:nvSpPr>
        <p:spPr bwMode="auto">
          <a:xfrm>
            <a:off x="804672" y="5010912"/>
            <a:ext cx="1147572"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Accuracy</a:t>
            </a:r>
            <a:endParaRPr/>
          </a:p>
        </p:txBody>
      </p:sp>
      <p:sp>
        <p:nvSpPr>
          <p:cNvPr id="1355766390" name="TextBox 11"/>
          <p:cNvSpPr txBox="1"/>
          <p:nvPr/>
        </p:nvSpPr>
        <p:spPr bwMode="auto">
          <a:xfrm>
            <a:off x="804672" y="5248656"/>
            <a:ext cx="1147572"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294 held-out rows</a:t>
            </a:r>
            <a:endParaRPr/>
          </a:p>
        </p:txBody>
      </p:sp>
      <p:sp>
        <p:nvSpPr>
          <p:cNvPr id="1829123165" name="Rectangle 12"/>
          <p:cNvSpPr/>
          <p:nvPr/>
        </p:nvSpPr>
        <p:spPr bwMode="auto">
          <a:xfrm>
            <a:off x="2263140" y="4352544"/>
            <a:ext cx="1549907" cy="932688"/>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00406489" name="Rectangle 13"/>
          <p:cNvSpPr/>
          <p:nvPr/>
        </p:nvSpPr>
        <p:spPr bwMode="auto">
          <a:xfrm>
            <a:off x="2263140" y="4352544"/>
            <a:ext cx="41148" cy="932688"/>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34694328" name="TextBox 14"/>
          <p:cNvSpPr txBox="1"/>
          <p:nvPr/>
        </p:nvSpPr>
        <p:spPr bwMode="auto">
          <a:xfrm>
            <a:off x="2500884" y="4507992"/>
            <a:ext cx="1147572" cy="475488"/>
          </a:xfrm>
          <a:prstGeom prst="rect">
            <a:avLst/>
          </a:prstGeom>
          <a:noFill/>
        </p:spPr>
        <p:txBody>
          <a:bodyPr wrap="square" lIns="0" tIns="0" rIns="0" bIns="0" anchor="t">
            <a:spAutoFit/>
          </a:bodyPr>
          <a:lstStyle/>
          <a:p>
            <a:pPr algn="l">
              <a:lnSpc>
                <a:spcPct val="124000"/>
              </a:lnSpc>
              <a:spcAft>
                <a:spcPts val="0"/>
              </a:spcAft>
              <a:defRPr/>
            </a:pPr>
            <a:r>
              <a:rPr sz="2900" b="1" i="0">
                <a:solidFill>
                  <a:srgbClr val="0B0B0B"/>
                </a:solidFill>
                <a:latin typeface="Segoe UI"/>
              </a:rPr>
              <a:t>0.811</a:t>
            </a:r>
            <a:endParaRPr/>
          </a:p>
        </p:txBody>
      </p:sp>
      <p:sp>
        <p:nvSpPr>
          <p:cNvPr id="816188311" name="TextBox 15"/>
          <p:cNvSpPr txBox="1"/>
          <p:nvPr/>
        </p:nvSpPr>
        <p:spPr bwMode="auto">
          <a:xfrm>
            <a:off x="2500884" y="5010912"/>
            <a:ext cx="1147572" cy="219456"/>
          </a:xfrm>
          <a:prstGeom prst="rect">
            <a:avLst/>
          </a:prstGeom>
          <a:noFill/>
        </p:spPr>
        <p:txBody>
          <a:bodyPr wrap="square" lIns="0" tIns="0" rIns="0" bIns="0" anchor="t">
            <a:spAutoFit/>
          </a:bodyPr>
          <a:lstStyle/>
          <a:p>
            <a:pPr algn="l">
              <a:lnSpc>
                <a:spcPct val="124000"/>
              </a:lnSpc>
              <a:spcAft>
                <a:spcPts val="0"/>
              </a:spcAft>
              <a:defRPr/>
            </a:pPr>
            <a:r>
              <a:rPr sz="1050" b="1" i="0">
                <a:solidFill>
                  <a:srgbClr val="52514E"/>
                </a:solidFill>
                <a:latin typeface="Segoe UI"/>
              </a:rPr>
              <a:t>ROC-AUC</a:t>
            </a:r>
            <a:endParaRPr/>
          </a:p>
        </p:txBody>
      </p:sp>
      <p:sp>
        <p:nvSpPr>
          <p:cNvPr id="2019128004" name="TextBox 16"/>
          <p:cNvSpPr txBox="1"/>
          <p:nvPr/>
        </p:nvSpPr>
        <p:spPr bwMode="auto">
          <a:xfrm>
            <a:off x="2500884" y="5248656"/>
            <a:ext cx="1147572" cy="237744"/>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ranking quality</a:t>
            </a:r>
            <a:endParaRPr/>
          </a:p>
        </p:txBody>
      </p:sp>
      <p:sp>
        <p:nvSpPr>
          <p:cNvPr id="252872983" name="Rectangle 17"/>
          <p:cNvSpPr/>
          <p:nvPr/>
        </p:nvSpPr>
        <p:spPr bwMode="auto">
          <a:xfrm>
            <a:off x="566928" y="4846320"/>
            <a:ext cx="5401040" cy="1298448"/>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10384069" name="Rectangle 18"/>
          <p:cNvSpPr/>
          <p:nvPr/>
        </p:nvSpPr>
        <p:spPr bwMode="auto">
          <a:xfrm>
            <a:off x="566928" y="4846320"/>
            <a:ext cx="41148" cy="1298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4040581" name="TextBox 19"/>
          <p:cNvSpPr txBox="1"/>
          <p:nvPr/>
        </p:nvSpPr>
        <p:spPr bwMode="auto">
          <a:xfrm>
            <a:off x="786384" y="4983480"/>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2A78D6"/>
                </a:solidFill>
                <a:latin typeface="Segoe UI"/>
              </a:rPr>
              <a:t>FINDING</a:t>
            </a:r>
            <a:endParaRPr/>
          </a:p>
        </p:txBody>
      </p:sp>
      <p:sp>
        <p:nvSpPr>
          <p:cNvPr id="1676909918" name="TextBox 20"/>
          <p:cNvSpPr txBox="1"/>
          <p:nvPr/>
        </p:nvSpPr>
        <p:spPr bwMode="auto">
          <a:xfrm>
            <a:off x="786384" y="5230368"/>
            <a:ext cx="4998704" cy="804671"/>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86.0% accuracy is misleading: the model recalls only 34% of actual leavers (16 of 47) at 62% precision, while recalling 96% of stayers. ROC-AUC of 0.811 says it ranks risk reasonably even though its yes/no calls on leavers are poor.</a:t>
            </a:r>
            <a:endParaRPr/>
          </a:p>
        </p:txBody>
      </p:sp>
      <p:sp>
        <p:nvSpPr>
          <p:cNvPr id="835181389" name="Rectangle 21"/>
          <p:cNvSpPr/>
          <p:nvPr/>
        </p:nvSpPr>
        <p:spPr bwMode="auto">
          <a:xfrm>
            <a:off x="6224000" y="4846320"/>
            <a:ext cx="5401040" cy="1298448"/>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89500821" name="Rectangle 22"/>
          <p:cNvSpPr/>
          <p:nvPr/>
        </p:nvSpPr>
        <p:spPr bwMode="auto">
          <a:xfrm>
            <a:off x="6224000" y="4846320"/>
            <a:ext cx="41148" cy="1298448"/>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05495326" name="TextBox 23"/>
          <p:cNvSpPr txBox="1"/>
          <p:nvPr/>
        </p:nvSpPr>
        <p:spPr bwMode="auto">
          <a:xfrm>
            <a:off x="6443456" y="4983480"/>
            <a:ext cx="4998704"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INTERPRETATION</a:t>
            </a:r>
            <a:endParaRPr/>
          </a:p>
        </p:txBody>
      </p:sp>
      <p:sp>
        <p:nvSpPr>
          <p:cNvPr id="296912815" name="TextBox 24"/>
          <p:cNvSpPr txBox="1"/>
          <p:nvPr/>
        </p:nvSpPr>
        <p:spPr bwMode="auto">
          <a:xfrm>
            <a:off x="6443455" y="5230368"/>
            <a:ext cx="4999783" cy="1104498"/>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 coefficients agree with the descriptive work, overtime is the largest positive weight at +1.80, and Research Director the largest negative at −1.05. A coefficient is still an association inside this model, not a cause, and magnitudes are not directly comparable because only the continuous features were scaled.</a:t>
            </a:r>
            <a:endParaRPr/>
          </a:p>
        </p:txBody>
      </p:sp>
      <p:sp>
        <p:nvSpPr>
          <p:cNvPr id="1268609483" name="Rectangle 25"/>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94914936" name="TextBox 26"/>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notebooks/10-regression-model.ipynb</a:t>
            </a:r>
            <a:endParaRPr/>
          </a:p>
        </p:txBody>
      </p:sp>
      <p:sp>
        <p:nvSpPr>
          <p:cNvPr id="1380593440" name="TextBox 27"/>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5536880"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KEY FINDINGS</a:t>
            </a:r>
            <a:endParaRPr/>
          </a:p>
        </p:txBody>
      </p:sp>
      <p:sp>
        <p:nvSpPr>
          <p:cNvPr id="1287036287"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What the analysis established</a:t>
            </a:r>
            <a:endParaRPr/>
          </a:p>
        </p:txBody>
      </p:sp>
      <p:sp>
        <p:nvSpPr>
          <p:cNvPr id="2131438111"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Ranked by strength of evidence — gap size, segment headcount and how many independent measures agree.</a:t>
            </a:r>
            <a:endParaRPr/>
          </a:p>
        </p:txBody>
      </p:sp>
      <p:sp>
        <p:nvSpPr>
          <p:cNvPr id="944666662"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65961220" name="Rectangle 5"/>
          <p:cNvSpPr/>
          <p:nvPr/>
        </p:nvSpPr>
        <p:spPr bwMode="auto">
          <a:xfrm>
            <a:off x="566928" y="1700784"/>
            <a:ext cx="11058113" cy="722376"/>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55591658" name="Rectangle 6"/>
          <p:cNvSpPr/>
          <p:nvPr/>
        </p:nvSpPr>
        <p:spPr bwMode="auto">
          <a:xfrm>
            <a:off x="566928" y="1700784"/>
            <a:ext cx="41148" cy="72237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83782295" name="TextBox 7"/>
          <p:cNvSpPr txBox="1"/>
          <p:nvPr/>
        </p:nvSpPr>
        <p:spPr bwMode="auto">
          <a:xfrm>
            <a:off x="768096" y="1883664"/>
            <a:ext cx="310896" cy="329184"/>
          </a:xfrm>
          <a:prstGeom prst="rect">
            <a:avLst/>
          </a:prstGeom>
          <a:noFill/>
        </p:spPr>
        <p:txBody>
          <a:bodyPr wrap="square" lIns="0" tIns="0" rIns="0" bIns="0" anchor="t">
            <a:spAutoFit/>
          </a:bodyPr>
          <a:lstStyle/>
          <a:p>
            <a:pPr algn="l">
              <a:lnSpc>
                <a:spcPct val="124000"/>
              </a:lnSpc>
              <a:spcAft>
                <a:spcPts val="0"/>
              </a:spcAft>
              <a:defRPr/>
            </a:pPr>
            <a:r>
              <a:rPr sz="1700" b="1" i="0">
                <a:solidFill>
                  <a:srgbClr val="2A78D6"/>
                </a:solidFill>
                <a:latin typeface="Segoe UI"/>
              </a:rPr>
              <a:t>1</a:t>
            </a:r>
            <a:endParaRPr/>
          </a:p>
        </p:txBody>
      </p:sp>
      <p:sp>
        <p:nvSpPr>
          <p:cNvPr id="1392508845" name="TextBox 8"/>
          <p:cNvSpPr txBox="1"/>
          <p:nvPr/>
        </p:nvSpPr>
        <p:spPr bwMode="auto">
          <a:xfrm>
            <a:off x="1133856" y="1792224"/>
            <a:ext cx="3493008" cy="566928"/>
          </a:xfrm>
          <a:prstGeom prst="rect">
            <a:avLst/>
          </a:prstGeom>
          <a:noFill/>
        </p:spPr>
        <p:txBody>
          <a:bodyPr wrap="square" lIns="0" tIns="0" rIns="0" bIns="0" anchor="ctr">
            <a:spAutoFit/>
          </a:bodyPr>
          <a:lstStyle/>
          <a:p>
            <a:pPr algn="l">
              <a:lnSpc>
                <a:spcPct val="115999"/>
              </a:lnSpc>
              <a:spcAft>
                <a:spcPts val="0"/>
              </a:spcAft>
              <a:defRPr/>
            </a:pPr>
            <a:r>
              <a:rPr sz="1150" b="1" i="0">
                <a:solidFill>
                  <a:srgbClr val="0B0B0B"/>
                </a:solidFill>
                <a:latin typeface="Segoe UI"/>
              </a:rPr>
              <a:t>Attrition is an early-tenure phenomenon</a:t>
            </a:r>
            <a:endParaRPr/>
          </a:p>
        </p:txBody>
      </p:sp>
      <p:sp>
        <p:nvSpPr>
          <p:cNvPr id="890006374" name="TextBox 9"/>
          <p:cNvSpPr txBox="1"/>
          <p:nvPr/>
        </p:nvSpPr>
        <p:spPr bwMode="auto">
          <a:xfrm>
            <a:off x="4736592" y="1792224"/>
            <a:ext cx="3529584"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29.82% in the first two years vs 8.13% after eleven; 27.91% in a first year in role; 28.32% in a first year with a manager; 43.90% in a first two years of career</a:t>
            </a:r>
            <a:endParaRPr/>
          </a:p>
        </p:txBody>
      </p:sp>
      <p:sp>
        <p:nvSpPr>
          <p:cNvPr id="1651661537" name="TextBox 10"/>
          <p:cNvSpPr txBox="1"/>
          <p:nvPr/>
        </p:nvSpPr>
        <p:spPr bwMode="auto">
          <a:xfrm>
            <a:off x="8375903" y="1792224"/>
            <a:ext cx="3066257"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The strongest result in the project — four independent tenure clocks agree, on large segments. Retention effort has a clear window.</a:t>
            </a:r>
            <a:endParaRPr/>
          </a:p>
        </p:txBody>
      </p:sp>
      <p:sp>
        <p:nvSpPr>
          <p:cNvPr id="1065904212" name="Rectangle 11"/>
          <p:cNvSpPr/>
          <p:nvPr/>
        </p:nvSpPr>
        <p:spPr bwMode="auto">
          <a:xfrm>
            <a:off x="566928" y="2473452"/>
            <a:ext cx="11058113"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20166802" name="Rectangle 12"/>
          <p:cNvSpPr/>
          <p:nvPr/>
        </p:nvSpPr>
        <p:spPr bwMode="auto">
          <a:xfrm>
            <a:off x="566928" y="2473452"/>
            <a:ext cx="41148" cy="72237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3490580" name="TextBox 13"/>
          <p:cNvSpPr txBox="1"/>
          <p:nvPr/>
        </p:nvSpPr>
        <p:spPr bwMode="auto">
          <a:xfrm>
            <a:off x="768096" y="2656332"/>
            <a:ext cx="310896" cy="329184"/>
          </a:xfrm>
          <a:prstGeom prst="rect">
            <a:avLst/>
          </a:prstGeom>
          <a:noFill/>
        </p:spPr>
        <p:txBody>
          <a:bodyPr wrap="square" lIns="0" tIns="0" rIns="0" bIns="0" anchor="t">
            <a:spAutoFit/>
          </a:bodyPr>
          <a:lstStyle/>
          <a:p>
            <a:pPr algn="l">
              <a:lnSpc>
                <a:spcPct val="124000"/>
              </a:lnSpc>
              <a:spcAft>
                <a:spcPts val="0"/>
              </a:spcAft>
              <a:defRPr/>
            </a:pPr>
            <a:r>
              <a:rPr sz="1700" b="1" i="0">
                <a:solidFill>
                  <a:srgbClr val="2A78D6"/>
                </a:solidFill>
                <a:latin typeface="Segoe UI"/>
              </a:rPr>
              <a:t>2</a:t>
            </a:r>
            <a:endParaRPr/>
          </a:p>
        </p:txBody>
      </p:sp>
      <p:sp>
        <p:nvSpPr>
          <p:cNvPr id="898730746" name="TextBox 14"/>
          <p:cNvSpPr txBox="1"/>
          <p:nvPr/>
        </p:nvSpPr>
        <p:spPr bwMode="auto">
          <a:xfrm>
            <a:off x="1133856" y="2564892"/>
            <a:ext cx="3493008" cy="566928"/>
          </a:xfrm>
          <a:prstGeom prst="rect">
            <a:avLst/>
          </a:prstGeom>
          <a:noFill/>
        </p:spPr>
        <p:txBody>
          <a:bodyPr wrap="square" lIns="0" tIns="0" rIns="0" bIns="0" anchor="ctr">
            <a:spAutoFit/>
          </a:bodyPr>
          <a:lstStyle/>
          <a:p>
            <a:pPr algn="l">
              <a:lnSpc>
                <a:spcPct val="115999"/>
              </a:lnSpc>
              <a:spcAft>
                <a:spcPts val="0"/>
              </a:spcAft>
              <a:defRPr/>
            </a:pPr>
            <a:r>
              <a:rPr sz="1150" b="1" i="0">
                <a:solidFill>
                  <a:srgbClr val="0B0B0B"/>
                </a:solidFill>
                <a:latin typeface="Segoe UI"/>
              </a:rPr>
              <a:t>Seniority travels with staying</a:t>
            </a:r>
            <a:endParaRPr/>
          </a:p>
        </p:txBody>
      </p:sp>
      <p:sp>
        <p:nvSpPr>
          <p:cNvPr id="1919611849" name="TextBox 15"/>
          <p:cNvSpPr txBox="1"/>
          <p:nvPr/>
        </p:nvSpPr>
        <p:spPr bwMode="auto">
          <a:xfrm>
            <a:off x="4736592" y="2564892"/>
            <a:ext cx="3529584"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Job level 1: 26.34% on 543 employees, +55 excess departures. Levels 2–5 all below baseline, down to 4.72%</a:t>
            </a:r>
            <a:endParaRPr/>
          </a:p>
        </p:txBody>
      </p:sp>
      <p:sp>
        <p:nvSpPr>
          <p:cNvPr id="2080331290" name="TextBox 16"/>
          <p:cNvSpPr txBox="1"/>
          <p:nvPr/>
        </p:nvSpPr>
        <p:spPr bwMode="auto">
          <a:xfrm>
            <a:off x="8375903" y="2564892"/>
            <a:ext cx="3066257"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The largest excess of any single segment. Entry level is where the volume of preventable loss sits.</a:t>
            </a:r>
            <a:endParaRPr/>
          </a:p>
        </p:txBody>
      </p:sp>
      <p:sp>
        <p:nvSpPr>
          <p:cNvPr id="95902445" name="Rectangle 17"/>
          <p:cNvSpPr/>
          <p:nvPr/>
        </p:nvSpPr>
        <p:spPr bwMode="auto">
          <a:xfrm>
            <a:off x="566928" y="3246120"/>
            <a:ext cx="11058113" cy="722376"/>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46388608" name="Rectangle 18"/>
          <p:cNvSpPr/>
          <p:nvPr/>
        </p:nvSpPr>
        <p:spPr bwMode="auto">
          <a:xfrm>
            <a:off x="566928" y="3246120"/>
            <a:ext cx="41148" cy="72237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86185269" name="TextBox 19"/>
          <p:cNvSpPr txBox="1"/>
          <p:nvPr/>
        </p:nvSpPr>
        <p:spPr bwMode="auto">
          <a:xfrm>
            <a:off x="768096" y="3429000"/>
            <a:ext cx="310896" cy="329184"/>
          </a:xfrm>
          <a:prstGeom prst="rect">
            <a:avLst/>
          </a:prstGeom>
          <a:noFill/>
        </p:spPr>
        <p:txBody>
          <a:bodyPr wrap="square" lIns="0" tIns="0" rIns="0" bIns="0" anchor="t">
            <a:spAutoFit/>
          </a:bodyPr>
          <a:lstStyle/>
          <a:p>
            <a:pPr algn="l">
              <a:lnSpc>
                <a:spcPct val="124000"/>
              </a:lnSpc>
              <a:spcAft>
                <a:spcPts val="0"/>
              </a:spcAft>
              <a:defRPr/>
            </a:pPr>
            <a:r>
              <a:rPr sz="1700" b="1" i="0">
                <a:solidFill>
                  <a:srgbClr val="2A78D6"/>
                </a:solidFill>
                <a:latin typeface="Segoe UI"/>
              </a:rPr>
              <a:t>3</a:t>
            </a:r>
            <a:endParaRPr/>
          </a:p>
        </p:txBody>
      </p:sp>
      <p:sp>
        <p:nvSpPr>
          <p:cNvPr id="1096416551" name="TextBox 20"/>
          <p:cNvSpPr txBox="1"/>
          <p:nvPr/>
        </p:nvSpPr>
        <p:spPr bwMode="auto">
          <a:xfrm>
            <a:off x="1133856" y="3337560"/>
            <a:ext cx="3493008" cy="566928"/>
          </a:xfrm>
          <a:prstGeom prst="rect">
            <a:avLst/>
          </a:prstGeom>
          <a:noFill/>
        </p:spPr>
        <p:txBody>
          <a:bodyPr wrap="square" lIns="0" tIns="0" rIns="0" bIns="0" anchor="ctr">
            <a:spAutoFit/>
          </a:bodyPr>
          <a:lstStyle/>
          <a:p>
            <a:pPr algn="l">
              <a:lnSpc>
                <a:spcPct val="115999"/>
              </a:lnSpc>
              <a:spcAft>
                <a:spcPts val="0"/>
              </a:spcAft>
              <a:defRPr/>
            </a:pPr>
            <a:r>
              <a:rPr sz="1150" b="1" i="0">
                <a:solidFill>
                  <a:srgbClr val="0B0B0B"/>
                </a:solidFill>
                <a:latin typeface="Segoe UI"/>
              </a:rPr>
              <a:t>Overtime carries the largest single-condition gap</a:t>
            </a:r>
            <a:endParaRPr/>
          </a:p>
        </p:txBody>
      </p:sp>
      <p:sp>
        <p:nvSpPr>
          <p:cNvPr id="793920016" name="TextBox 21"/>
          <p:cNvSpPr txBox="1"/>
          <p:nvPr/>
        </p:nvSpPr>
        <p:spPr bwMode="auto">
          <a:xfrm>
            <a:off x="4736592" y="3337560"/>
            <a:ext cx="3529584"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30.53% of 416 employees working overtime left, vs 10.44% of 1,054 who did not — +14.4 pp; largest positive model coefficient at +1.80</a:t>
            </a:r>
            <a:endParaRPr/>
          </a:p>
        </p:txBody>
      </p:sp>
      <p:sp>
        <p:nvSpPr>
          <p:cNvPr id="737276541" name="TextBox 22"/>
          <p:cNvSpPr txBox="1"/>
          <p:nvPr/>
        </p:nvSpPr>
        <p:spPr bwMode="auto">
          <a:xfrm>
            <a:off x="8375903" y="3337560"/>
            <a:ext cx="3066257"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Both the descriptive rates and the fitted model agree, on a large group. The most actionable-looking association in the data.</a:t>
            </a:r>
            <a:endParaRPr/>
          </a:p>
        </p:txBody>
      </p:sp>
      <p:sp>
        <p:nvSpPr>
          <p:cNvPr id="1560857120" name="Rectangle 23"/>
          <p:cNvSpPr/>
          <p:nvPr/>
        </p:nvSpPr>
        <p:spPr bwMode="auto">
          <a:xfrm>
            <a:off x="566928" y="4018788"/>
            <a:ext cx="11058113"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232980" name="Rectangle 24"/>
          <p:cNvSpPr/>
          <p:nvPr/>
        </p:nvSpPr>
        <p:spPr bwMode="auto">
          <a:xfrm>
            <a:off x="566928" y="4018788"/>
            <a:ext cx="41148" cy="72237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64533876" name="TextBox 25"/>
          <p:cNvSpPr txBox="1"/>
          <p:nvPr/>
        </p:nvSpPr>
        <p:spPr bwMode="auto">
          <a:xfrm>
            <a:off x="768096" y="4201668"/>
            <a:ext cx="310896" cy="329184"/>
          </a:xfrm>
          <a:prstGeom prst="rect">
            <a:avLst/>
          </a:prstGeom>
          <a:noFill/>
        </p:spPr>
        <p:txBody>
          <a:bodyPr wrap="square" lIns="0" tIns="0" rIns="0" bIns="0" anchor="t">
            <a:spAutoFit/>
          </a:bodyPr>
          <a:lstStyle/>
          <a:p>
            <a:pPr algn="l">
              <a:lnSpc>
                <a:spcPct val="124000"/>
              </a:lnSpc>
              <a:spcAft>
                <a:spcPts val="0"/>
              </a:spcAft>
              <a:defRPr/>
            </a:pPr>
            <a:r>
              <a:rPr sz="1700" b="1" i="0">
                <a:solidFill>
                  <a:srgbClr val="2A78D6"/>
                </a:solidFill>
                <a:latin typeface="Segoe UI"/>
              </a:rPr>
              <a:t>4</a:t>
            </a:r>
            <a:endParaRPr/>
          </a:p>
        </p:txBody>
      </p:sp>
      <p:sp>
        <p:nvSpPr>
          <p:cNvPr id="1200035604" name="TextBox 26"/>
          <p:cNvSpPr txBox="1"/>
          <p:nvPr/>
        </p:nvSpPr>
        <p:spPr bwMode="auto">
          <a:xfrm>
            <a:off x="1133856" y="4110228"/>
            <a:ext cx="3493008" cy="566928"/>
          </a:xfrm>
          <a:prstGeom prst="rect">
            <a:avLst/>
          </a:prstGeom>
          <a:noFill/>
        </p:spPr>
        <p:txBody>
          <a:bodyPr wrap="square" lIns="0" tIns="0" rIns="0" bIns="0" anchor="ctr">
            <a:spAutoFit/>
          </a:bodyPr>
          <a:lstStyle/>
          <a:p>
            <a:pPr algn="l">
              <a:lnSpc>
                <a:spcPct val="115999"/>
              </a:lnSpc>
              <a:spcAft>
                <a:spcPts val="0"/>
              </a:spcAft>
              <a:defRPr/>
            </a:pPr>
            <a:r>
              <a:rPr sz="1150" b="1" i="0">
                <a:solidFill>
                  <a:srgbClr val="0B0B0B"/>
                </a:solidFill>
                <a:latin typeface="Segoe UI"/>
              </a:rPr>
              <a:t>Attrition concentrates in specific operational roles</a:t>
            </a:r>
            <a:endParaRPr/>
          </a:p>
        </p:txBody>
      </p:sp>
      <p:sp>
        <p:nvSpPr>
          <p:cNvPr id="558893866" name="TextBox 27"/>
          <p:cNvSpPr txBox="1"/>
          <p:nvPr/>
        </p:nvSpPr>
        <p:spPr bwMode="auto">
          <a:xfrm>
            <a:off x="4736592" y="4110228"/>
            <a:ext cx="3529584"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Sales Representative 39.76% (2.47× baseline); Laboratory Technician 23.94%; both ~+20 excess departures</a:t>
            </a:r>
            <a:endParaRPr/>
          </a:p>
        </p:txBody>
      </p:sp>
      <p:sp>
        <p:nvSpPr>
          <p:cNvPr id="1794511010" name="TextBox 28"/>
          <p:cNvSpPr txBox="1"/>
          <p:nvPr/>
        </p:nvSpPr>
        <p:spPr bwMode="auto">
          <a:xfrm>
            <a:off x="8375903" y="4110228"/>
            <a:ext cx="3066257"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Rate and volume point to different roles, so targeting needs both views. These are also largely entry-level roles.</a:t>
            </a:r>
            <a:endParaRPr/>
          </a:p>
        </p:txBody>
      </p:sp>
      <p:sp>
        <p:nvSpPr>
          <p:cNvPr id="1202451044" name="Rectangle 29"/>
          <p:cNvSpPr/>
          <p:nvPr/>
        </p:nvSpPr>
        <p:spPr bwMode="auto">
          <a:xfrm>
            <a:off x="566928" y="4791456"/>
            <a:ext cx="11058113" cy="722376"/>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873685434" name="Rectangle 30"/>
          <p:cNvSpPr/>
          <p:nvPr/>
        </p:nvSpPr>
        <p:spPr bwMode="auto">
          <a:xfrm>
            <a:off x="566928" y="4791456"/>
            <a:ext cx="41148" cy="722376"/>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42440166" name="TextBox 31"/>
          <p:cNvSpPr txBox="1"/>
          <p:nvPr/>
        </p:nvSpPr>
        <p:spPr bwMode="auto">
          <a:xfrm>
            <a:off x="768096" y="4974336"/>
            <a:ext cx="310896" cy="329184"/>
          </a:xfrm>
          <a:prstGeom prst="rect">
            <a:avLst/>
          </a:prstGeom>
          <a:noFill/>
        </p:spPr>
        <p:txBody>
          <a:bodyPr wrap="square" lIns="0" tIns="0" rIns="0" bIns="0" anchor="t">
            <a:spAutoFit/>
          </a:bodyPr>
          <a:lstStyle/>
          <a:p>
            <a:pPr algn="l">
              <a:lnSpc>
                <a:spcPct val="124000"/>
              </a:lnSpc>
              <a:spcAft>
                <a:spcPts val="0"/>
              </a:spcAft>
              <a:defRPr/>
            </a:pPr>
            <a:r>
              <a:rPr sz="1700" b="1" i="0">
                <a:solidFill>
                  <a:srgbClr val="898781"/>
                </a:solidFill>
                <a:latin typeface="Segoe UI"/>
              </a:rPr>
              <a:t>5</a:t>
            </a:r>
            <a:endParaRPr/>
          </a:p>
        </p:txBody>
      </p:sp>
      <p:sp>
        <p:nvSpPr>
          <p:cNvPr id="343835869" name="TextBox 32"/>
          <p:cNvSpPr txBox="1"/>
          <p:nvPr/>
        </p:nvSpPr>
        <p:spPr bwMode="auto">
          <a:xfrm>
            <a:off x="1133856" y="4882896"/>
            <a:ext cx="3493008" cy="566928"/>
          </a:xfrm>
          <a:prstGeom prst="rect">
            <a:avLst/>
          </a:prstGeom>
          <a:noFill/>
        </p:spPr>
        <p:txBody>
          <a:bodyPr wrap="square" lIns="0" tIns="0" rIns="0" bIns="0" anchor="ctr">
            <a:spAutoFit/>
          </a:bodyPr>
          <a:lstStyle/>
          <a:p>
            <a:pPr algn="l">
              <a:lnSpc>
                <a:spcPct val="115999"/>
              </a:lnSpc>
              <a:spcAft>
                <a:spcPts val="0"/>
              </a:spcAft>
              <a:defRPr/>
            </a:pPr>
            <a:r>
              <a:rPr sz="1150" b="1" i="0">
                <a:solidFill>
                  <a:srgbClr val="0B0B0B"/>
                </a:solidFill>
                <a:latin typeface="Segoe UI"/>
              </a:rPr>
              <a:t>Lower pay is associated with leaving</a:t>
            </a:r>
            <a:endParaRPr/>
          </a:p>
        </p:txBody>
      </p:sp>
      <p:sp>
        <p:nvSpPr>
          <p:cNvPr id="1105524215" name="TextBox 33"/>
          <p:cNvSpPr txBox="1"/>
          <p:nvPr/>
        </p:nvSpPr>
        <p:spPr bwMode="auto">
          <a:xfrm>
            <a:off x="4736592" y="4882896"/>
            <a:ext cx="3529584"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Lowest income quartile (≤$2,911): 29.27% vs 10.34% in the top quartile; correlation −0.160</a:t>
            </a:r>
            <a:endParaRPr/>
          </a:p>
        </p:txBody>
      </p:sp>
      <p:sp>
        <p:nvSpPr>
          <p:cNvPr id="196474097" name="TextBox 34"/>
          <p:cNvSpPr txBox="1"/>
          <p:nvPr/>
        </p:nvSpPr>
        <p:spPr bwMode="auto">
          <a:xfrm>
            <a:off x="8375903" y="4882896"/>
            <a:ext cx="3066257"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Real as a gap, but heavily confounded with level and tenure — the analysis did not control for them.</a:t>
            </a:r>
            <a:endParaRPr/>
          </a:p>
        </p:txBody>
      </p:sp>
      <p:sp>
        <p:nvSpPr>
          <p:cNvPr id="1685909394" name="Rectangle 35"/>
          <p:cNvSpPr/>
          <p:nvPr/>
        </p:nvSpPr>
        <p:spPr bwMode="auto">
          <a:xfrm>
            <a:off x="566928" y="5564124"/>
            <a:ext cx="11058113"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23564205" name="Rectangle 36"/>
          <p:cNvSpPr/>
          <p:nvPr/>
        </p:nvSpPr>
        <p:spPr bwMode="auto">
          <a:xfrm>
            <a:off x="566928" y="5564124"/>
            <a:ext cx="41148" cy="722376"/>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5660667" name="TextBox 37"/>
          <p:cNvSpPr txBox="1"/>
          <p:nvPr/>
        </p:nvSpPr>
        <p:spPr bwMode="auto">
          <a:xfrm>
            <a:off x="768096" y="5747004"/>
            <a:ext cx="310896" cy="329184"/>
          </a:xfrm>
          <a:prstGeom prst="rect">
            <a:avLst/>
          </a:prstGeom>
          <a:noFill/>
        </p:spPr>
        <p:txBody>
          <a:bodyPr wrap="square" lIns="0" tIns="0" rIns="0" bIns="0" anchor="t">
            <a:spAutoFit/>
          </a:bodyPr>
          <a:lstStyle/>
          <a:p>
            <a:pPr algn="l">
              <a:lnSpc>
                <a:spcPct val="124000"/>
              </a:lnSpc>
              <a:spcAft>
                <a:spcPts val="0"/>
              </a:spcAft>
              <a:defRPr/>
            </a:pPr>
            <a:r>
              <a:rPr sz="1700" b="1" i="0">
                <a:solidFill>
                  <a:srgbClr val="898781"/>
                </a:solidFill>
                <a:latin typeface="Segoe UI"/>
              </a:rPr>
              <a:t>6</a:t>
            </a:r>
            <a:endParaRPr/>
          </a:p>
        </p:txBody>
      </p:sp>
      <p:sp>
        <p:nvSpPr>
          <p:cNvPr id="1926954455" name="TextBox 38"/>
          <p:cNvSpPr txBox="1"/>
          <p:nvPr/>
        </p:nvSpPr>
        <p:spPr bwMode="auto">
          <a:xfrm>
            <a:off x="1133856" y="5655564"/>
            <a:ext cx="3493008" cy="566928"/>
          </a:xfrm>
          <a:prstGeom prst="rect">
            <a:avLst/>
          </a:prstGeom>
          <a:noFill/>
        </p:spPr>
        <p:txBody>
          <a:bodyPr wrap="square" lIns="0" tIns="0" rIns="0" bIns="0" anchor="ctr">
            <a:spAutoFit/>
          </a:bodyPr>
          <a:lstStyle/>
          <a:p>
            <a:pPr algn="l">
              <a:lnSpc>
                <a:spcPct val="115999"/>
              </a:lnSpc>
              <a:spcAft>
                <a:spcPts val="0"/>
              </a:spcAft>
              <a:defRPr/>
            </a:pPr>
            <a:r>
              <a:rPr sz="1150" b="1" i="0">
                <a:solidFill>
                  <a:srgbClr val="0B0B0B"/>
                </a:solidFill>
                <a:latin typeface="Segoe UI"/>
              </a:rPr>
              <a:t>Low satisfaction shifts the rate, but modestly</a:t>
            </a:r>
            <a:endParaRPr/>
          </a:p>
        </p:txBody>
      </p:sp>
      <p:sp>
        <p:nvSpPr>
          <p:cNvPr id="1980321899" name="TextBox 39"/>
          <p:cNvSpPr txBox="1"/>
          <p:nvPr/>
        </p:nvSpPr>
        <p:spPr bwMode="auto">
          <a:xfrm>
            <a:off x="4736592" y="5655564"/>
            <a:ext cx="3529584"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Job involvement low 21.6% vs high 9.0%; environment satisfaction 20.1% vs 13.5%; job satisfaction 19.7% vs 11.3%</a:t>
            </a:r>
            <a:endParaRPr/>
          </a:p>
        </p:txBody>
      </p:sp>
      <p:sp>
        <p:nvSpPr>
          <p:cNvPr id="448263837" name="TextBox 40"/>
          <p:cNvSpPr txBox="1"/>
          <p:nvPr/>
        </p:nvSpPr>
        <p:spPr bwMode="auto">
          <a:xfrm>
            <a:off x="8375903" y="5655564"/>
            <a:ext cx="3066257" cy="566928"/>
          </a:xfrm>
          <a:prstGeom prst="rect">
            <a:avLst/>
          </a:prstGeom>
          <a:noFill/>
        </p:spPr>
        <p:txBody>
          <a:bodyPr wrap="square" lIns="0" tIns="0" rIns="0" bIns="0" anchor="ctr">
            <a:spAutoFit/>
          </a:bodyPr>
          <a:lstStyle/>
          <a:p>
            <a:pPr algn="l">
              <a:lnSpc>
                <a:spcPct val="120000"/>
              </a:lnSpc>
              <a:spcAft>
                <a:spcPts val="0"/>
              </a:spcAft>
              <a:defRPr/>
            </a:pPr>
            <a:r>
              <a:rPr sz="950" b="0" i="0">
                <a:solidFill>
                  <a:srgbClr val="52514E"/>
                </a:solidFill>
                <a:latin typeface="Segoe UI"/>
              </a:rPr>
              <a:t>Directionally consistent across all four survey scales, but every correlation is under 0.13 — weaker than tenure or overtime.</a:t>
            </a:r>
            <a:endParaRPr/>
          </a:p>
        </p:txBody>
      </p:sp>
      <p:sp>
        <p:nvSpPr>
          <p:cNvPr id="242589443" name="TextBox 41"/>
          <p:cNvSpPr txBox="1"/>
          <p:nvPr/>
        </p:nvSpPr>
        <p:spPr bwMode="auto">
          <a:xfrm>
            <a:off x="1133856" y="1463040"/>
            <a:ext cx="11058113" cy="201168"/>
          </a:xfrm>
          <a:prstGeom prst="rect">
            <a:avLst/>
          </a:prstGeom>
          <a:noFill/>
        </p:spPr>
        <p:txBody>
          <a:bodyPr wrap="square" lIns="0" tIns="0" rIns="0" bIns="0" anchor="t">
            <a:spAutoFit/>
          </a:bodyPr>
          <a:lstStyle/>
          <a:p>
            <a:pPr algn="l">
              <a:lnSpc>
                <a:spcPct val="124000"/>
              </a:lnSpc>
              <a:spcAft>
                <a:spcPts val="0"/>
              </a:spcAft>
              <a:defRPr/>
            </a:pPr>
            <a:r>
              <a:rPr sz="850" b="1" i="0">
                <a:solidFill>
                  <a:srgbClr val="898781"/>
                </a:solidFill>
                <a:latin typeface="Segoe UI"/>
              </a:rPr>
              <a:t>FINDING</a:t>
            </a:r>
            <a:endParaRPr/>
          </a:p>
        </p:txBody>
      </p:sp>
      <p:sp>
        <p:nvSpPr>
          <p:cNvPr id="1722046500" name="TextBox 42"/>
          <p:cNvSpPr txBox="1"/>
          <p:nvPr/>
        </p:nvSpPr>
        <p:spPr bwMode="auto">
          <a:xfrm>
            <a:off x="4736592" y="1463040"/>
            <a:ext cx="3566160" cy="201168"/>
          </a:xfrm>
          <a:prstGeom prst="rect">
            <a:avLst/>
          </a:prstGeom>
          <a:noFill/>
        </p:spPr>
        <p:txBody>
          <a:bodyPr wrap="square" lIns="0" tIns="0" rIns="0" bIns="0" anchor="t">
            <a:spAutoFit/>
          </a:bodyPr>
          <a:lstStyle/>
          <a:p>
            <a:pPr algn="l">
              <a:lnSpc>
                <a:spcPct val="124000"/>
              </a:lnSpc>
              <a:spcAft>
                <a:spcPts val="0"/>
              </a:spcAft>
              <a:defRPr/>
            </a:pPr>
            <a:r>
              <a:rPr sz="850" b="1" i="0">
                <a:solidFill>
                  <a:srgbClr val="898781"/>
                </a:solidFill>
                <a:latin typeface="Segoe UI"/>
              </a:rPr>
              <a:t>EVIDENCE</a:t>
            </a:r>
            <a:endParaRPr/>
          </a:p>
        </p:txBody>
      </p:sp>
      <p:sp>
        <p:nvSpPr>
          <p:cNvPr id="666029320" name="TextBox 43"/>
          <p:cNvSpPr txBox="1"/>
          <p:nvPr/>
        </p:nvSpPr>
        <p:spPr bwMode="auto">
          <a:xfrm>
            <a:off x="8375903" y="1463040"/>
            <a:ext cx="3566160" cy="201168"/>
          </a:xfrm>
          <a:prstGeom prst="rect">
            <a:avLst/>
          </a:prstGeom>
          <a:noFill/>
        </p:spPr>
        <p:txBody>
          <a:bodyPr wrap="square" lIns="0" tIns="0" rIns="0" bIns="0" anchor="t">
            <a:spAutoFit/>
          </a:bodyPr>
          <a:lstStyle/>
          <a:p>
            <a:pPr algn="l">
              <a:lnSpc>
                <a:spcPct val="124000"/>
              </a:lnSpc>
              <a:spcAft>
                <a:spcPts val="0"/>
              </a:spcAft>
              <a:defRPr/>
            </a:pPr>
            <a:r>
              <a:rPr sz="850" b="1" i="0">
                <a:solidFill>
                  <a:srgbClr val="898781"/>
                </a:solidFill>
                <a:latin typeface="Segoe UI"/>
              </a:rPr>
              <a:t>INTERPRETATION</a:t>
            </a:r>
            <a:endParaRPr/>
          </a:p>
        </p:txBody>
      </p:sp>
      <p:sp>
        <p:nvSpPr>
          <p:cNvPr id="479737436" name="Rectangle 44"/>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18421732" name="TextBox 45"/>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 08, 10</a:t>
            </a:r>
            <a:endParaRPr/>
          </a:p>
        </p:txBody>
      </p:sp>
      <p:sp>
        <p:nvSpPr>
          <p:cNvPr id="1977945552" name="TextBox 46"/>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8270259"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SYNTHESIS</a:t>
            </a:r>
            <a:endParaRPr/>
          </a:p>
        </p:txBody>
      </p:sp>
      <p:sp>
        <p:nvSpPr>
          <p:cNvPr id="1771014357"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Attrition risk patterns</a:t>
            </a:r>
            <a:endParaRPr/>
          </a:p>
        </p:txBody>
      </p:sp>
      <p:sp>
        <p:nvSpPr>
          <p:cNvPr id="287875629"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Every segment shown was measured in notebook 05 or 08; headcount is printed beside each rate because a rate on 83 people is a weaker claim than the same rate on 543.</a:t>
            </a:r>
            <a:endParaRPr/>
          </a:p>
        </p:txBody>
      </p:sp>
      <p:sp>
        <p:nvSpPr>
          <p:cNvPr id="907724272"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pic>
        <p:nvPicPr>
          <p:cNvPr id="1994447097" name="Picture 5" descr="risk_patterns.png"/>
          <p:cNvPicPr>
            <a:picLocks noChangeAspect="1"/>
          </p:cNvPicPr>
          <p:nvPr/>
        </p:nvPicPr>
        <p:blipFill rotWithShape="1">
          <a:blip r:embed="rId3"/>
          <a:stretch/>
        </p:blipFill>
        <p:spPr bwMode="auto">
          <a:xfrm>
            <a:off x="629002" y="1655063"/>
            <a:ext cx="7602529" cy="3794760"/>
          </a:xfrm>
          <a:prstGeom prst="rect">
            <a:avLst/>
          </a:prstGeom>
        </p:spPr>
      </p:pic>
      <p:sp>
        <p:nvSpPr>
          <p:cNvPr id="647472668" name="TextBox 6"/>
          <p:cNvSpPr txBox="1"/>
          <p:nvPr/>
        </p:nvSpPr>
        <p:spPr bwMode="auto">
          <a:xfrm>
            <a:off x="8449055" y="1682496"/>
            <a:ext cx="3175985"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Associated with staying</a:t>
            </a:r>
            <a:endParaRPr/>
          </a:p>
        </p:txBody>
      </p:sp>
      <p:sp>
        <p:nvSpPr>
          <p:cNvPr id="971724791" name="Oval 7"/>
          <p:cNvSpPr/>
          <p:nvPr/>
        </p:nvSpPr>
        <p:spPr bwMode="auto">
          <a:xfrm>
            <a:off x="8449055" y="2098548"/>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52170951" name="TextBox 8"/>
          <p:cNvSpPr txBox="1"/>
          <p:nvPr/>
        </p:nvSpPr>
        <p:spPr bwMode="auto">
          <a:xfrm>
            <a:off x="8631935" y="2029968"/>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Research Director — 2.50%</a:t>
            </a:r>
            <a:endParaRPr/>
          </a:p>
        </p:txBody>
      </p:sp>
      <p:sp>
        <p:nvSpPr>
          <p:cNvPr id="983307452" name="Oval 9"/>
          <p:cNvSpPr/>
          <p:nvPr/>
        </p:nvSpPr>
        <p:spPr bwMode="auto">
          <a:xfrm>
            <a:off x="8449055" y="2345436"/>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03803284" name="TextBox 10"/>
          <p:cNvSpPr txBox="1"/>
          <p:nvPr/>
        </p:nvSpPr>
        <p:spPr bwMode="auto">
          <a:xfrm>
            <a:off x="8631935" y="2276856"/>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Job level 4 — 4.72%</a:t>
            </a:r>
            <a:endParaRPr/>
          </a:p>
        </p:txBody>
      </p:sp>
      <p:sp>
        <p:nvSpPr>
          <p:cNvPr id="808053370" name="Oval 11"/>
          <p:cNvSpPr/>
          <p:nvPr/>
        </p:nvSpPr>
        <p:spPr bwMode="auto">
          <a:xfrm>
            <a:off x="8449055" y="2592324"/>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51708112" name="TextBox 12"/>
          <p:cNvSpPr txBox="1"/>
          <p:nvPr/>
        </p:nvSpPr>
        <p:spPr bwMode="auto">
          <a:xfrm>
            <a:off x="8631935" y="2523744"/>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Manager — 4.90%</a:t>
            </a:r>
            <a:endParaRPr/>
          </a:p>
        </p:txBody>
      </p:sp>
      <p:sp>
        <p:nvSpPr>
          <p:cNvPr id="1763068839" name="Oval 13"/>
          <p:cNvSpPr/>
          <p:nvPr/>
        </p:nvSpPr>
        <p:spPr bwMode="auto">
          <a:xfrm>
            <a:off x="8449055" y="2839212"/>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3926567" name="TextBox 14"/>
          <p:cNvSpPr txBox="1"/>
          <p:nvPr/>
        </p:nvSpPr>
        <p:spPr bwMode="auto">
          <a:xfrm>
            <a:off x="8631935" y="2770632"/>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Healthcare Rep — 6.87%</a:t>
            </a:r>
            <a:endParaRPr/>
          </a:p>
        </p:txBody>
      </p:sp>
      <p:sp>
        <p:nvSpPr>
          <p:cNvPr id="304790728" name="Oval 15"/>
          <p:cNvSpPr/>
          <p:nvPr/>
        </p:nvSpPr>
        <p:spPr bwMode="auto">
          <a:xfrm>
            <a:off x="8449055" y="3086100"/>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20547375" name="TextBox 16"/>
          <p:cNvSpPr txBox="1"/>
          <p:nvPr/>
        </p:nvSpPr>
        <p:spPr bwMode="auto">
          <a:xfrm>
            <a:off x="8631935" y="3017519"/>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Manufacturing Dir — 6.90%</a:t>
            </a:r>
            <a:endParaRPr/>
          </a:p>
        </p:txBody>
      </p:sp>
      <p:sp>
        <p:nvSpPr>
          <p:cNvPr id="1693014161" name="Oval 17"/>
          <p:cNvSpPr/>
          <p:nvPr/>
        </p:nvSpPr>
        <p:spPr bwMode="auto">
          <a:xfrm>
            <a:off x="8449055" y="3332988"/>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1135103" name="TextBox 18"/>
          <p:cNvSpPr txBox="1"/>
          <p:nvPr/>
        </p:nvSpPr>
        <p:spPr bwMode="auto">
          <a:xfrm>
            <a:off x="8631935" y="3264408"/>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11+ years tenure — 8.13%</a:t>
            </a:r>
            <a:endParaRPr/>
          </a:p>
        </p:txBody>
      </p:sp>
      <p:sp>
        <p:nvSpPr>
          <p:cNvPr id="313143094" name="Oval 19"/>
          <p:cNvSpPr/>
          <p:nvPr/>
        </p:nvSpPr>
        <p:spPr bwMode="auto">
          <a:xfrm>
            <a:off x="8449055" y="3579876"/>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17575175" name="TextBox 20"/>
          <p:cNvSpPr txBox="1"/>
          <p:nvPr/>
        </p:nvSpPr>
        <p:spPr bwMode="auto">
          <a:xfrm>
            <a:off x="8631935" y="3511296"/>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8+ years with manager — 4.11%</a:t>
            </a:r>
            <a:endParaRPr/>
          </a:p>
        </p:txBody>
      </p:sp>
      <p:sp>
        <p:nvSpPr>
          <p:cNvPr id="1589906364" name="Oval 21"/>
          <p:cNvSpPr/>
          <p:nvPr/>
        </p:nvSpPr>
        <p:spPr bwMode="auto">
          <a:xfrm>
            <a:off x="8449055" y="3826764"/>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90403392" name="TextBox 22"/>
          <p:cNvSpPr txBox="1"/>
          <p:nvPr/>
        </p:nvSpPr>
        <p:spPr bwMode="auto">
          <a:xfrm>
            <a:off x="8631935" y="3758184"/>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No business travel — 8.00%</a:t>
            </a:r>
            <a:endParaRPr/>
          </a:p>
        </p:txBody>
      </p:sp>
      <p:sp>
        <p:nvSpPr>
          <p:cNvPr id="1890961565" name="Oval 23"/>
          <p:cNvSpPr/>
          <p:nvPr/>
        </p:nvSpPr>
        <p:spPr bwMode="auto">
          <a:xfrm>
            <a:off x="8449055" y="4073652"/>
            <a:ext cx="68580" cy="685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18266481" name="TextBox 24"/>
          <p:cNvSpPr txBox="1"/>
          <p:nvPr/>
        </p:nvSpPr>
        <p:spPr bwMode="auto">
          <a:xfrm>
            <a:off x="8631935" y="4005072"/>
            <a:ext cx="2993105" cy="246888"/>
          </a:xfrm>
          <a:prstGeom prst="rect">
            <a:avLst/>
          </a:prstGeom>
          <a:noFill/>
        </p:spPr>
        <p:txBody>
          <a:bodyPr wrap="square" lIns="0" tIns="0" rIns="0" bIns="0" anchor="t">
            <a:spAutoFit/>
          </a:bodyPr>
          <a:lstStyle/>
          <a:p>
            <a:pPr algn="l">
              <a:lnSpc>
                <a:spcPct val="124000"/>
              </a:lnSpc>
              <a:spcAft>
                <a:spcPts val="0"/>
              </a:spcAft>
              <a:defRPr/>
            </a:pPr>
            <a:r>
              <a:rPr sz="1000" b="0" i="0">
                <a:solidFill>
                  <a:srgbClr val="52514E"/>
                </a:solidFill>
                <a:latin typeface="Segoe UI"/>
              </a:rPr>
              <a:t>No overtime — 10.44%</a:t>
            </a:r>
            <a:endParaRPr/>
          </a:p>
        </p:txBody>
      </p:sp>
      <p:sp>
        <p:nvSpPr>
          <p:cNvPr id="768969254" name="Rectangle 25"/>
          <p:cNvSpPr/>
          <p:nvPr/>
        </p:nvSpPr>
        <p:spPr bwMode="auto">
          <a:xfrm>
            <a:off x="8449055" y="4443984"/>
            <a:ext cx="3175985" cy="1024128"/>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36605919" name="Rectangle 26"/>
          <p:cNvSpPr/>
          <p:nvPr/>
        </p:nvSpPr>
        <p:spPr bwMode="auto">
          <a:xfrm>
            <a:off x="8449055" y="4443984"/>
            <a:ext cx="41148" cy="1024128"/>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65293059" name="TextBox 27"/>
          <p:cNvSpPr txBox="1"/>
          <p:nvPr/>
        </p:nvSpPr>
        <p:spPr bwMode="auto">
          <a:xfrm>
            <a:off x="8668511" y="4581144"/>
            <a:ext cx="2773649"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READ WITH CARE</a:t>
            </a:r>
            <a:endParaRPr/>
          </a:p>
        </p:txBody>
      </p:sp>
      <p:sp>
        <p:nvSpPr>
          <p:cNvPr id="255195165" name="TextBox 28"/>
          <p:cNvSpPr txBox="1"/>
          <p:nvPr/>
        </p:nvSpPr>
        <p:spPr bwMode="auto">
          <a:xfrm>
            <a:off x="8668511" y="4828032"/>
            <a:ext cx="2773649" cy="530352"/>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These segments overlap heavily. An entry-level Sales Representative in their first year is one person counted in four rows.</a:t>
            </a:r>
            <a:endParaRPr/>
          </a:p>
        </p:txBody>
      </p:sp>
      <p:sp>
        <p:nvSpPr>
          <p:cNvPr id="875411106" name="Rectangle 29"/>
          <p:cNvSpPr/>
          <p:nvPr/>
        </p:nvSpPr>
        <p:spPr bwMode="auto">
          <a:xfrm>
            <a:off x="566928" y="5486400"/>
            <a:ext cx="11058113" cy="658368"/>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202762465" name="Rectangle 30"/>
          <p:cNvSpPr/>
          <p:nvPr/>
        </p:nvSpPr>
        <p:spPr bwMode="auto">
          <a:xfrm>
            <a:off x="566928" y="5486400"/>
            <a:ext cx="41148" cy="658368"/>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727868" name="TextBox 31"/>
          <p:cNvSpPr txBox="1"/>
          <p:nvPr/>
        </p:nvSpPr>
        <p:spPr bwMode="auto">
          <a:xfrm>
            <a:off x="786384" y="5623560"/>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898781"/>
                </a:solidFill>
                <a:latin typeface="Segoe UI"/>
              </a:rPr>
              <a:t>INTERPRETATION</a:t>
            </a:r>
            <a:endParaRPr/>
          </a:p>
        </p:txBody>
      </p:sp>
      <p:sp>
        <p:nvSpPr>
          <p:cNvPr id="1112597453" name="TextBox 32"/>
          <p:cNvSpPr txBox="1"/>
          <p:nvPr/>
        </p:nvSpPr>
        <p:spPr bwMode="auto">
          <a:xfrm>
            <a:off x="786384" y="5870448"/>
            <a:ext cx="10655777" cy="164591"/>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 high-attrition profile is consistent across every cut: early in tenure, early in career, low in the hierarchy, lower-paid, and working overtime. Nothing here identifies an individual as a flight risk.</a:t>
            </a:r>
            <a:endParaRPr/>
          </a:p>
        </p:txBody>
      </p:sp>
      <p:sp>
        <p:nvSpPr>
          <p:cNvPr id="95511865" name="Rectangle 33"/>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01310809" name="TextBox 34"/>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 08</a:t>
            </a:r>
            <a:endParaRPr/>
          </a:p>
        </p:txBody>
      </p:sp>
      <p:sp>
        <p:nvSpPr>
          <p:cNvPr id="877542996" name="TextBox 35"/>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246955"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REFLECTION</a:t>
            </a:r>
            <a:endParaRPr/>
          </a:p>
        </p:txBody>
      </p:sp>
      <p:sp>
        <p:nvSpPr>
          <p:cNvPr id="30898586"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What we learned</a:t>
            </a:r>
            <a:endParaRPr/>
          </a:p>
        </p:txBody>
      </p:sp>
      <p:sp>
        <p:nvSpPr>
          <p:cNvPr id="754436013"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Separating what the data told us from what the process taught us.</a:t>
            </a:r>
            <a:endParaRPr/>
          </a:p>
        </p:txBody>
      </p:sp>
      <p:sp>
        <p:nvSpPr>
          <p:cNvPr id="1446232351"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22767678" name="Rectangle 5"/>
          <p:cNvSpPr/>
          <p:nvPr/>
        </p:nvSpPr>
        <p:spPr bwMode="auto">
          <a:xfrm>
            <a:off x="566928" y="1700784"/>
            <a:ext cx="5364464" cy="448056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57802776" name="Rectangle 6"/>
          <p:cNvSpPr/>
          <p:nvPr/>
        </p:nvSpPr>
        <p:spPr bwMode="auto">
          <a:xfrm>
            <a:off x="566928" y="1700784"/>
            <a:ext cx="5364464"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53584306" name="TextBox 7"/>
          <p:cNvSpPr txBox="1"/>
          <p:nvPr/>
        </p:nvSpPr>
        <p:spPr bwMode="auto">
          <a:xfrm>
            <a:off x="841247" y="1938528"/>
            <a:ext cx="4815824" cy="274320"/>
          </a:xfrm>
          <a:prstGeom prst="rect">
            <a:avLst/>
          </a:prstGeom>
          <a:noFill/>
        </p:spPr>
        <p:txBody>
          <a:bodyPr wrap="square" lIns="0" tIns="0" rIns="0" bIns="0" anchor="t">
            <a:spAutoFit/>
          </a:bodyPr>
          <a:lstStyle/>
          <a:p>
            <a:pPr algn="l">
              <a:lnSpc>
                <a:spcPct val="124000"/>
              </a:lnSpc>
              <a:spcAft>
                <a:spcPts val="0"/>
              </a:spcAft>
              <a:defRPr/>
            </a:pPr>
            <a:r>
              <a:rPr sz="1350" b="1" i="0">
                <a:solidFill>
                  <a:srgbClr val="0B0B0B"/>
                </a:solidFill>
                <a:latin typeface="Segoe UI"/>
              </a:rPr>
              <a:t>Findings about the data</a:t>
            </a:r>
            <a:endParaRPr/>
          </a:p>
        </p:txBody>
      </p:sp>
      <p:sp>
        <p:nvSpPr>
          <p:cNvPr id="2134782675" name="TextBox 8"/>
          <p:cNvSpPr txBox="1"/>
          <p:nvPr/>
        </p:nvSpPr>
        <p:spPr bwMode="auto">
          <a:xfrm>
            <a:off x="841247" y="2322576"/>
            <a:ext cx="4815824" cy="3657600"/>
          </a:xfrm>
          <a:prstGeom prst="rect">
            <a:avLst/>
          </a:prstGeom>
          <a:noFill/>
        </p:spPr>
        <p:txBody>
          <a:bodyPr wrap="square" lIns="0" tIns="0" rIns="0" bIns="0" anchor="t">
            <a:spAutoFit/>
          </a:bodyPr>
          <a:lstStyle/>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Strong relationships  </a:t>
            </a:r>
            <a:r>
              <a:rPr sz="1050" b="0" i="0">
                <a:solidFill>
                  <a:srgbClr val="52514E"/>
                </a:solidFill>
                <a:latin typeface="Segoe UI"/>
              </a:rPr>
              <a:t>Tenure, job level and overtime produce the widest, most consistent gaps — all on segments of 300 or more.</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Weak relationships  </a:t>
            </a:r>
            <a:r>
              <a:rPr sz="1050" b="0" i="0">
                <a:solidFill>
                  <a:srgbClr val="52514E"/>
                </a:solidFill>
                <a:latin typeface="Segoe UI"/>
              </a:rPr>
              <a:t>Hourly rate, monthly rate, percent salary hike and performance rating are effectively flat; performance rating correlates +0.003 with leaving.</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The surprise  </a:t>
            </a:r>
            <a:r>
              <a:rPr sz="1050" b="0" i="0">
                <a:solidFill>
                  <a:srgbClr val="52514E"/>
                </a:solidFill>
                <a:latin typeface="Segoe UI"/>
              </a:rPr>
              <a:t>Attrition is not monotonic in seniority. Level 3 (14.68%) leaves more than level 2 (9.74%), and level 5 (7.25%) more than level 4 (4.72%).</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Second surprise  </a:t>
            </a:r>
            <a:r>
              <a:rPr sz="1050" b="0" i="0">
                <a:solidFill>
                  <a:srgbClr val="52514E"/>
                </a:solidFill>
                <a:latin typeface="Segoe UI"/>
              </a:rPr>
              <a:t>Promotion stagnation barely registers descriptively (−0.033 correlation) yet is the sixth-largest positive coefficient in the model — a signal only visible alongside other variables.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Commute  </a:t>
            </a:r>
            <a:r>
              <a:rPr sz="1050" b="0" i="0">
                <a:solidFill>
                  <a:srgbClr val="52514E"/>
                </a:solidFill>
                <a:latin typeface="Segoe UI"/>
              </a:rPr>
              <a:t>Distance from home is the only clearly positive numeric correlation (+0.078): 20.6% in the furthest quartile vs 12.9% in the nearest.</a:t>
            </a:r>
            <a:endParaRPr/>
          </a:p>
        </p:txBody>
      </p:sp>
      <p:sp>
        <p:nvSpPr>
          <p:cNvPr id="355091245" name="Rectangle 9"/>
          <p:cNvSpPr/>
          <p:nvPr/>
        </p:nvSpPr>
        <p:spPr bwMode="auto">
          <a:xfrm>
            <a:off x="6260576" y="1700784"/>
            <a:ext cx="5364464" cy="4480560"/>
          </a:xfrm>
          <a:prstGeom prst="rect">
            <a:avLst/>
          </a:prstGeom>
          <a:solidFill>
            <a:srgbClr val="FFFFFF"/>
          </a:solidFill>
          <a:ln w="1143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4870521" name="Rectangle 10"/>
          <p:cNvSpPr/>
          <p:nvPr/>
        </p:nvSpPr>
        <p:spPr bwMode="auto">
          <a:xfrm>
            <a:off x="6260576" y="1700784"/>
            <a:ext cx="5364464" cy="41148"/>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815616049" name="TextBox 11"/>
          <p:cNvSpPr txBox="1"/>
          <p:nvPr/>
        </p:nvSpPr>
        <p:spPr bwMode="auto">
          <a:xfrm>
            <a:off x="6534896" y="1938528"/>
            <a:ext cx="4815824" cy="274320"/>
          </a:xfrm>
          <a:prstGeom prst="rect">
            <a:avLst/>
          </a:prstGeom>
          <a:noFill/>
        </p:spPr>
        <p:txBody>
          <a:bodyPr wrap="square" lIns="0" tIns="0" rIns="0" bIns="0" anchor="t">
            <a:spAutoFit/>
          </a:bodyPr>
          <a:lstStyle/>
          <a:p>
            <a:pPr algn="l">
              <a:lnSpc>
                <a:spcPct val="124000"/>
              </a:lnSpc>
              <a:spcAft>
                <a:spcPts val="0"/>
              </a:spcAft>
              <a:defRPr/>
            </a:pPr>
            <a:r>
              <a:rPr sz="1350" b="1" i="0">
                <a:solidFill>
                  <a:srgbClr val="0B0B0B"/>
                </a:solidFill>
                <a:latin typeface="Segoe UI"/>
              </a:rPr>
              <a:t>Lessons about the analysis</a:t>
            </a:r>
            <a:endParaRPr/>
          </a:p>
        </p:txBody>
      </p:sp>
      <p:sp>
        <p:nvSpPr>
          <p:cNvPr id="1777102375" name="TextBox 12"/>
          <p:cNvSpPr txBox="1"/>
          <p:nvPr/>
        </p:nvSpPr>
        <p:spPr bwMode="auto">
          <a:xfrm>
            <a:off x="6534896" y="2322576"/>
            <a:ext cx="4815824" cy="3657600"/>
          </a:xfrm>
          <a:prstGeom prst="rect">
            <a:avLst/>
          </a:prstGeom>
          <a:noFill/>
        </p:spPr>
        <p:txBody>
          <a:bodyPr wrap="square" lIns="0" tIns="0" rIns="0" bIns="0" anchor="t">
            <a:spAutoFit/>
          </a:bodyPr>
          <a:lstStyle/>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Rate is not volume  </a:t>
            </a:r>
            <a:r>
              <a:rPr sz="1050" b="0" i="0">
                <a:solidFill>
                  <a:srgbClr val="52514E"/>
                </a:solidFill>
                <a:latin typeface="Segoe UI"/>
              </a:rPr>
              <a:t>Excess attrition changed our conclusions: Human Resources at 23.08% is +4 departures, Laboratory Technicians at 23.94% are +20.</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Correlation is a screen  </a:t>
            </a:r>
            <a:r>
              <a:rPr sz="1050" b="0" i="0">
                <a:solidFill>
                  <a:srgbClr val="52514E"/>
                </a:solidFill>
                <a:latin typeface="Segoe UI"/>
              </a:rPr>
              <a:t>No numeric correlation exceeds 0.171. Grouped rates carried every interpretable finding; Pearson on a binary target understates real gaps.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Confounding is unresolved  </a:t>
            </a:r>
            <a:r>
              <a:rPr sz="1050" b="0" i="0">
                <a:solidFill>
                  <a:srgbClr val="52514E"/>
                </a:solidFill>
                <a:latin typeface="Segoe UI"/>
              </a:rPr>
              <a:t>Role, level, tenure and pay overlap on the same employees. We report each separately and did not stratify — so no gap here is an independent effect.</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Imbalance breaks accuracy  </a:t>
            </a:r>
            <a:r>
              <a:rPr sz="1050" b="0" i="0">
                <a:solidFill>
                  <a:srgbClr val="52514E"/>
                </a:solidFill>
                <a:latin typeface="Segoe UI"/>
              </a:rPr>
              <a:t>At 16.1% positives, a model predicting “nobody leaves” scores 84%. Ours scored 86% while finding 34% of leavers.</a:t>
            </a:r>
            <a:endParaRPr/>
          </a:p>
          <a:p>
            <a:pPr algn="l">
              <a:lnSpc>
                <a:spcPct val="122000"/>
              </a:lnSpc>
              <a:spcAft>
                <a:spcPts val="800"/>
              </a:spcAft>
              <a:defRPr/>
            </a:pPr>
            <a:r>
              <a:rPr sz="1050" b="1" i="0">
                <a:solidFill>
                  <a:srgbClr val="2A78D6"/>
                </a:solidFill>
                <a:latin typeface="Segoe UI"/>
              </a:rPr>
              <a:t>•  </a:t>
            </a:r>
            <a:r>
              <a:rPr sz="1050" b="1" i="0">
                <a:solidFill>
                  <a:srgbClr val="0B0B0B"/>
                </a:solidFill>
                <a:latin typeface="Segoe UI"/>
              </a:rPr>
              <a:t>Limitations  </a:t>
            </a:r>
            <a:r>
              <a:rPr sz="1050" b="0" i="0">
                <a:solidFill>
                  <a:srgbClr val="52514E"/>
                </a:solidFill>
                <a:latin typeface="Segoe UI"/>
              </a:rPr>
              <a:t>One fictional snapshot, no dates, no costs, no exit reasons. Small segments (Human Resources role, n=52) stay wide. And the README's own ethics rule — keep gender, age and marital status out of individual scoring — is not honoured by the notebook 10 model, which includes all three.</a:t>
            </a:r>
            <a:endParaRPr/>
          </a:p>
        </p:txBody>
      </p:sp>
      <p:sp>
        <p:nvSpPr>
          <p:cNvPr id="1153015897" name="Rectangle 13"/>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00067673" name="TextBox 14"/>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notebooks/05–10 · README.md Caveats and Ethics</a:t>
            </a:r>
            <a:endParaRPr/>
          </a:p>
        </p:txBody>
      </p:sp>
      <p:sp>
        <p:nvSpPr>
          <p:cNvPr id="1981466445" name="TextBox 15"/>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7490126"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HOW THE WORK WAS ORGANISED</a:t>
            </a:r>
            <a:endParaRPr/>
          </a:p>
        </p:txBody>
      </p:sp>
      <p:sp>
        <p:nvSpPr>
          <p:cNvPr id="1192074085"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Repository and team</a:t>
            </a:r>
            <a:endParaRPr/>
          </a:p>
        </p:txBody>
      </p:sp>
      <p:sp>
        <p:nvSpPr>
          <p:cNvPr id="426704251"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A public GitHub repository with numerically-prefixed notebooks meant to be run in order, committed with their outputs so they read on GitHub.</a:t>
            </a:r>
            <a:endParaRPr/>
          </a:p>
        </p:txBody>
      </p:sp>
      <p:sp>
        <p:nvSpPr>
          <p:cNvPr id="1883820954"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10807097" name="TextBox 5"/>
          <p:cNvSpPr txBox="1"/>
          <p:nvPr/>
        </p:nvSpPr>
        <p:spPr bwMode="auto">
          <a:xfrm>
            <a:off x="566928" y="1700784"/>
            <a:ext cx="5394960"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Repository structure</a:t>
            </a:r>
            <a:endParaRPr/>
          </a:p>
        </p:txBody>
      </p:sp>
      <p:sp>
        <p:nvSpPr>
          <p:cNvPr id="1539226672" name="Rectangle 6"/>
          <p:cNvSpPr/>
          <p:nvPr/>
        </p:nvSpPr>
        <p:spPr bwMode="auto">
          <a:xfrm>
            <a:off x="566928" y="2029968"/>
            <a:ext cx="5394960" cy="237744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58526583" name="TextBox 7"/>
          <p:cNvSpPr txBox="1"/>
          <p:nvPr/>
        </p:nvSpPr>
        <p:spPr bwMode="auto">
          <a:xfrm>
            <a:off x="786384" y="2194560"/>
            <a:ext cx="5029200" cy="2103120"/>
          </a:xfrm>
          <a:prstGeom prst="rect">
            <a:avLst/>
          </a:prstGeom>
          <a:noFill/>
        </p:spPr>
        <p:txBody>
          <a:bodyPr wrap="square" lIns="0" tIns="0" rIns="0" bIns="0" anchor="t">
            <a:spAutoFit/>
          </a:bodyPr>
          <a:lstStyle/>
          <a:p>
            <a:pPr algn="l">
              <a:lnSpc>
                <a:spcPct val="130000"/>
              </a:lnSpc>
              <a:spcAft>
                <a:spcPts val="0"/>
              </a:spcAft>
              <a:defRPr/>
            </a:pPr>
            <a:r>
              <a:rPr sz="950" b="0" i="0">
                <a:solidFill>
                  <a:srgbClr val="52514E"/>
                </a:solidFill>
                <a:latin typeface="Consolas"/>
              </a:rPr>
              <a:t>ibm-analytics-attrition-eda/</a:t>
            </a:r>
            <a:endParaRPr/>
          </a:p>
          <a:p>
            <a:pPr algn="l">
              <a:lnSpc>
                <a:spcPct val="130000"/>
              </a:lnSpc>
              <a:spcAft>
                <a:spcPts val="0"/>
              </a:spcAft>
              <a:defRPr/>
            </a:pPr>
            <a:r>
              <a:rPr sz="950" b="0" i="0">
                <a:solidFill>
                  <a:srgbClr val="52514E"/>
                </a:solidFill>
                <a:latin typeface="Consolas"/>
              </a:rPr>
              <a:t>├─ data/</a:t>
            </a:r>
            <a:endParaRPr/>
          </a:p>
          <a:p>
            <a:pPr algn="l">
              <a:lnSpc>
                <a:spcPct val="130000"/>
              </a:lnSpc>
              <a:spcAft>
                <a:spcPts val="0"/>
              </a:spcAft>
              <a:defRPr/>
            </a:pPr>
            <a:r>
              <a:rPr sz="950" b="0" i="0">
                <a:solidFill>
                  <a:srgbClr val="52514E"/>
                </a:solidFill>
                <a:latin typeface="Consolas"/>
              </a:rPr>
              <a:t>│  ├─ raw/          WA_Fn-UseC_-HR-Employee-Attrition.csv</a:t>
            </a:r>
            <a:endParaRPr/>
          </a:p>
          <a:p>
            <a:pPr algn="l">
              <a:lnSpc>
                <a:spcPct val="130000"/>
              </a:lnSpc>
              <a:spcAft>
                <a:spcPts val="0"/>
              </a:spcAft>
              <a:defRPr/>
            </a:pPr>
            <a:r>
              <a:rPr sz="950" b="0" i="0">
                <a:solidFill>
                  <a:srgbClr val="52514E"/>
                </a:solidFill>
                <a:latin typeface="Consolas"/>
              </a:rPr>
              <a:t>│  ├─ processed/    Employee-Attrition_Regression_Ready.csv</a:t>
            </a:r>
            <a:endParaRPr/>
          </a:p>
          <a:p>
            <a:pPr algn="l">
              <a:lnSpc>
                <a:spcPct val="130000"/>
              </a:lnSpc>
              <a:spcAft>
                <a:spcPts val="0"/>
              </a:spcAft>
              <a:defRPr/>
            </a:pPr>
            <a:r>
              <a:rPr sz="950" b="0" i="0">
                <a:solidFill>
                  <a:srgbClr val="52514E"/>
                </a:solidFill>
                <a:latin typeface="Consolas"/>
              </a:rPr>
              <a:t>│  └─ HR_Employee_Attrition_Wrangled.csv</a:t>
            </a:r>
            <a:endParaRPr/>
          </a:p>
          <a:p>
            <a:pPr algn="l">
              <a:lnSpc>
                <a:spcPct val="130000"/>
              </a:lnSpc>
              <a:spcAft>
                <a:spcPts val="0"/>
              </a:spcAft>
              <a:defRPr/>
            </a:pPr>
            <a:r>
              <a:rPr sz="950" b="0" i="0">
                <a:solidFill>
                  <a:srgbClr val="52514E"/>
                </a:solidFill>
                <a:latin typeface="Consolas"/>
              </a:rPr>
              <a:t>├─ notebooks/       00 … 10  (11 notebooks, run in order)</a:t>
            </a:r>
            <a:endParaRPr/>
          </a:p>
          <a:p>
            <a:pPr algn="l">
              <a:lnSpc>
                <a:spcPct val="130000"/>
              </a:lnSpc>
              <a:spcAft>
                <a:spcPts val="0"/>
              </a:spcAft>
              <a:defRPr/>
            </a:pPr>
            <a:r>
              <a:rPr sz="950" b="0" i="0">
                <a:solidFill>
                  <a:srgbClr val="52514E"/>
                </a:solidFill>
                <a:latin typeface="Consolas"/>
              </a:rPr>
              <a:t>├─ dashboards/</a:t>
            </a:r>
            <a:endParaRPr/>
          </a:p>
          <a:p>
            <a:pPr algn="l">
              <a:lnSpc>
                <a:spcPct val="130000"/>
              </a:lnSpc>
              <a:spcAft>
                <a:spcPts val="0"/>
              </a:spcAft>
              <a:defRPr/>
            </a:pPr>
            <a:r>
              <a:rPr sz="950" b="0" i="0">
                <a:solidFill>
                  <a:srgbClr val="52514E"/>
                </a:solidFill>
                <a:latin typeface="Consolas"/>
              </a:rPr>
              <a:t>│  └─ app/          Dash app — layout, callbacks, figures, theme</a:t>
            </a:r>
            <a:endParaRPr/>
          </a:p>
          <a:p>
            <a:pPr algn="l">
              <a:lnSpc>
                <a:spcPct val="130000"/>
              </a:lnSpc>
              <a:spcAft>
                <a:spcPts val="0"/>
              </a:spcAft>
              <a:defRPr/>
            </a:pPr>
            <a:r>
              <a:rPr sz="950" b="0" i="0">
                <a:solidFill>
                  <a:srgbClr val="52514E"/>
                </a:solidFill>
                <a:latin typeface="Consolas"/>
              </a:rPr>
              <a:t>├─ requirements.txt</a:t>
            </a:r>
            <a:endParaRPr/>
          </a:p>
          <a:p>
            <a:pPr algn="l">
              <a:lnSpc>
                <a:spcPct val="130000"/>
              </a:lnSpc>
              <a:spcAft>
                <a:spcPts val="0"/>
              </a:spcAft>
              <a:defRPr/>
            </a:pPr>
            <a:r>
              <a:rPr sz="950" b="0" i="0">
                <a:solidFill>
                  <a:srgbClr val="52514E"/>
                </a:solidFill>
                <a:latin typeface="Consolas"/>
              </a:rPr>
              <a:t>└─ README.md</a:t>
            </a:r>
            <a:endParaRPr/>
          </a:p>
        </p:txBody>
      </p:sp>
      <p:sp>
        <p:nvSpPr>
          <p:cNvPr id="881449617" name="TextBox 8"/>
          <p:cNvSpPr txBox="1"/>
          <p:nvPr/>
        </p:nvSpPr>
        <p:spPr bwMode="auto">
          <a:xfrm>
            <a:off x="566928" y="4553712"/>
            <a:ext cx="5394960" cy="1188720"/>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Beyond the notebooks.  </a:t>
            </a:r>
            <a:r>
              <a:rPr sz="1050" b="0" i="0">
                <a:solidFill>
                  <a:srgbClr val="52514E"/>
                </a:solidFill>
                <a:latin typeface="Segoe UI"/>
              </a:rPr>
              <a:t>The repository also ships an interactive Dash application over the same raw extract — filter the workforce by ten attributes and every statistic and chart re-reads the slice. It shares the exact bin edges from notebook 04, so a number in the app matches a number in the analysis.</a:t>
            </a:r>
            <a:endParaRPr/>
          </a:p>
        </p:txBody>
      </p:sp>
      <p:sp>
        <p:nvSpPr>
          <p:cNvPr id="573847988" name="TextBox 9"/>
          <p:cNvSpPr txBox="1"/>
          <p:nvPr/>
        </p:nvSpPr>
        <p:spPr bwMode="auto">
          <a:xfrm>
            <a:off x="6236208" y="1700784"/>
            <a:ext cx="5388833" cy="256032"/>
          </a:xfrm>
          <a:prstGeom prst="rect">
            <a:avLst/>
          </a:prstGeom>
          <a:noFill/>
        </p:spPr>
        <p:txBody>
          <a:bodyPr wrap="square" lIns="0" tIns="0" rIns="0" bIns="0" anchor="t">
            <a:spAutoFit/>
          </a:bodyPr>
          <a:lstStyle/>
          <a:p>
            <a:pPr algn="l">
              <a:lnSpc>
                <a:spcPct val="124000"/>
              </a:lnSpc>
              <a:spcAft>
                <a:spcPts val="0"/>
              </a:spcAft>
              <a:defRPr/>
            </a:pPr>
            <a:r>
              <a:rPr sz="1250" b="1" i="0">
                <a:solidFill>
                  <a:srgbClr val="0B0B0B"/>
                </a:solidFill>
                <a:latin typeface="Segoe UI"/>
              </a:rPr>
              <a:t>Team · NPower JDA Cohort 2026</a:t>
            </a:r>
            <a:endParaRPr/>
          </a:p>
        </p:txBody>
      </p:sp>
      <p:sp>
        <p:nvSpPr>
          <p:cNvPr id="722001757" name="Rectangle 10"/>
          <p:cNvSpPr/>
          <p:nvPr/>
        </p:nvSpPr>
        <p:spPr bwMode="auto">
          <a:xfrm>
            <a:off x="6236208" y="2048256"/>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50305438" name="Rectangle 11"/>
          <p:cNvSpPr/>
          <p:nvPr/>
        </p:nvSpPr>
        <p:spPr bwMode="auto">
          <a:xfrm>
            <a:off x="6236208" y="2048256"/>
            <a:ext cx="32004" cy="6035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14646212" name="TextBox 12"/>
          <p:cNvSpPr txBox="1"/>
          <p:nvPr/>
        </p:nvSpPr>
        <p:spPr bwMode="auto">
          <a:xfrm>
            <a:off x="6400800" y="2130552"/>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Pablo Fiterman</a:t>
            </a:r>
            <a:endParaRPr/>
          </a:p>
        </p:txBody>
      </p:sp>
      <p:sp>
        <p:nvSpPr>
          <p:cNvPr id="244775593" name="TextBox 13"/>
          <p:cNvSpPr txBox="1"/>
          <p:nvPr/>
        </p:nvSpPr>
        <p:spPr bwMode="auto">
          <a:xfrm>
            <a:off x="6400800" y="2350008"/>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Attrition analysis (05), dashboard, README, repo structure</a:t>
            </a:r>
            <a:endParaRPr/>
          </a:p>
        </p:txBody>
      </p:sp>
      <p:sp>
        <p:nvSpPr>
          <p:cNvPr id="769093756" name="Rectangle 14"/>
          <p:cNvSpPr/>
          <p:nvPr/>
        </p:nvSpPr>
        <p:spPr bwMode="auto">
          <a:xfrm>
            <a:off x="6236208" y="2724911"/>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20571401" name="Rectangle 15"/>
          <p:cNvSpPr/>
          <p:nvPr/>
        </p:nvSpPr>
        <p:spPr bwMode="auto">
          <a:xfrm>
            <a:off x="6236208" y="2724911"/>
            <a:ext cx="32004" cy="6035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5772433" name="TextBox 16"/>
          <p:cNvSpPr txBox="1"/>
          <p:nvPr/>
        </p:nvSpPr>
        <p:spPr bwMode="auto">
          <a:xfrm>
            <a:off x="6400800" y="2807208"/>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Dhanan Thannoo</a:t>
            </a:r>
            <a:endParaRPr/>
          </a:p>
        </p:txBody>
      </p:sp>
      <p:sp>
        <p:nvSpPr>
          <p:cNvPr id="1868917115" name="TextBox 17"/>
          <p:cNvSpPr txBox="1"/>
          <p:nvPr/>
        </p:nvSpPr>
        <p:spPr bwMode="auto">
          <a:xfrm>
            <a:off x="6400800" y="3026664"/>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Normalizing data (03), regression model (10)</a:t>
            </a:r>
            <a:endParaRPr/>
          </a:p>
        </p:txBody>
      </p:sp>
      <p:sp>
        <p:nvSpPr>
          <p:cNvPr id="1298437894" name="Rectangle 18"/>
          <p:cNvSpPr/>
          <p:nvPr/>
        </p:nvSpPr>
        <p:spPr bwMode="auto">
          <a:xfrm>
            <a:off x="6236208" y="3401568"/>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573415273" name="Rectangle 19"/>
          <p:cNvSpPr/>
          <p:nvPr/>
        </p:nvSpPr>
        <p:spPr bwMode="auto">
          <a:xfrm>
            <a:off x="6236208" y="3401568"/>
            <a:ext cx="32004" cy="6035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12361311" name="TextBox 20"/>
          <p:cNvSpPr txBox="1"/>
          <p:nvPr/>
        </p:nvSpPr>
        <p:spPr bwMode="auto">
          <a:xfrm>
            <a:off x="6400800" y="3483864"/>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Tanvi Varshney</a:t>
            </a:r>
            <a:endParaRPr/>
          </a:p>
        </p:txBody>
      </p:sp>
      <p:sp>
        <p:nvSpPr>
          <p:cNvPr id="1398452600" name="TextBox 21"/>
          <p:cNvSpPr txBox="1"/>
          <p:nvPr/>
        </p:nvSpPr>
        <p:spPr bwMode="auto">
          <a:xfrm>
            <a:off x="6400800" y="3703320"/>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Data wrangling (04), outlier detection (07)</a:t>
            </a:r>
            <a:endParaRPr/>
          </a:p>
        </p:txBody>
      </p:sp>
      <p:sp>
        <p:nvSpPr>
          <p:cNvPr id="584686136" name="Rectangle 22"/>
          <p:cNvSpPr/>
          <p:nvPr/>
        </p:nvSpPr>
        <p:spPr bwMode="auto">
          <a:xfrm>
            <a:off x="6236208" y="4078224"/>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48168222" name="Rectangle 23"/>
          <p:cNvSpPr/>
          <p:nvPr/>
        </p:nvSpPr>
        <p:spPr bwMode="auto">
          <a:xfrm>
            <a:off x="6236208" y="4078224"/>
            <a:ext cx="32004" cy="6035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9627146" name="TextBox 24"/>
          <p:cNvSpPr txBox="1"/>
          <p:nvPr/>
        </p:nvSpPr>
        <p:spPr bwMode="auto">
          <a:xfrm>
            <a:off x="6400800" y="4160519"/>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Yunseo Jang</a:t>
            </a:r>
            <a:endParaRPr/>
          </a:p>
        </p:txBody>
      </p:sp>
      <p:sp>
        <p:nvSpPr>
          <p:cNvPr id="1121278806" name="TextBox 25"/>
          <p:cNvSpPr txBox="1"/>
          <p:nvPr/>
        </p:nvSpPr>
        <p:spPr bwMode="auto">
          <a:xfrm>
            <a:off x="6400800" y="4379976"/>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Distribution profiling (06), correlation (08)</a:t>
            </a:r>
            <a:endParaRPr/>
          </a:p>
        </p:txBody>
      </p:sp>
      <p:sp>
        <p:nvSpPr>
          <p:cNvPr id="1702869613" name="Rectangle 26"/>
          <p:cNvSpPr/>
          <p:nvPr/>
        </p:nvSpPr>
        <p:spPr bwMode="auto">
          <a:xfrm>
            <a:off x="9022064" y="2048256"/>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50754775" name="Rectangle 27"/>
          <p:cNvSpPr/>
          <p:nvPr/>
        </p:nvSpPr>
        <p:spPr bwMode="auto">
          <a:xfrm>
            <a:off x="9022064" y="2048256"/>
            <a:ext cx="32004" cy="6035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014523545" name="TextBox 28"/>
          <p:cNvSpPr txBox="1"/>
          <p:nvPr/>
        </p:nvSpPr>
        <p:spPr bwMode="auto">
          <a:xfrm>
            <a:off x="9186656" y="2130552"/>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Asif Hassan</a:t>
            </a:r>
            <a:endParaRPr/>
          </a:p>
        </p:txBody>
      </p:sp>
      <p:sp>
        <p:nvSpPr>
          <p:cNvPr id="1687493782" name="TextBox 29"/>
          <p:cNvSpPr txBox="1"/>
          <p:nvPr/>
        </p:nvSpPr>
        <p:spPr bwMode="auto">
          <a:xfrm>
            <a:off x="9186656" y="2350008"/>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Distribution visualisation (09)</a:t>
            </a:r>
            <a:endParaRPr/>
          </a:p>
        </p:txBody>
      </p:sp>
      <p:sp>
        <p:nvSpPr>
          <p:cNvPr id="1198169645" name="Rectangle 30"/>
          <p:cNvSpPr/>
          <p:nvPr/>
        </p:nvSpPr>
        <p:spPr bwMode="auto">
          <a:xfrm>
            <a:off x="9022064" y="2724911"/>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31682493" name="Rectangle 31"/>
          <p:cNvSpPr/>
          <p:nvPr/>
        </p:nvSpPr>
        <p:spPr bwMode="auto">
          <a:xfrm>
            <a:off x="9022064" y="2724911"/>
            <a:ext cx="32004" cy="603504"/>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28742550" name="TextBox 32"/>
          <p:cNvSpPr txBox="1"/>
          <p:nvPr/>
        </p:nvSpPr>
        <p:spPr bwMode="auto">
          <a:xfrm>
            <a:off x="9186656" y="2807208"/>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Amruta Atul</a:t>
            </a:r>
            <a:endParaRPr/>
          </a:p>
        </p:txBody>
      </p:sp>
      <p:sp>
        <p:nvSpPr>
          <p:cNvPr id="1598180460" name="TextBox 33"/>
          <p:cNvSpPr txBox="1"/>
          <p:nvPr/>
        </p:nvSpPr>
        <p:spPr bwMode="auto">
          <a:xfrm>
            <a:off x="9186656" y="3026664"/>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Listed contributor</a:t>
            </a:r>
            <a:endParaRPr/>
          </a:p>
        </p:txBody>
      </p:sp>
      <p:sp>
        <p:nvSpPr>
          <p:cNvPr id="1026444730" name="Rectangle 34"/>
          <p:cNvSpPr/>
          <p:nvPr/>
        </p:nvSpPr>
        <p:spPr bwMode="auto">
          <a:xfrm>
            <a:off x="9022064" y="3401568"/>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83038153" name="Rectangle 35"/>
          <p:cNvSpPr/>
          <p:nvPr/>
        </p:nvSpPr>
        <p:spPr bwMode="auto">
          <a:xfrm>
            <a:off x="9022064" y="3401568"/>
            <a:ext cx="32004" cy="603504"/>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14673592" name="TextBox 36"/>
          <p:cNvSpPr txBox="1"/>
          <p:nvPr/>
        </p:nvSpPr>
        <p:spPr bwMode="auto">
          <a:xfrm>
            <a:off x="9186656" y="3483864"/>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Moustafa Ismail</a:t>
            </a:r>
            <a:endParaRPr/>
          </a:p>
        </p:txBody>
      </p:sp>
      <p:sp>
        <p:nvSpPr>
          <p:cNvPr id="724852005" name="TextBox 37"/>
          <p:cNvSpPr txBox="1"/>
          <p:nvPr/>
        </p:nvSpPr>
        <p:spPr bwMode="auto">
          <a:xfrm>
            <a:off x="9186656" y="3703320"/>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Listed contributor</a:t>
            </a:r>
            <a:endParaRPr/>
          </a:p>
        </p:txBody>
      </p:sp>
      <p:sp>
        <p:nvSpPr>
          <p:cNvPr id="1553602633" name="Rectangle 38"/>
          <p:cNvSpPr/>
          <p:nvPr/>
        </p:nvSpPr>
        <p:spPr bwMode="auto">
          <a:xfrm>
            <a:off x="9022064" y="4078224"/>
            <a:ext cx="2602976" cy="603504"/>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82187697" name="Rectangle 39"/>
          <p:cNvSpPr/>
          <p:nvPr/>
        </p:nvSpPr>
        <p:spPr bwMode="auto">
          <a:xfrm>
            <a:off x="9022064" y="4078224"/>
            <a:ext cx="32004" cy="603504"/>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142497" name="TextBox 40"/>
          <p:cNvSpPr txBox="1"/>
          <p:nvPr/>
        </p:nvSpPr>
        <p:spPr bwMode="auto">
          <a:xfrm>
            <a:off x="9186656" y="4160519"/>
            <a:ext cx="2292080" cy="201168"/>
          </a:xfrm>
          <a:prstGeom prst="rect">
            <a:avLst/>
          </a:prstGeom>
          <a:noFill/>
        </p:spPr>
        <p:txBody>
          <a:bodyPr wrap="square" lIns="0" tIns="0" rIns="0" bIns="0" anchor="t">
            <a:spAutoFit/>
          </a:bodyPr>
          <a:lstStyle/>
          <a:p>
            <a:pPr algn="l">
              <a:lnSpc>
                <a:spcPct val="124000"/>
              </a:lnSpc>
              <a:spcAft>
                <a:spcPts val="0"/>
              </a:spcAft>
              <a:defRPr/>
            </a:pPr>
            <a:r>
              <a:rPr sz="1050" b="1" i="0">
                <a:solidFill>
                  <a:srgbClr val="0B0B0B"/>
                </a:solidFill>
                <a:latin typeface="Segoe UI"/>
              </a:rPr>
              <a:t>Stephanie Jivoderova</a:t>
            </a:r>
            <a:endParaRPr/>
          </a:p>
        </p:txBody>
      </p:sp>
      <p:sp>
        <p:nvSpPr>
          <p:cNvPr id="1852595594" name="TextBox 41"/>
          <p:cNvSpPr txBox="1"/>
          <p:nvPr/>
        </p:nvSpPr>
        <p:spPr bwMode="auto">
          <a:xfrm>
            <a:off x="9186656" y="4379976"/>
            <a:ext cx="2292080" cy="274320"/>
          </a:xfrm>
          <a:prstGeom prst="rect">
            <a:avLst/>
          </a:prstGeom>
          <a:noFill/>
        </p:spPr>
        <p:txBody>
          <a:bodyPr wrap="square" lIns="0" tIns="0" rIns="0" bIns="0" anchor="t">
            <a:spAutoFit/>
          </a:bodyPr>
          <a:lstStyle/>
          <a:p>
            <a:pPr algn="l">
              <a:lnSpc>
                <a:spcPct val="115999"/>
              </a:lnSpc>
              <a:spcAft>
                <a:spcPts val="0"/>
              </a:spcAft>
              <a:defRPr/>
            </a:pPr>
            <a:r>
              <a:rPr sz="850" b="0" i="0">
                <a:solidFill>
                  <a:srgbClr val="898781"/>
                </a:solidFill>
                <a:latin typeface="Segoe UI"/>
              </a:rPr>
              <a:t>Listed contributor</a:t>
            </a:r>
            <a:endParaRPr/>
          </a:p>
        </p:txBody>
      </p:sp>
      <p:sp>
        <p:nvSpPr>
          <p:cNvPr id="272596884" name="TextBox 42"/>
          <p:cNvSpPr txBox="1"/>
          <p:nvPr/>
        </p:nvSpPr>
        <p:spPr bwMode="auto">
          <a:xfrm>
            <a:off x="6236208" y="4809744"/>
            <a:ext cx="5388833" cy="914400"/>
          </a:xfrm>
          <a:prstGeom prst="rect">
            <a:avLst/>
          </a:prstGeom>
          <a:noFill/>
        </p:spPr>
        <p:txBody>
          <a:bodyPr wrap="square" lIns="0" tIns="0" rIns="0" bIns="0" anchor="t">
            <a:spAutoFit/>
          </a:bodyPr>
          <a:lstStyle/>
          <a:p>
            <a:pPr algn="l">
              <a:lnSpc>
                <a:spcPct val="124000"/>
              </a:lnSpc>
              <a:spcAft>
                <a:spcPts val="0"/>
              </a:spcAft>
              <a:defRPr/>
            </a:pPr>
            <a:r>
              <a:rPr sz="950" b="1" i="0">
                <a:solidFill>
                  <a:srgbClr val="0B0B0B"/>
                </a:solidFill>
                <a:latin typeface="Segoe UI"/>
              </a:rPr>
              <a:t>Collaborative team project.  </a:t>
            </a:r>
            <a:r>
              <a:rPr sz="950" b="0" i="0">
                <a:solidFill>
                  <a:srgbClr val="52514E"/>
                </a:solidFill>
                <a:latin typeface="Segoe UI"/>
              </a:rPr>
              <a:t>Analysis, documentation, visualization and review completed through GitHub — feature branches, pull requests and Conventional Commits. Notebook ownership above reflects the commit history; the four contributors without a notebook line are credited in the README without notebook-level commits under those names.</a:t>
            </a:r>
            <a:endParaRPr/>
          </a:p>
        </p:txBody>
      </p:sp>
      <p:sp>
        <p:nvSpPr>
          <p:cNvPr id="152988772" name="Rectangle 43"/>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02849662" name="TextBox 44"/>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README.md · git history</a:t>
            </a:r>
            <a:endParaRPr/>
          </a:p>
        </p:txBody>
      </p:sp>
      <p:sp>
        <p:nvSpPr>
          <p:cNvPr id="1196387600" name="TextBox 45"/>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2870652"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TECHNICAL SKILLS</a:t>
            </a:r>
            <a:endParaRPr/>
          </a:p>
        </p:txBody>
      </p:sp>
      <p:sp>
        <p:nvSpPr>
          <p:cNvPr id="1900794151"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Tools and techniques applied</a:t>
            </a:r>
            <a:endParaRPr/>
          </a:p>
        </p:txBody>
      </p:sp>
      <p:sp>
        <p:nvSpPr>
          <p:cNvPr id="1309820316"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Only what the repository actually contains — every item below appears in a notebook, the dashboard, or requirements.txt.</a:t>
            </a:r>
            <a:endParaRPr/>
          </a:p>
        </p:txBody>
      </p:sp>
      <p:sp>
        <p:nvSpPr>
          <p:cNvPr id="2138570095"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165469838" name="Rectangle 5"/>
          <p:cNvSpPr/>
          <p:nvPr/>
        </p:nvSpPr>
        <p:spPr bwMode="auto">
          <a:xfrm>
            <a:off x="566928" y="1700784"/>
            <a:ext cx="2065318" cy="4160519"/>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670798330" name="Rectangle 6"/>
          <p:cNvSpPr/>
          <p:nvPr/>
        </p:nvSpPr>
        <p:spPr bwMode="auto">
          <a:xfrm>
            <a:off x="566928" y="1700784"/>
            <a:ext cx="2065318"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20116386" name="TextBox 7"/>
          <p:cNvSpPr txBox="1"/>
          <p:nvPr/>
        </p:nvSpPr>
        <p:spPr bwMode="auto">
          <a:xfrm>
            <a:off x="749808" y="1901952"/>
            <a:ext cx="1699558" cy="475488"/>
          </a:xfrm>
          <a:prstGeom prst="rect">
            <a:avLst/>
          </a:prstGeom>
          <a:noFill/>
        </p:spPr>
        <p:txBody>
          <a:bodyPr wrap="square" lIns="0" tIns="0" rIns="0" bIns="0" anchor="t">
            <a:spAutoFit/>
          </a:bodyPr>
          <a:lstStyle/>
          <a:p>
            <a:pPr algn="l">
              <a:lnSpc>
                <a:spcPct val="115999"/>
              </a:lnSpc>
              <a:spcAft>
                <a:spcPts val="0"/>
              </a:spcAft>
              <a:defRPr/>
            </a:pPr>
            <a:r>
              <a:rPr sz="1150" b="1" i="0">
                <a:solidFill>
                  <a:srgbClr val="0B0B0B"/>
                </a:solidFill>
                <a:latin typeface="Segoe UI"/>
              </a:rPr>
              <a:t>Language &amp; environment</a:t>
            </a:r>
            <a:endParaRPr/>
          </a:p>
        </p:txBody>
      </p:sp>
      <p:sp>
        <p:nvSpPr>
          <p:cNvPr id="479068526" name="TextBox 8"/>
          <p:cNvSpPr txBox="1"/>
          <p:nvPr/>
        </p:nvSpPr>
        <p:spPr bwMode="auto">
          <a:xfrm>
            <a:off x="749808" y="2487168"/>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Python 3</a:t>
            </a:r>
            <a:endParaRPr/>
          </a:p>
        </p:txBody>
      </p:sp>
      <p:sp>
        <p:nvSpPr>
          <p:cNvPr id="1457520317" name="TextBox 9"/>
          <p:cNvSpPr txBox="1"/>
          <p:nvPr/>
        </p:nvSpPr>
        <p:spPr bwMode="auto">
          <a:xfrm>
            <a:off x="749808" y="2697480"/>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Analysis language throughout</a:t>
            </a:r>
            <a:endParaRPr/>
          </a:p>
        </p:txBody>
      </p:sp>
      <p:sp>
        <p:nvSpPr>
          <p:cNvPr id="354412189" name="TextBox 10"/>
          <p:cNvSpPr txBox="1"/>
          <p:nvPr/>
        </p:nvSpPr>
        <p:spPr bwMode="auto">
          <a:xfrm>
            <a:off x="749808" y="3026664"/>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Jupyter</a:t>
            </a:r>
            <a:endParaRPr/>
          </a:p>
        </p:txBody>
      </p:sp>
      <p:sp>
        <p:nvSpPr>
          <p:cNvPr id="1276185936" name="TextBox 11"/>
          <p:cNvSpPr txBox="1"/>
          <p:nvPr/>
        </p:nvSpPr>
        <p:spPr bwMode="auto">
          <a:xfrm>
            <a:off x="749808" y="3236976"/>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11 notebooks, committed with outputs</a:t>
            </a:r>
            <a:endParaRPr/>
          </a:p>
        </p:txBody>
      </p:sp>
      <p:sp>
        <p:nvSpPr>
          <p:cNvPr id="1666436823" name="TextBox 12"/>
          <p:cNvSpPr txBox="1"/>
          <p:nvPr/>
        </p:nvSpPr>
        <p:spPr bwMode="auto">
          <a:xfrm>
            <a:off x="749808" y="3749040"/>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venv + requirements.txt</a:t>
            </a:r>
            <a:endParaRPr/>
          </a:p>
        </p:txBody>
      </p:sp>
      <p:sp>
        <p:nvSpPr>
          <p:cNvPr id="38135449" name="TextBox 13"/>
          <p:cNvSpPr txBox="1"/>
          <p:nvPr/>
        </p:nvSpPr>
        <p:spPr bwMode="auto">
          <a:xfrm>
            <a:off x="749808" y="3959352"/>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Pinned, reproducible environment</a:t>
            </a:r>
            <a:endParaRPr/>
          </a:p>
        </p:txBody>
      </p:sp>
      <p:sp>
        <p:nvSpPr>
          <p:cNvPr id="1957398449" name="Rectangle 14"/>
          <p:cNvSpPr/>
          <p:nvPr/>
        </p:nvSpPr>
        <p:spPr bwMode="auto">
          <a:xfrm>
            <a:off x="2815126" y="1700784"/>
            <a:ext cx="2065318" cy="4160519"/>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65076939" name="Rectangle 15"/>
          <p:cNvSpPr/>
          <p:nvPr/>
        </p:nvSpPr>
        <p:spPr bwMode="auto">
          <a:xfrm>
            <a:off x="2815126" y="1700784"/>
            <a:ext cx="2065318"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371493004" name="TextBox 16"/>
          <p:cNvSpPr txBox="1"/>
          <p:nvPr/>
        </p:nvSpPr>
        <p:spPr bwMode="auto">
          <a:xfrm>
            <a:off x="2998006" y="1901952"/>
            <a:ext cx="1699558" cy="475488"/>
          </a:xfrm>
          <a:prstGeom prst="rect">
            <a:avLst/>
          </a:prstGeom>
          <a:noFill/>
        </p:spPr>
        <p:txBody>
          <a:bodyPr wrap="square" lIns="0" tIns="0" rIns="0" bIns="0" anchor="t">
            <a:spAutoFit/>
          </a:bodyPr>
          <a:lstStyle/>
          <a:p>
            <a:pPr algn="l">
              <a:lnSpc>
                <a:spcPct val="115999"/>
              </a:lnSpc>
              <a:spcAft>
                <a:spcPts val="0"/>
              </a:spcAft>
              <a:defRPr/>
            </a:pPr>
            <a:r>
              <a:rPr sz="1150" b="1" i="0">
                <a:solidFill>
                  <a:srgbClr val="0B0B0B"/>
                </a:solidFill>
                <a:latin typeface="Segoe UI"/>
              </a:rPr>
              <a:t>Data manipulation</a:t>
            </a:r>
            <a:endParaRPr/>
          </a:p>
        </p:txBody>
      </p:sp>
      <p:sp>
        <p:nvSpPr>
          <p:cNvPr id="811409585" name="TextBox 17"/>
          <p:cNvSpPr txBox="1"/>
          <p:nvPr/>
        </p:nvSpPr>
        <p:spPr bwMode="auto">
          <a:xfrm>
            <a:off x="2998006" y="2487168"/>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pandas</a:t>
            </a:r>
            <a:endParaRPr/>
          </a:p>
        </p:txBody>
      </p:sp>
      <p:sp>
        <p:nvSpPr>
          <p:cNvPr id="1694788961" name="TextBox 18"/>
          <p:cNvSpPr txBox="1"/>
          <p:nvPr/>
        </p:nvSpPr>
        <p:spPr bwMode="auto">
          <a:xfrm>
            <a:off x="2998006" y="2697480"/>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Loading, grouping, cross-tabulation, qcut/cut banding, Styler formatting</a:t>
            </a:r>
            <a:endParaRPr/>
          </a:p>
        </p:txBody>
      </p:sp>
      <p:sp>
        <p:nvSpPr>
          <p:cNvPr id="856017378" name="TextBox 19"/>
          <p:cNvSpPr txBox="1"/>
          <p:nvPr/>
        </p:nvSpPr>
        <p:spPr bwMode="auto">
          <a:xfrm>
            <a:off x="2998006" y="3392424"/>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NumPy</a:t>
            </a:r>
            <a:endParaRPr/>
          </a:p>
        </p:txBody>
      </p:sp>
      <p:sp>
        <p:nvSpPr>
          <p:cNvPr id="1909677044" name="TextBox 20"/>
          <p:cNvSpPr txBox="1"/>
          <p:nvPr/>
        </p:nvSpPr>
        <p:spPr bwMode="auto">
          <a:xfrm>
            <a:off x="2998006" y="3602735"/>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Numeric operations and bin arithmetic</a:t>
            </a:r>
            <a:endParaRPr/>
          </a:p>
        </p:txBody>
      </p:sp>
      <p:sp>
        <p:nvSpPr>
          <p:cNvPr id="603265757" name="Rectangle 21"/>
          <p:cNvSpPr/>
          <p:nvPr/>
        </p:nvSpPr>
        <p:spPr bwMode="auto">
          <a:xfrm>
            <a:off x="5063325" y="1700784"/>
            <a:ext cx="2065318" cy="4160519"/>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85601695" name="Rectangle 22"/>
          <p:cNvSpPr/>
          <p:nvPr/>
        </p:nvSpPr>
        <p:spPr bwMode="auto">
          <a:xfrm>
            <a:off x="5063325" y="1700784"/>
            <a:ext cx="2065318"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40630283" name="TextBox 23"/>
          <p:cNvSpPr txBox="1"/>
          <p:nvPr/>
        </p:nvSpPr>
        <p:spPr bwMode="auto">
          <a:xfrm>
            <a:off x="5246205" y="1901952"/>
            <a:ext cx="1699558" cy="475488"/>
          </a:xfrm>
          <a:prstGeom prst="rect">
            <a:avLst/>
          </a:prstGeom>
          <a:noFill/>
        </p:spPr>
        <p:txBody>
          <a:bodyPr wrap="square" lIns="0" tIns="0" rIns="0" bIns="0" anchor="t">
            <a:spAutoFit/>
          </a:bodyPr>
          <a:lstStyle/>
          <a:p>
            <a:pPr algn="l">
              <a:lnSpc>
                <a:spcPct val="115999"/>
              </a:lnSpc>
              <a:spcAft>
                <a:spcPts val="0"/>
              </a:spcAft>
              <a:defRPr/>
            </a:pPr>
            <a:r>
              <a:rPr sz="1150" b="1" i="0">
                <a:solidFill>
                  <a:srgbClr val="0B0B0B"/>
                </a:solidFill>
                <a:latin typeface="Segoe UI"/>
              </a:rPr>
              <a:t>Visualization</a:t>
            </a:r>
            <a:endParaRPr/>
          </a:p>
        </p:txBody>
      </p:sp>
      <p:sp>
        <p:nvSpPr>
          <p:cNvPr id="1475823136" name="TextBox 24"/>
          <p:cNvSpPr txBox="1"/>
          <p:nvPr/>
        </p:nvSpPr>
        <p:spPr bwMode="auto">
          <a:xfrm>
            <a:off x="5246205" y="2487168"/>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Matplotlib</a:t>
            </a:r>
            <a:endParaRPr/>
          </a:p>
        </p:txBody>
      </p:sp>
      <p:sp>
        <p:nvSpPr>
          <p:cNvPr id="772990392" name="TextBox 25"/>
          <p:cNvSpPr txBox="1"/>
          <p:nvPr/>
        </p:nvSpPr>
        <p:spPr bwMode="auto">
          <a:xfrm>
            <a:off x="5246205" y="2697480"/>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Bar, line, box and histogram composition</a:t>
            </a:r>
            <a:endParaRPr/>
          </a:p>
        </p:txBody>
      </p:sp>
      <p:sp>
        <p:nvSpPr>
          <p:cNvPr id="1907343729" name="TextBox 26"/>
          <p:cNvSpPr txBox="1"/>
          <p:nvPr/>
        </p:nvSpPr>
        <p:spPr bwMode="auto">
          <a:xfrm>
            <a:off x="5246205" y="3209544"/>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seaborn</a:t>
            </a:r>
            <a:endParaRPr/>
          </a:p>
        </p:txBody>
      </p:sp>
      <p:sp>
        <p:nvSpPr>
          <p:cNvPr id="263998999" name="TextBox 27"/>
          <p:cNvSpPr txBox="1"/>
          <p:nvPr/>
        </p:nvSpPr>
        <p:spPr bwMode="auto">
          <a:xfrm>
            <a:off x="5246205" y="3419856"/>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Statistical plots and distribution comparison</a:t>
            </a:r>
            <a:endParaRPr/>
          </a:p>
        </p:txBody>
      </p:sp>
      <p:sp>
        <p:nvSpPr>
          <p:cNvPr id="1671617521" name="TextBox 28"/>
          <p:cNvSpPr txBox="1"/>
          <p:nvPr/>
        </p:nvSpPr>
        <p:spPr bwMode="auto">
          <a:xfrm>
            <a:off x="5246205" y="3931920"/>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2A78D6"/>
                </a:solidFill>
                <a:latin typeface="Segoe UI"/>
              </a:rPr>
              <a:t>Plotly + Dash</a:t>
            </a:r>
            <a:endParaRPr/>
          </a:p>
        </p:txBody>
      </p:sp>
      <p:sp>
        <p:nvSpPr>
          <p:cNvPr id="896654875" name="TextBox 29"/>
          <p:cNvSpPr txBox="1"/>
          <p:nvPr/>
        </p:nvSpPr>
        <p:spPr bwMode="auto">
          <a:xfrm>
            <a:off x="5246205" y="4142232"/>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Interactive attrition explorer dashboard</a:t>
            </a:r>
            <a:endParaRPr/>
          </a:p>
        </p:txBody>
      </p:sp>
      <p:sp>
        <p:nvSpPr>
          <p:cNvPr id="587882926" name="Rectangle 30"/>
          <p:cNvSpPr/>
          <p:nvPr/>
        </p:nvSpPr>
        <p:spPr bwMode="auto">
          <a:xfrm>
            <a:off x="7311524" y="1700784"/>
            <a:ext cx="2065318" cy="4160519"/>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71970864" name="Rectangle 31"/>
          <p:cNvSpPr/>
          <p:nvPr/>
        </p:nvSpPr>
        <p:spPr bwMode="auto">
          <a:xfrm>
            <a:off x="7311524" y="1700784"/>
            <a:ext cx="2065318" cy="41148"/>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02943076" name="TextBox 32"/>
          <p:cNvSpPr txBox="1"/>
          <p:nvPr/>
        </p:nvSpPr>
        <p:spPr bwMode="auto">
          <a:xfrm>
            <a:off x="7494404" y="1901952"/>
            <a:ext cx="1699558" cy="475488"/>
          </a:xfrm>
          <a:prstGeom prst="rect">
            <a:avLst/>
          </a:prstGeom>
          <a:noFill/>
        </p:spPr>
        <p:txBody>
          <a:bodyPr wrap="square" lIns="0" tIns="0" rIns="0" bIns="0" anchor="t">
            <a:spAutoFit/>
          </a:bodyPr>
          <a:lstStyle/>
          <a:p>
            <a:pPr algn="l">
              <a:lnSpc>
                <a:spcPct val="115999"/>
              </a:lnSpc>
              <a:spcAft>
                <a:spcPts val="0"/>
              </a:spcAft>
              <a:defRPr/>
            </a:pPr>
            <a:r>
              <a:rPr sz="1150" b="1" i="0">
                <a:solidFill>
                  <a:srgbClr val="0B0B0B"/>
                </a:solidFill>
                <a:latin typeface="Segoe UI"/>
              </a:rPr>
              <a:t>Analysis &amp; modelling</a:t>
            </a:r>
            <a:endParaRPr/>
          </a:p>
        </p:txBody>
      </p:sp>
      <p:sp>
        <p:nvSpPr>
          <p:cNvPr id="1978362911" name="TextBox 33"/>
          <p:cNvSpPr txBox="1"/>
          <p:nvPr/>
        </p:nvSpPr>
        <p:spPr bwMode="auto">
          <a:xfrm>
            <a:off x="7494404" y="2487168"/>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898781"/>
                </a:solidFill>
                <a:latin typeface="Segoe UI"/>
              </a:rPr>
              <a:t>Descriptive statistics</a:t>
            </a:r>
            <a:endParaRPr/>
          </a:p>
        </p:txBody>
      </p:sp>
      <p:sp>
        <p:nvSpPr>
          <p:cNvPr id="1342632391" name="TextBox 34"/>
          <p:cNvSpPr txBox="1"/>
          <p:nvPr/>
        </p:nvSpPr>
        <p:spPr bwMode="auto">
          <a:xfrm>
            <a:off x="7494404" y="2697480"/>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Segment rates, baseline gaps, excess attrition</a:t>
            </a:r>
            <a:endParaRPr/>
          </a:p>
        </p:txBody>
      </p:sp>
      <p:sp>
        <p:nvSpPr>
          <p:cNvPr id="940830966" name="TextBox 35"/>
          <p:cNvSpPr txBox="1"/>
          <p:nvPr/>
        </p:nvSpPr>
        <p:spPr bwMode="auto">
          <a:xfrm>
            <a:off x="7494404" y="3209544"/>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898781"/>
                </a:solidFill>
                <a:latin typeface="Segoe UI"/>
              </a:rPr>
              <a:t>IQR outlier detection</a:t>
            </a:r>
            <a:endParaRPr/>
          </a:p>
        </p:txBody>
      </p:sp>
      <p:sp>
        <p:nvSpPr>
          <p:cNvPr id="1962208539" name="TextBox 36"/>
          <p:cNvSpPr txBox="1"/>
          <p:nvPr/>
        </p:nvSpPr>
        <p:spPr bwMode="auto">
          <a:xfrm>
            <a:off x="7494404" y="3419856"/>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Fences, review and a documented retention decision</a:t>
            </a:r>
            <a:endParaRPr/>
          </a:p>
        </p:txBody>
      </p:sp>
      <p:sp>
        <p:nvSpPr>
          <p:cNvPr id="1457920676" name="TextBox 37"/>
          <p:cNvSpPr txBox="1"/>
          <p:nvPr/>
        </p:nvSpPr>
        <p:spPr bwMode="auto">
          <a:xfrm>
            <a:off x="7494404" y="3931920"/>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898781"/>
                </a:solidFill>
                <a:latin typeface="Segoe UI"/>
              </a:rPr>
              <a:t>Pearson correlation</a:t>
            </a:r>
            <a:endParaRPr/>
          </a:p>
        </p:txBody>
      </p:sp>
      <p:sp>
        <p:nvSpPr>
          <p:cNvPr id="762397976" name="TextBox 38"/>
          <p:cNvSpPr txBox="1"/>
          <p:nvPr/>
        </p:nvSpPr>
        <p:spPr bwMode="auto">
          <a:xfrm>
            <a:off x="7494404" y="4142232"/>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Numeric screening against the target</a:t>
            </a:r>
            <a:endParaRPr/>
          </a:p>
        </p:txBody>
      </p:sp>
      <p:sp>
        <p:nvSpPr>
          <p:cNvPr id="1615294504" name="TextBox 39"/>
          <p:cNvSpPr txBox="1"/>
          <p:nvPr/>
        </p:nvSpPr>
        <p:spPr bwMode="auto">
          <a:xfrm>
            <a:off x="7494404" y="4654296"/>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898781"/>
                </a:solidFill>
                <a:latin typeface="Segoe UI"/>
              </a:rPr>
              <a:t>scikit-learn</a:t>
            </a:r>
            <a:endParaRPr/>
          </a:p>
        </p:txBody>
      </p:sp>
      <p:sp>
        <p:nvSpPr>
          <p:cNvPr id="1603456736" name="TextBox 40"/>
          <p:cNvSpPr txBox="1"/>
          <p:nvPr/>
        </p:nvSpPr>
        <p:spPr bwMode="auto">
          <a:xfrm>
            <a:off x="7494404" y="4864607"/>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StandardScaler, stratified split, logistic regression, classification report, ROC-AUC</a:t>
            </a:r>
            <a:endParaRPr/>
          </a:p>
        </p:txBody>
      </p:sp>
      <p:sp>
        <p:nvSpPr>
          <p:cNvPr id="601822166" name="Rectangle 41"/>
          <p:cNvSpPr/>
          <p:nvPr/>
        </p:nvSpPr>
        <p:spPr bwMode="auto">
          <a:xfrm>
            <a:off x="9559722" y="1700784"/>
            <a:ext cx="2065318" cy="4160519"/>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559199135" name="Rectangle 42"/>
          <p:cNvSpPr/>
          <p:nvPr/>
        </p:nvSpPr>
        <p:spPr bwMode="auto">
          <a:xfrm>
            <a:off x="9559722" y="1700784"/>
            <a:ext cx="2065318" cy="41148"/>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99894802" name="TextBox 43"/>
          <p:cNvSpPr txBox="1"/>
          <p:nvPr/>
        </p:nvSpPr>
        <p:spPr bwMode="auto">
          <a:xfrm>
            <a:off x="9742602" y="1901952"/>
            <a:ext cx="1699558" cy="475488"/>
          </a:xfrm>
          <a:prstGeom prst="rect">
            <a:avLst/>
          </a:prstGeom>
          <a:noFill/>
        </p:spPr>
        <p:txBody>
          <a:bodyPr wrap="square" lIns="0" tIns="0" rIns="0" bIns="0" anchor="t">
            <a:spAutoFit/>
          </a:bodyPr>
          <a:lstStyle/>
          <a:p>
            <a:pPr algn="l">
              <a:lnSpc>
                <a:spcPct val="115999"/>
              </a:lnSpc>
              <a:spcAft>
                <a:spcPts val="0"/>
              </a:spcAft>
              <a:defRPr/>
            </a:pPr>
            <a:r>
              <a:rPr sz="1150" b="1" i="0">
                <a:solidFill>
                  <a:srgbClr val="0B0B0B"/>
                </a:solidFill>
                <a:latin typeface="Segoe UI"/>
              </a:rPr>
              <a:t>Collaboration</a:t>
            </a:r>
            <a:endParaRPr/>
          </a:p>
        </p:txBody>
      </p:sp>
      <p:sp>
        <p:nvSpPr>
          <p:cNvPr id="1092230971" name="TextBox 44"/>
          <p:cNvSpPr txBox="1"/>
          <p:nvPr/>
        </p:nvSpPr>
        <p:spPr bwMode="auto">
          <a:xfrm>
            <a:off x="9742602" y="2487168"/>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898781"/>
                </a:solidFill>
                <a:latin typeface="Segoe UI"/>
              </a:rPr>
              <a:t>Git &amp; GitHub</a:t>
            </a:r>
            <a:endParaRPr/>
          </a:p>
        </p:txBody>
      </p:sp>
      <p:sp>
        <p:nvSpPr>
          <p:cNvPr id="290891381" name="TextBox 45"/>
          <p:cNvSpPr txBox="1"/>
          <p:nvPr/>
        </p:nvSpPr>
        <p:spPr bwMode="auto">
          <a:xfrm>
            <a:off x="9742602" y="2697480"/>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Feature branches, pull requests, merge conflict resolution</a:t>
            </a:r>
            <a:endParaRPr/>
          </a:p>
        </p:txBody>
      </p:sp>
      <p:sp>
        <p:nvSpPr>
          <p:cNvPr id="1517492651" name="TextBox 46"/>
          <p:cNvSpPr txBox="1"/>
          <p:nvPr/>
        </p:nvSpPr>
        <p:spPr bwMode="auto">
          <a:xfrm>
            <a:off x="9742602" y="3209544"/>
            <a:ext cx="1699558" cy="201168"/>
          </a:xfrm>
          <a:prstGeom prst="rect">
            <a:avLst/>
          </a:prstGeom>
          <a:noFill/>
        </p:spPr>
        <p:txBody>
          <a:bodyPr wrap="square" lIns="0" tIns="0" rIns="0" bIns="0" anchor="t">
            <a:spAutoFit/>
          </a:bodyPr>
          <a:lstStyle/>
          <a:p>
            <a:pPr algn="l">
              <a:lnSpc>
                <a:spcPct val="124000"/>
              </a:lnSpc>
              <a:spcAft>
                <a:spcPts val="0"/>
              </a:spcAft>
              <a:defRPr/>
            </a:pPr>
            <a:r>
              <a:rPr sz="1000" b="1" i="0">
                <a:solidFill>
                  <a:srgbClr val="898781"/>
                </a:solidFill>
                <a:latin typeface="Segoe UI"/>
              </a:rPr>
              <a:t>Conventional Commits</a:t>
            </a:r>
            <a:endParaRPr/>
          </a:p>
        </p:txBody>
      </p:sp>
      <p:sp>
        <p:nvSpPr>
          <p:cNvPr id="1172667740" name="TextBox 47"/>
          <p:cNvSpPr txBox="1"/>
          <p:nvPr/>
        </p:nvSpPr>
        <p:spPr bwMode="auto">
          <a:xfrm>
            <a:off x="9742602" y="3419856"/>
            <a:ext cx="1699558" cy="658368"/>
          </a:xfrm>
          <a:prstGeom prst="rect">
            <a:avLst/>
          </a:prstGeom>
          <a:noFill/>
        </p:spPr>
        <p:txBody>
          <a:bodyPr wrap="square" lIns="0" tIns="0" rIns="0" bIns="0" anchor="t">
            <a:spAutoFit/>
          </a:bodyPr>
          <a:lstStyle/>
          <a:p>
            <a:pPr algn="l">
              <a:lnSpc>
                <a:spcPct val="118000"/>
              </a:lnSpc>
              <a:spcAft>
                <a:spcPts val="0"/>
              </a:spcAft>
              <a:defRPr/>
            </a:pPr>
            <a:r>
              <a:rPr sz="850" b="0" i="0">
                <a:solidFill>
                  <a:srgbClr val="898781"/>
                </a:solidFill>
                <a:latin typeface="Segoe UI"/>
              </a:rPr>
              <a:t>Typed, scoped commit messages as a readable changelog</a:t>
            </a:r>
            <a:endParaRPr/>
          </a:p>
        </p:txBody>
      </p:sp>
      <p:sp>
        <p:nvSpPr>
          <p:cNvPr id="2030887664" name="Rectangle 48"/>
          <p:cNvSpPr/>
          <p:nvPr/>
        </p:nvSpPr>
        <p:spPr bwMode="auto">
          <a:xfrm>
            <a:off x="566928" y="5650992"/>
            <a:ext cx="11058113" cy="493776"/>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17352630" name="Rectangle 49"/>
          <p:cNvSpPr/>
          <p:nvPr/>
        </p:nvSpPr>
        <p:spPr bwMode="auto">
          <a:xfrm>
            <a:off x="566928" y="5650992"/>
            <a:ext cx="41148" cy="493776"/>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41708932" name="TextBox 50"/>
          <p:cNvSpPr txBox="1"/>
          <p:nvPr/>
        </p:nvSpPr>
        <p:spPr bwMode="auto">
          <a:xfrm>
            <a:off x="786384" y="5788152"/>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NOT USED, DESPITE THE README</a:t>
            </a:r>
            <a:endParaRPr/>
          </a:p>
        </p:txBody>
      </p:sp>
      <p:sp>
        <p:nvSpPr>
          <p:cNvPr id="806729574" name="TextBox 51"/>
          <p:cNvSpPr txBox="1"/>
          <p:nvPr/>
        </p:nvSpPr>
        <p:spPr bwMode="auto">
          <a:xfrm>
            <a:off x="786384" y="6035039"/>
            <a:ext cx="10655777" cy="0"/>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The README's technology table also lists Microsoft Excel and Streamlit. Neither appears anywhere in the repository — the dashboard is built with Dash and Plotly.</a:t>
            </a:r>
            <a:endParaRPr/>
          </a:p>
        </p:txBody>
      </p:sp>
      <p:sp>
        <p:nvSpPr>
          <p:cNvPr id="343377183" name="Rectangle 52"/>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37151166" name="TextBox 53"/>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 · dashboards/app/ · requirements.txt</a:t>
            </a:r>
            <a:endParaRPr/>
          </a:p>
        </p:txBody>
      </p:sp>
      <p:sp>
        <p:nvSpPr>
          <p:cNvPr id="2078208324" name="TextBox 54"/>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20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9748088" name="TextBox 1"/>
          <p:cNvSpPr txBox="1"/>
          <p:nvPr/>
        </p:nvSpPr>
        <p:spPr bwMode="auto">
          <a:xfrm>
            <a:off x="566928" y="365760"/>
            <a:ext cx="11058113" cy="219456"/>
          </a:xfrm>
          <a:prstGeom prst="rect">
            <a:avLst/>
          </a:prstGeom>
          <a:noFill/>
        </p:spPr>
        <p:txBody>
          <a:bodyPr wrap="square" lIns="0" tIns="0" rIns="0" bIns="0" anchor="t">
            <a:spAutoFit/>
          </a:bodyPr>
          <a:lstStyle/>
          <a:p>
            <a:pPr algn="l">
              <a:lnSpc>
                <a:spcPct val="124000"/>
              </a:lnSpc>
              <a:spcAft>
                <a:spcPts val="0"/>
              </a:spcAft>
              <a:defRPr/>
            </a:pPr>
            <a:r>
              <a:rPr sz="950" b="1" i="0">
                <a:solidFill>
                  <a:srgbClr val="2A78D6"/>
                </a:solidFill>
                <a:latin typeface="Segoe UI"/>
              </a:rPr>
              <a:t>WHERE THIS LEAVES US</a:t>
            </a:r>
            <a:endParaRPr/>
          </a:p>
        </p:txBody>
      </p:sp>
      <p:sp>
        <p:nvSpPr>
          <p:cNvPr id="1959200126" name="TextBox 2"/>
          <p:cNvSpPr txBox="1"/>
          <p:nvPr/>
        </p:nvSpPr>
        <p:spPr bwMode="auto">
          <a:xfrm>
            <a:off x="566928" y="603504"/>
            <a:ext cx="11058113" cy="475488"/>
          </a:xfrm>
          <a:prstGeom prst="rect">
            <a:avLst/>
          </a:prstGeom>
          <a:noFill/>
        </p:spPr>
        <p:txBody>
          <a:bodyPr wrap="square" lIns="0" tIns="0" rIns="0" bIns="0" anchor="t">
            <a:spAutoFit/>
          </a:bodyPr>
          <a:lstStyle/>
          <a:p>
            <a:pPr algn="l">
              <a:lnSpc>
                <a:spcPct val="124000"/>
              </a:lnSpc>
              <a:spcAft>
                <a:spcPts val="0"/>
              </a:spcAft>
              <a:defRPr/>
            </a:pPr>
            <a:r>
              <a:rPr sz="2500" b="1" i="0">
                <a:solidFill>
                  <a:srgbClr val="0B0B0B"/>
                </a:solidFill>
                <a:latin typeface="Segoe UI"/>
              </a:rPr>
              <a:t>Conclusion</a:t>
            </a:r>
            <a:endParaRPr/>
          </a:p>
        </p:txBody>
      </p:sp>
      <p:sp>
        <p:nvSpPr>
          <p:cNvPr id="1339492008" name="TextBox 3"/>
          <p:cNvSpPr txBox="1"/>
          <p:nvPr/>
        </p:nvSpPr>
        <p:spPr bwMode="auto">
          <a:xfrm>
            <a:off x="566928" y="1106424"/>
            <a:ext cx="11058113" cy="274320"/>
          </a:xfrm>
          <a:prstGeom prst="rect">
            <a:avLst/>
          </a:prstGeom>
          <a:noFill/>
        </p:spPr>
        <p:txBody>
          <a:bodyPr wrap="square" lIns="0" tIns="0" rIns="0" bIns="0" anchor="t">
            <a:spAutoFit/>
          </a:bodyPr>
          <a:lstStyle/>
          <a:p>
            <a:pPr algn="l">
              <a:lnSpc>
                <a:spcPct val="124000"/>
              </a:lnSpc>
              <a:spcAft>
                <a:spcPts val="0"/>
              </a:spcAft>
              <a:defRPr/>
            </a:pPr>
            <a:r>
              <a:rPr sz="1250" b="0" i="0">
                <a:solidFill>
                  <a:srgbClr val="52514E"/>
                </a:solidFill>
                <a:latin typeface="Segoe UI"/>
              </a:rPr>
              <a:t>What the exploratory analysis proved, what it means, and what would have to happen next — kept clearly apart.</a:t>
            </a:r>
            <a:endParaRPr/>
          </a:p>
        </p:txBody>
      </p:sp>
      <p:sp>
        <p:nvSpPr>
          <p:cNvPr id="155480601" name="Rectangle 4"/>
          <p:cNvSpPr/>
          <p:nvPr/>
        </p:nvSpPr>
        <p:spPr bwMode="auto">
          <a:xfrm>
            <a:off x="566928" y="1481328"/>
            <a:ext cx="100584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438675278" name="Rectangle 5"/>
          <p:cNvSpPr/>
          <p:nvPr/>
        </p:nvSpPr>
        <p:spPr bwMode="auto">
          <a:xfrm>
            <a:off x="566928" y="1700784"/>
            <a:ext cx="3539733" cy="4315968"/>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26340917" name="Rectangle 6"/>
          <p:cNvSpPr/>
          <p:nvPr/>
        </p:nvSpPr>
        <p:spPr bwMode="auto">
          <a:xfrm>
            <a:off x="566928" y="1700784"/>
            <a:ext cx="3539733"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78718059" name="TextBox 7"/>
          <p:cNvSpPr txBox="1"/>
          <p:nvPr/>
        </p:nvSpPr>
        <p:spPr bwMode="auto">
          <a:xfrm>
            <a:off x="804672" y="1920240"/>
            <a:ext cx="3064245" cy="274320"/>
          </a:xfrm>
          <a:prstGeom prst="rect">
            <a:avLst/>
          </a:prstGeom>
          <a:noFill/>
        </p:spPr>
        <p:txBody>
          <a:bodyPr wrap="square" lIns="0" tIns="0" rIns="0" bIns="0" anchor="t">
            <a:spAutoFit/>
          </a:bodyPr>
          <a:lstStyle/>
          <a:p>
            <a:pPr algn="l">
              <a:lnSpc>
                <a:spcPct val="124000"/>
              </a:lnSpc>
              <a:spcAft>
                <a:spcPts val="0"/>
              </a:spcAft>
              <a:defRPr/>
            </a:pPr>
            <a:r>
              <a:rPr sz="1300" b="1" i="0">
                <a:solidFill>
                  <a:srgbClr val="0B0B0B"/>
                </a:solidFill>
                <a:latin typeface="Segoe UI"/>
              </a:rPr>
              <a:t>What we discovered</a:t>
            </a:r>
            <a:endParaRPr/>
          </a:p>
        </p:txBody>
      </p:sp>
      <p:sp>
        <p:nvSpPr>
          <p:cNvPr id="1914675813" name="TextBox 8"/>
          <p:cNvSpPr txBox="1"/>
          <p:nvPr/>
        </p:nvSpPr>
        <p:spPr bwMode="auto">
          <a:xfrm>
            <a:off x="804672" y="2340864"/>
            <a:ext cx="3064245" cy="3474720"/>
          </a:xfrm>
          <a:prstGeom prst="rect">
            <a:avLst/>
          </a:prstGeom>
          <a:noFill/>
        </p:spPr>
        <p:txBody>
          <a:bodyPr wrap="square" lIns="0" tIns="0" rIns="0" bIns="0" anchor="t">
            <a:spAutoFit/>
          </a:bodyPr>
          <a:lstStyle/>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Attrition runs at 16.1% overall — 237 of 1,470 employees.</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It is concentrated in the first two years: 29.82% vs 8.13% after eleven, with four independent tenure measures agreeing.</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Entry level carries the largest preventable volume: 26.34% on 543 employees, +55 excess departures.</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Overtime is the widest single-condition gap: 30.53% vs 10.44%, and the largest coefficient in the fitted model.</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Specific operational roles stand out — Sales Representative 39.76%, Laboratory Technician 23.94%.</a:t>
            </a:r>
            <a:endParaRPr/>
          </a:p>
        </p:txBody>
      </p:sp>
      <p:sp>
        <p:nvSpPr>
          <p:cNvPr id="736777420" name="Rectangle 9"/>
          <p:cNvSpPr/>
          <p:nvPr/>
        </p:nvSpPr>
        <p:spPr bwMode="auto">
          <a:xfrm>
            <a:off x="4326117" y="1700784"/>
            <a:ext cx="3539733" cy="4315968"/>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2075558951" name="Rectangle 10"/>
          <p:cNvSpPr/>
          <p:nvPr/>
        </p:nvSpPr>
        <p:spPr bwMode="auto">
          <a:xfrm>
            <a:off x="4326117" y="1700784"/>
            <a:ext cx="3539733"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281644523" name="TextBox 11"/>
          <p:cNvSpPr txBox="1"/>
          <p:nvPr/>
        </p:nvSpPr>
        <p:spPr bwMode="auto">
          <a:xfrm>
            <a:off x="4563861" y="1920240"/>
            <a:ext cx="3064245" cy="274320"/>
          </a:xfrm>
          <a:prstGeom prst="rect">
            <a:avLst/>
          </a:prstGeom>
          <a:noFill/>
        </p:spPr>
        <p:txBody>
          <a:bodyPr wrap="square" lIns="0" tIns="0" rIns="0" bIns="0" anchor="t">
            <a:spAutoFit/>
          </a:bodyPr>
          <a:lstStyle/>
          <a:p>
            <a:pPr algn="l">
              <a:lnSpc>
                <a:spcPct val="124000"/>
              </a:lnSpc>
              <a:spcAft>
                <a:spcPts val="0"/>
              </a:spcAft>
              <a:defRPr/>
            </a:pPr>
            <a:r>
              <a:rPr sz="1300" b="1" i="0">
                <a:solidFill>
                  <a:srgbClr val="0B0B0B"/>
                </a:solidFill>
                <a:latin typeface="Segoe UI"/>
              </a:rPr>
              <a:t>Why it matters</a:t>
            </a:r>
            <a:endParaRPr/>
          </a:p>
        </p:txBody>
      </p:sp>
      <p:sp>
        <p:nvSpPr>
          <p:cNvPr id="203886706" name="TextBox 12"/>
          <p:cNvSpPr txBox="1"/>
          <p:nvPr/>
        </p:nvSpPr>
        <p:spPr bwMode="auto">
          <a:xfrm>
            <a:off x="4563861" y="2340864"/>
            <a:ext cx="3064245" cy="3474720"/>
          </a:xfrm>
          <a:prstGeom prst="rect">
            <a:avLst/>
          </a:prstGeom>
          <a:noFill/>
        </p:spPr>
        <p:txBody>
          <a:bodyPr wrap="square" lIns="0" tIns="0" rIns="0" bIns="0" anchor="t">
            <a:spAutoFit/>
          </a:bodyPr>
          <a:lstStyle/>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The risk window is narrow and identifiable, so retention effort has somewhere specific to go — onboarding, the first role, the first manager.</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Rate alone would have sent effort to the wrong places; excess attrition changes the priority order.</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Weak correlations across 23 numeric features mean no single lever explains attrition — it is a combination of conditions.</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Reporting headcount with every rate is what keeps a finding on 52 people from reading like a finding on 543.</a:t>
            </a:r>
            <a:endParaRPr/>
          </a:p>
        </p:txBody>
      </p:sp>
      <p:sp>
        <p:nvSpPr>
          <p:cNvPr id="2071175068" name="Rectangle 13"/>
          <p:cNvSpPr/>
          <p:nvPr/>
        </p:nvSpPr>
        <p:spPr bwMode="auto">
          <a:xfrm>
            <a:off x="8085307" y="1700784"/>
            <a:ext cx="3539733" cy="4315968"/>
          </a:xfrm>
          <a:prstGeom prst="rect">
            <a:avLst/>
          </a:prstGeom>
          <a:solidFill>
            <a:srgbClr val="FFFFFF"/>
          </a:solidFill>
          <a:ln w="1143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998946958" name="Rectangle 14"/>
          <p:cNvSpPr/>
          <p:nvPr/>
        </p:nvSpPr>
        <p:spPr bwMode="auto">
          <a:xfrm>
            <a:off x="8085307" y="1700784"/>
            <a:ext cx="3539733" cy="41148"/>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760436037" name="TextBox 15"/>
          <p:cNvSpPr txBox="1"/>
          <p:nvPr/>
        </p:nvSpPr>
        <p:spPr bwMode="auto">
          <a:xfrm>
            <a:off x="8323051" y="1920240"/>
            <a:ext cx="3064245" cy="274320"/>
          </a:xfrm>
          <a:prstGeom prst="rect">
            <a:avLst/>
          </a:prstGeom>
          <a:noFill/>
        </p:spPr>
        <p:txBody>
          <a:bodyPr wrap="square" lIns="0" tIns="0" rIns="0" bIns="0" anchor="t">
            <a:spAutoFit/>
          </a:bodyPr>
          <a:lstStyle/>
          <a:p>
            <a:pPr algn="l">
              <a:lnSpc>
                <a:spcPct val="124000"/>
              </a:lnSpc>
              <a:spcAft>
                <a:spcPts val="0"/>
              </a:spcAft>
              <a:defRPr/>
            </a:pPr>
            <a:r>
              <a:rPr sz="1300" b="1" i="0">
                <a:solidFill>
                  <a:srgbClr val="0B0B0B"/>
                </a:solidFill>
                <a:latin typeface="Segoe UI"/>
              </a:rPr>
              <a:t>Next steps — not findings</a:t>
            </a:r>
            <a:endParaRPr/>
          </a:p>
        </p:txBody>
      </p:sp>
      <p:sp>
        <p:nvSpPr>
          <p:cNvPr id="503536889" name="TextBox 16"/>
          <p:cNvSpPr txBox="1"/>
          <p:nvPr/>
        </p:nvSpPr>
        <p:spPr bwMode="auto">
          <a:xfrm>
            <a:off x="8323051" y="2340864"/>
            <a:ext cx="3064245" cy="3474720"/>
          </a:xfrm>
          <a:prstGeom prst="rect">
            <a:avLst/>
          </a:prstGeom>
          <a:noFill/>
        </p:spPr>
        <p:txBody>
          <a:bodyPr wrap="square" lIns="0" tIns="0" rIns="0" bIns="0" anchor="t">
            <a:spAutoFit/>
          </a:bodyPr>
          <a:lstStyle/>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Stratify the big gaps: does overtime still shift the rate within one job level and tenure band?</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Answer the two README questions the notebooks left open — pay within role and level, and what share of leavers are senior high performers.</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Strengthen the model as a ranking tool: class weighting, threshold tuning and cross-validation, judged on recall rather than accuracy.</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Bring the notebook 10 feature set in line with the project's own ethics rule by removing gender, age and marital status from individual scoring.</a:t>
            </a:r>
            <a:endParaRPr/>
          </a:p>
          <a:p>
            <a:pPr algn="l">
              <a:lnSpc>
                <a:spcPct val="122000"/>
              </a:lnSpc>
              <a:spcAft>
                <a:spcPts val="900"/>
              </a:spcAft>
              <a:defRPr/>
            </a:pPr>
            <a:r>
              <a:rPr sz="1000" b="1" i="0">
                <a:solidFill>
                  <a:srgbClr val="2A78D6"/>
                </a:solidFill>
                <a:latin typeface="Segoe UI"/>
              </a:rPr>
              <a:t>•  </a:t>
            </a:r>
            <a:r>
              <a:rPr sz="1000" b="0" i="0">
                <a:solidFill>
                  <a:srgbClr val="52514E"/>
                </a:solidFill>
                <a:latin typeface="Segoe UI"/>
              </a:rPr>
              <a:t>Attach cost-per-departure so excess attrition converts into a budget case.</a:t>
            </a:r>
            <a:endParaRPr/>
          </a:p>
        </p:txBody>
      </p:sp>
      <p:sp>
        <p:nvSpPr>
          <p:cNvPr id="391751980" name="Rectangle 17"/>
          <p:cNvSpPr/>
          <p:nvPr/>
        </p:nvSpPr>
        <p:spPr bwMode="auto">
          <a:xfrm>
            <a:off x="566928" y="5632704"/>
            <a:ext cx="11058113" cy="512064"/>
          </a:xfrm>
          <a:prstGeom prst="rect">
            <a:avLst/>
          </a:prstGeom>
          <a:solidFill>
            <a:srgbClr val="FD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913974319" name="Rectangle 18"/>
          <p:cNvSpPr/>
          <p:nvPr/>
        </p:nvSpPr>
        <p:spPr bwMode="auto">
          <a:xfrm>
            <a:off x="566928" y="5632704"/>
            <a:ext cx="41148" cy="512064"/>
          </a:xfrm>
          <a:prstGeom prst="rect">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637523102" name="TextBox 19"/>
          <p:cNvSpPr txBox="1"/>
          <p:nvPr/>
        </p:nvSpPr>
        <p:spPr bwMode="auto">
          <a:xfrm>
            <a:off x="786384" y="5769864"/>
            <a:ext cx="10655777" cy="219456"/>
          </a:xfrm>
          <a:prstGeom prst="rect">
            <a:avLst/>
          </a:prstGeom>
          <a:noFill/>
        </p:spPr>
        <p:txBody>
          <a:bodyPr wrap="square" lIns="0" tIns="0" rIns="0" bIns="0" anchor="t">
            <a:spAutoFit/>
          </a:bodyPr>
          <a:lstStyle/>
          <a:p>
            <a:pPr algn="l">
              <a:lnSpc>
                <a:spcPct val="124000"/>
              </a:lnSpc>
              <a:spcAft>
                <a:spcPts val="0"/>
              </a:spcAft>
              <a:defRPr/>
            </a:pPr>
            <a:r>
              <a:rPr sz="850" b="1" i="0">
                <a:solidFill>
                  <a:srgbClr val="E34948"/>
                </a:solidFill>
                <a:latin typeface="Segoe UI"/>
              </a:rPr>
              <a:t>THE LINE WE DO NOT CROSS</a:t>
            </a:r>
            <a:endParaRPr/>
          </a:p>
        </p:txBody>
      </p:sp>
      <p:sp>
        <p:nvSpPr>
          <p:cNvPr id="1941339099" name="TextBox 20"/>
          <p:cNvSpPr txBox="1"/>
          <p:nvPr/>
        </p:nvSpPr>
        <p:spPr bwMode="auto">
          <a:xfrm>
            <a:off x="786384" y="6016752"/>
            <a:ext cx="10655777" cy="18288"/>
          </a:xfrm>
          <a:prstGeom prst="rect">
            <a:avLst/>
          </a:prstGeom>
          <a:noFill/>
        </p:spPr>
        <p:txBody>
          <a:bodyPr wrap="square" lIns="0" tIns="0" rIns="0" bIns="0" anchor="t">
            <a:spAutoFit/>
          </a:bodyPr>
          <a:lstStyle/>
          <a:p>
            <a:pPr algn="l">
              <a:lnSpc>
                <a:spcPct val="126000"/>
              </a:lnSpc>
              <a:spcAft>
                <a:spcPts val="0"/>
              </a:spcAft>
              <a:defRPr/>
            </a:pPr>
            <a:r>
              <a:rPr sz="1150" b="0" i="0">
                <a:solidFill>
                  <a:srgbClr val="0B0B0B"/>
                </a:solidFill>
                <a:latin typeface="Segoe UI"/>
              </a:rPr>
              <a:t>Every statement above is an association measured in one cross-sectional snapshot of a fictional dataset. Predictive modelling is a next step, not a finding — and nothing here establishes a cause.</a:t>
            </a:r>
            <a:endParaRPr/>
          </a:p>
        </p:txBody>
      </p:sp>
      <p:sp>
        <p:nvSpPr>
          <p:cNvPr id="680038949" name="Rectangle 21"/>
          <p:cNvSpPr/>
          <p:nvPr/>
        </p:nvSpPr>
        <p:spPr bwMode="auto">
          <a:xfrm>
            <a:off x="566928" y="6345936"/>
            <a:ext cx="11058113" cy="1097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309176918" name="TextBox 22"/>
          <p:cNvSpPr txBox="1"/>
          <p:nvPr/>
        </p:nvSpPr>
        <p:spPr bwMode="auto">
          <a:xfrm>
            <a:off x="566928" y="6455664"/>
            <a:ext cx="7961841" cy="219456"/>
          </a:xfrm>
          <a:prstGeom prst="rect">
            <a:avLst/>
          </a:prstGeom>
          <a:noFill/>
        </p:spPr>
        <p:txBody>
          <a:bodyPr wrap="square" lIns="0" tIns="0" rIns="0" bIns="0" anchor="t">
            <a:spAutoFit/>
          </a:bodyPr>
          <a:lstStyle/>
          <a:p>
            <a:pPr algn="l">
              <a:lnSpc>
                <a:spcPct val="124000"/>
              </a:lnSpc>
              <a:spcAft>
                <a:spcPts val="0"/>
              </a:spcAft>
              <a:defRPr/>
            </a:pPr>
            <a:r>
              <a:rPr sz="850" b="0" i="0">
                <a:solidFill>
                  <a:srgbClr val="898781"/>
                </a:solidFill>
                <a:latin typeface="Segoe UI"/>
              </a:rPr>
              <a:t>notebooks/05–10 · README.md</a:t>
            </a:r>
            <a:endParaRPr/>
          </a:p>
        </p:txBody>
      </p:sp>
      <p:sp>
        <p:nvSpPr>
          <p:cNvPr id="1857767400" name="TextBox 23"/>
          <p:cNvSpPr txBox="1"/>
          <p:nvPr/>
        </p:nvSpPr>
        <p:spPr bwMode="auto">
          <a:xfrm>
            <a:off x="8749932" y="6455664"/>
            <a:ext cx="2875109" cy="219456"/>
          </a:xfrm>
          <a:prstGeom prst="rect">
            <a:avLst/>
          </a:prstGeom>
          <a:noFill/>
        </p:spPr>
        <p:txBody>
          <a:bodyPr wrap="square" lIns="0" tIns="0" rIns="0" bIns="0" anchor="t">
            <a:spAutoFit/>
          </a:bodyPr>
          <a:lstStyle/>
          <a:p>
            <a:pPr algn="r">
              <a:lnSpc>
                <a:spcPct val="124000"/>
              </a:lnSpc>
              <a:spcAft>
                <a:spcPts val="0"/>
              </a:spcAft>
              <a:defRPr/>
            </a:pPr>
            <a:r>
              <a:rPr sz="850" b="0" i="0">
                <a:solidFill>
                  <a:srgbClr val="898781"/>
                </a:solidFill>
                <a:latin typeface="Segoe UI"/>
              </a:rPr>
              <a:t>21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3990178" name="Rectangle 1"/>
          <p:cNvSpPr/>
          <p:nvPr/>
        </p:nvSpPr>
        <p:spPr bwMode="auto">
          <a:xfrm>
            <a:off x="0" y="0"/>
            <a:ext cx="12191969" cy="68580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489432774" name="Rectangle 2"/>
          <p:cNvSpPr/>
          <p:nvPr/>
        </p:nvSpPr>
        <p:spPr bwMode="auto">
          <a:xfrm>
            <a:off x="0" y="0"/>
            <a:ext cx="12191969" cy="8229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827159462" name="TextBox 3"/>
          <p:cNvSpPr txBox="1"/>
          <p:nvPr/>
        </p:nvSpPr>
        <p:spPr bwMode="auto">
          <a:xfrm>
            <a:off x="960120" y="2331720"/>
            <a:ext cx="10241280" cy="914400"/>
          </a:xfrm>
          <a:prstGeom prst="rect">
            <a:avLst/>
          </a:prstGeom>
          <a:noFill/>
        </p:spPr>
        <p:txBody>
          <a:bodyPr wrap="square" lIns="0" tIns="0" rIns="0" bIns="0" anchor="t">
            <a:spAutoFit/>
          </a:bodyPr>
          <a:lstStyle/>
          <a:p>
            <a:pPr algn="l">
              <a:lnSpc>
                <a:spcPct val="124000"/>
              </a:lnSpc>
              <a:spcAft>
                <a:spcPts val="0"/>
              </a:spcAft>
              <a:defRPr/>
            </a:pPr>
            <a:r>
              <a:rPr sz="5000" b="1" i="0">
                <a:solidFill>
                  <a:srgbClr val="FFFFFF"/>
                </a:solidFill>
                <a:latin typeface="Segoe UI"/>
              </a:rPr>
              <a:t>Thank you</a:t>
            </a:r>
            <a:endParaRPr/>
          </a:p>
        </p:txBody>
      </p:sp>
      <p:sp>
        <p:nvSpPr>
          <p:cNvPr id="1582867323" name="TextBox 4"/>
          <p:cNvSpPr txBox="1"/>
          <p:nvPr/>
        </p:nvSpPr>
        <p:spPr bwMode="auto">
          <a:xfrm>
            <a:off x="960120" y="3346704"/>
            <a:ext cx="10241280" cy="402336"/>
          </a:xfrm>
          <a:prstGeom prst="rect">
            <a:avLst/>
          </a:prstGeom>
          <a:noFill/>
        </p:spPr>
        <p:txBody>
          <a:bodyPr wrap="square" lIns="0" tIns="0" rIns="0" bIns="0" anchor="t">
            <a:spAutoFit/>
          </a:bodyPr>
          <a:lstStyle/>
          <a:p>
            <a:pPr algn="l">
              <a:lnSpc>
                <a:spcPct val="124000"/>
              </a:lnSpc>
              <a:spcAft>
                <a:spcPts val="0"/>
              </a:spcAft>
              <a:defRPr/>
            </a:pPr>
            <a:r>
              <a:rPr sz="1800" b="0" i="0">
                <a:solidFill>
                  <a:srgbClr val="CDE2FB"/>
                </a:solidFill>
                <a:latin typeface="Segoe UI"/>
              </a:rPr>
              <a:t>Questions welcome</a:t>
            </a:r>
            <a:endParaRPr/>
          </a:p>
        </p:txBody>
      </p:sp>
      <p:sp>
        <p:nvSpPr>
          <p:cNvPr id="1636600490" name="Rectangle 5"/>
          <p:cNvSpPr/>
          <p:nvPr/>
        </p:nvSpPr>
        <p:spPr bwMode="auto">
          <a:xfrm>
            <a:off x="960120" y="3950208"/>
            <a:ext cx="128016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p>
        </p:txBody>
      </p:sp>
      <p:sp>
        <p:nvSpPr>
          <p:cNvPr id="1746075696" name="TextBox 6"/>
          <p:cNvSpPr txBox="1"/>
          <p:nvPr/>
        </p:nvSpPr>
        <p:spPr bwMode="auto">
          <a:xfrm>
            <a:off x="960120" y="4224528"/>
            <a:ext cx="10241280" cy="1097280"/>
          </a:xfrm>
          <a:prstGeom prst="rect">
            <a:avLst/>
          </a:prstGeom>
          <a:noFill/>
        </p:spPr>
        <p:txBody>
          <a:bodyPr wrap="square" lIns="0" tIns="0" rIns="0" bIns="0" anchor="t">
            <a:spAutoFit/>
          </a:bodyPr>
          <a:lstStyle/>
          <a:p>
            <a:pPr algn="l">
              <a:lnSpc>
                <a:spcPct val="185000"/>
              </a:lnSpc>
              <a:spcAft>
                <a:spcPts val="0"/>
              </a:spcAft>
              <a:defRPr/>
            </a:pPr>
            <a:r>
              <a:rPr sz="1400" b="1" i="0">
                <a:solidFill>
                  <a:srgbClr val="FFFFFF"/>
                </a:solidFill>
                <a:latin typeface="Segoe UI"/>
              </a:rPr>
              <a:t>NPower JDA Cohort 2026</a:t>
            </a:r>
            <a:endParaRPr/>
          </a:p>
          <a:p>
            <a:pPr algn="l">
              <a:lnSpc>
                <a:spcPct val="185000"/>
              </a:lnSpc>
              <a:spcAft>
                <a:spcPts val="0"/>
              </a:spcAft>
              <a:defRPr/>
            </a:pPr>
            <a:r>
              <a:rPr sz="1200" b="0" i="0">
                <a:solidFill>
                  <a:srgbClr val="9EC5F4"/>
                </a:solidFill>
                <a:latin typeface="Segoe UI"/>
              </a:rPr>
              <a:t>Amruta Atul · Asif Hassan · Dhanan Thannoo · Moustafa Ismail · Pablo Fiterman · Stephanie Jivoderova · Tanvi Varshney · Yunseo Jang</a:t>
            </a:r>
            <a:endParaRPr/>
          </a:p>
          <a:p>
            <a:pPr algn="l">
              <a:lnSpc>
                <a:spcPct val="185000"/>
              </a:lnSpc>
              <a:spcAft>
                <a:spcPts val="0"/>
              </a:spcAft>
              <a:defRPr/>
            </a:pPr>
            <a:r>
              <a:rPr sz="1150" b="0" i="0">
                <a:solidFill>
                  <a:srgbClr val="86B6EF"/>
                </a:solidFill>
                <a:latin typeface="Consolas"/>
              </a:rPr>
              <a:t>github.com/NPower-JDA-Cohort-2026/ibm-analytics-attrition-eda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22</Slides>
  <Notes>22</Notes>
  <HiddenSlides>0</HiddenSlides>
  <MMClips>2</MMClips>
  <ScaleCrop>0</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3</cp:revision>
  <dcterms:created xsi:type="dcterms:W3CDTF">2013-01-27T09:14:16Z</dcterms:created>
  <dcterms:modified xsi:type="dcterms:W3CDTF">2026-09-12T23:09:06Z</dcterms:modified>
  <cp:category/>
</cp:coreProperties>
</file>