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8.xml" ContentType="application/vnd.openxmlformats-officedocument.presentationml.notesSlide+xml"/>
  <Override PartName="/ppt/notesSlides/notesSlide1.xml" ContentType="application/vnd.openxmlformats-officedocument.presentationml.notesSlide+xml"/>
  <Override PartName="/ppt/slides/slide18.xml" ContentType="application/vnd.openxmlformats-officedocument.presentationml.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07" d="100"/>
          <a:sy n="107" d="100"/>
        </p:scale>
        <p:origin x="558" y="10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3319168" name="Slide Image Placeholder 1"/>
          <p:cNvSpPr>
            <a:spLocks noChangeAspect="1" noGrp="1" noRot="1"/>
          </p:cNvSpPr>
          <p:nvPr>
            <p:ph type="sldImg" idx="2"/>
          </p:nvPr>
        </p:nvSpPr>
        <p:spPr bwMode="auto"/>
      </p:sp>
      <p:sp>
        <p:nvSpPr>
          <p:cNvPr id="1736581389" name="Notes Placeholder 2"/>
          <p:cNvSpPr>
            <a:spLocks noGrp="1"/>
          </p:cNvSpPr>
          <p:nvPr>
            <p:ph type="body" sz="quarter" idx="3"/>
          </p:nvPr>
        </p:nvSpPr>
        <p:spPr bwMode="auto"/>
        <p:txBody>
          <a:bodyPr/>
          <a:lstStyle/>
          <a:p>
            <a:pPr>
              <a:defRPr/>
            </a:pPr>
            <a:r>
              <a:rP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endParaRPr/>
          </a:p>
        </p:txBody>
      </p:sp>
      <p:sp>
        <p:nvSpPr>
          <p:cNvPr id="143707181"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2828947" name="Slide Image Placeholder 1"/>
          <p:cNvSpPr>
            <a:spLocks noChangeAspect="1" noGrp="1" noRot="1"/>
          </p:cNvSpPr>
          <p:nvPr>
            <p:ph type="sldImg" idx="2"/>
          </p:nvPr>
        </p:nvSpPr>
        <p:spPr bwMode="auto"/>
      </p:sp>
      <p:sp>
        <p:nvSpPr>
          <p:cNvPr id="600568661" name="Notes Placeholder 2"/>
          <p:cNvSpPr>
            <a:spLocks noGrp="1"/>
          </p:cNvSpPr>
          <p:nvPr>
            <p:ph type="body" sz="quarter" idx="3"/>
          </p:nvPr>
        </p:nvSpPr>
        <p:spPr bwMode="auto"/>
        <p:txBody>
          <a:bodyPr/>
          <a:lstStyle/>
          <a:p>
            <a:pPr>
              <a:defRPr/>
            </a:pPr>
            <a:r>
              <a:rP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endParaRPr/>
          </a:p>
        </p:txBody>
      </p:sp>
      <p:sp>
        <p:nvSpPr>
          <p:cNvPr id="1156912096"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0057186" name="Slide Image Placeholder 1"/>
          <p:cNvSpPr>
            <a:spLocks noChangeAspect="1" noGrp="1" noRot="1"/>
          </p:cNvSpPr>
          <p:nvPr>
            <p:ph type="sldImg" idx="2"/>
          </p:nvPr>
        </p:nvSpPr>
        <p:spPr bwMode="auto"/>
      </p:sp>
      <p:sp>
        <p:nvSpPr>
          <p:cNvPr id="2101179884" name="Notes Placeholder 2"/>
          <p:cNvSpPr>
            <a:spLocks noGrp="1"/>
          </p:cNvSpPr>
          <p:nvPr>
            <p:ph type="body" sz="quarter" idx="3"/>
          </p:nvPr>
        </p:nvSpPr>
        <p:spPr bwMode="auto"/>
        <p:txBody>
          <a:bodyPr/>
          <a:lstStyle/>
          <a:p>
            <a:pPr>
              <a:defRPr/>
            </a:pPr>
            <a:r>
              <a:rP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endParaRPr/>
          </a:p>
        </p:txBody>
      </p:sp>
      <p:sp>
        <p:nvSpPr>
          <p:cNvPr id="890936418"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2269073" name="Slide Image Placeholder 1"/>
          <p:cNvSpPr>
            <a:spLocks noChangeAspect="1" noGrp="1" noRot="1"/>
          </p:cNvSpPr>
          <p:nvPr>
            <p:ph type="sldImg" idx="2"/>
          </p:nvPr>
        </p:nvSpPr>
        <p:spPr bwMode="auto"/>
      </p:sp>
      <p:sp>
        <p:nvSpPr>
          <p:cNvPr id="1943778539" name="Notes Placeholder 2"/>
          <p:cNvSpPr>
            <a:spLocks noGrp="1"/>
          </p:cNvSpPr>
          <p:nvPr>
            <p:ph type="body" sz="quarter" idx="3"/>
          </p:nvPr>
        </p:nvSpPr>
        <p:spPr bwMode="auto"/>
        <p:txBody>
          <a:bodyPr/>
          <a:lstStyle/>
          <a:p>
            <a:pPr>
              <a:defRPr/>
            </a:pPr>
            <a:r>
              <a:rP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endParaRPr/>
          </a:p>
        </p:txBody>
      </p:sp>
      <p:sp>
        <p:nvSpPr>
          <p:cNvPr id="1541539027"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54461" name="Slide Image Placeholder 1"/>
          <p:cNvSpPr>
            <a:spLocks noChangeAspect="1" noGrp="1" noRot="1"/>
          </p:cNvSpPr>
          <p:nvPr>
            <p:ph type="sldImg" idx="2"/>
          </p:nvPr>
        </p:nvSpPr>
        <p:spPr bwMode="auto"/>
      </p:sp>
      <p:sp>
        <p:nvSpPr>
          <p:cNvPr id="535935131" name="Notes Placeholder 2"/>
          <p:cNvSpPr>
            <a:spLocks noGrp="1"/>
          </p:cNvSpPr>
          <p:nvPr>
            <p:ph type="body" sz="quarter" idx="3"/>
          </p:nvPr>
        </p:nvSpPr>
        <p:spPr bwMode="auto"/>
        <p:txBody>
          <a:bodyPr/>
          <a:lstStyle/>
          <a:p>
            <a:pPr>
              <a:defRPr/>
            </a:pPr>
            <a:r>
              <a:rP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endParaRPr/>
          </a:p>
        </p:txBody>
      </p:sp>
      <p:sp>
        <p:nvSpPr>
          <p:cNvPr id="2934837"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9616235" name="Slide Image Placeholder 1"/>
          <p:cNvSpPr>
            <a:spLocks noChangeAspect="1" noGrp="1" noRot="1"/>
          </p:cNvSpPr>
          <p:nvPr>
            <p:ph type="sldImg" idx="2"/>
          </p:nvPr>
        </p:nvSpPr>
        <p:spPr bwMode="auto"/>
      </p:sp>
      <p:sp>
        <p:nvSpPr>
          <p:cNvPr id="556508322" name="Notes Placeholder 2"/>
          <p:cNvSpPr>
            <a:spLocks noGrp="1"/>
          </p:cNvSpPr>
          <p:nvPr>
            <p:ph type="body" sz="quarter" idx="3"/>
          </p:nvPr>
        </p:nvSpPr>
        <p:spPr bwMode="auto"/>
        <p:txBody>
          <a:bodyPr/>
          <a:lstStyle/>
          <a:p>
            <a:pPr>
              <a:defRPr/>
            </a:pPr>
            <a:r>
              <a:rP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endParaRPr/>
          </a:p>
        </p:txBody>
      </p:sp>
      <p:sp>
        <p:nvSpPr>
          <p:cNvPr id="469229732"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5952979" name="Slide Image Placeholder 1"/>
          <p:cNvSpPr>
            <a:spLocks noChangeAspect="1" noGrp="1" noRot="1"/>
          </p:cNvSpPr>
          <p:nvPr>
            <p:ph type="sldImg" idx="2"/>
          </p:nvPr>
        </p:nvSpPr>
        <p:spPr bwMode="auto"/>
      </p:sp>
      <p:sp>
        <p:nvSpPr>
          <p:cNvPr id="152098798" name="Notes Placeholder 2"/>
          <p:cNvSpPr>
            <a:spLocks noGrp="1"/>
          </p:cNvSpPr>
          <p:nvPr>
            <p:ph type="body" sz="quarter" idx="3"/>
          </p:nvPr>
        </p:nvSpPr>
        <p:spPr bwMode="auto"/>
        <p:txBody>
          <a:bodyPr/>
          <a:lstStyle/>
          <a:p>
            <a:pPr>
              <a:defRPr/>
            </a:pPr>
            <a:r>
              <a:rP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endParaRPr/>
          </a:p>
        </p:txBody>
      </p:sp>
      <p:sp>
        <p:nvSpPr>
          <p:cNvPr id="1484761831"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1350987" name="Slide Image Placeholder 1"/>
          <p:cNvSpPr>
            <a:spLocks noChangeAspect="1" noGrp="1" noRot="1"/>
          </p:cNvSpPr>
          <p:nvPr>
            <p:ph type="sldImg" idx="2"/>
          </p:nvPr>
        </p:nvSpPr>
        <p:spPr bwMode="auto"/>
      </p:sp>
      <p:sp>
        <p:nvSpPr>
          <p:cNvPr id="1720186852" name="Notes Placeholder 2"/>
          <p:cNvSpPr>
            <a:spLocks noGrp="1"/>
          </p:cNvSpPr>
          <p:nvPr>
            <p:ph type="body" sz="quarter" idx="3"/>
          </p:nvPr>
        </p:nvSpPr>
        <p:spPr bwMode="auto"/>
        <p:txBody>
          <a:bodyPr/>
          <a:lstStyle/>
          <a:p>
            <a:pPr>
              <a:defRPr/>
            </a:pPr>
            <a:r>
              <a:rP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endParaRPr/>
          </a:p>
        </p:txBody>
      </p:sp>
      <p:sp>
        <p:nvSpPr>
          <p:cNvPr id="1936577939"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027245" name="Slide Image Placeholder 1"/>
          <p:cNvSpPr>
            <a:spLocks noChangeAspect="1" noGrp="1" noRot="1"/>
          </p:cNvSpPr>
          <p:nvPr>
            <p:ph type="sldImg" idx="2"/>
          </p:nvPr>
        </p:nvSpPr>
        <p:spPr bwMode="auto"/>
      </p:sp>
      <p:sp>
        <p:nvSpPr>
          <p:cNvPr id="1269449147" name="Notes Placeholder 2"/>
          <p:cNvSpPr>
            <a:spLocks noGrp="1"/>
          </p:cNvSpPr>
          <p:nvPr>
            <p:ph type="body" sz="quarter" idx="3"/>
          </p:nvPr>
        </p:nvSpPr>
        <p:spPr bwMode="auto"/>
        <p:txBody>
          <a:bodyPr/>
          <a:lstStyle/>
          <a:p>
            <a:pPr>
              <a:defRPr/>
            </a:pPr>
            <a:r>
              <a:rP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endParaRPr/>
          </a:p>
        </p:txBody>
      </p:sp>
      <p:sp>
        <p:nvSpPr>
          <p:cNvPr id="749573110" name="Slide Number Placeholder 3"/>
          <p:cNvSpPr>
            <a:spLocks noGrp="1"/>
          </p:cNvSpPr>
          <p:nvPr>
            <p:ph type="sldNum" sz="quarter" idx="5"/>
          </p:nvPr>
        </p:nvSpPr>
        <p:spPr bwMode="auto"/>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3785278" name="Slide Image Placeholder 1"/>
          <p:cNvSpPr>
            <a:spLocks noChangeAspect="1" noGrp="1" noRot="1"/>
          </p:cNvSpPr>
          <p:nvPr>
            <p:ph type="sldImg" idx="2"/>
          </p:nvPr>
        </p:nvSpPr>
        <p:spPr bwMode="auto"/>
      </p:sp>
      <p:sp>
        <p:nvSpPr>
          <p:cNvPr id="1254278329" name="Notes Placeholder 2"/>
          <p:cNvSpPr>
            <a:spLocks noGrp="1"/>
          </p:cNvSpPr>
          <p:nvPr>
            <p:ph type="body" sz="quarter" idx="3"/>
          </p:nvPr>
        </p:nvSpPr>
        <p:spPr bwMode="auto"/>
        <p:txBody>
          <a:bodyPr/>
          <a:lstStyle/>
          <a:p>
            <a:pPr>
              <a:defRPr/>
            </a:pPr>
            <a:r>
              <a:rP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endParaRPr/>
          </a:p>
        </p:txBody>
      </p:sp>
      <p:sp>
        <p:nvSpPr>
          <p:cNvPr id="1519527795" name="Slide Number Placeholder 3"/>
          <p:cNvSpPr>
            <a:spLocks noGrp="1"/>
          </p:cNvSpPr>
          <p:nvPr>
            <p:ph type="sldNum" sz="quarter" idx="5"/>
          </p:nvPr>
        </p:nvSpPr>
        <p:spPr bwMode="auto"/>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6670253" name="Slide Image Placeholder 1"/>
          <p:cNvSpPr>
            <a:spLocks noChangeAspect="1" noGrp="1" noRot="1"/>
          </p:cNvSpPr>
          <p:nvPr>
            <p:ph type="sldImg" idx="2"/>
          </p:nvPr>
        </p:nvSpPr>
        <p:spPr bwMode="auto"/>
      </p:sp>
      <p:sp>
        <p:nvSpPr>
          <p:cNvPr id="1217330857" name="Notes Placeholder 2"/>
          <p:cNvSpPr>
            <a:spLocks noGrp="1"/>
          </p:cNvSpPr>
          <p:nvPr>
            <p:ph type="body" sz="quarter" idx="3"/>
          </p:nvPr>
        </p:nvSpPr>
        <p:spPr bwMode="auto"/>
        <p:txBody>
          <a:bodyPr/>
          <a:lstStyle/>
          <a:p>
            <a:pPr>
              <a:defRPr/>
            </a:pPr>
            <a:r>
              <a:rP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endParaRPr/>
          </a:p>
        </p:txBody>
      </p:sp>
      <p:sp>
        <p:nvSpPr>
          <p:cNvPr id="710406527" name="Slide Number Placeholder 3"/>
          <p:cNvSpPr>
            <a:spLocks noGrp="1"/>
          </p:cNvSpPr>
          <p:nvPr>
            <p:ph type="sldNum" sz="quarter" idx="5"/>
          </p:nvPr>
        </p:nvSpPr>
        <p:spPr bwMode="auto"/>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4980367" name="Slide Image Placeholder 1"/>
          <p:cNvSpPr>
            <a:spLocks noChangeAspect="1" noGrp="1" noRot="1"/>
          </p:cNvSpPr>
          <p:nvPr>
            <p:ph type="sldImg" idx="2"/>
          </p:nvPr>
        </p:nvSpPr>
        <p:spPr bwMode="auto"/>
      </p:sp>
      <p:sp>
        <p:nvSpPr>
          <p:cNvPr id="1938879247" name="Notes Placeholder 2"/>
          <p:cNvSpPr>
            <a:spLocks noGrp="1"/>
          </p:cNvSpPr>
          <p:nvPr>
            <p:ph type="body" sz="quarter" idx="3"/>
          </p:nvPr>
        </p:nvSpPr>
        <p:spPr bwMode="auto"/>
        <p:txBody>
          <a:bodyPr/>
          <a:lstStyle/>
          <a:p>
            <a:pPr>
              <a:defRPr/>
            </a:pPr>
            <a:r>
              <a:rP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endParaRPr/>
          </a:p>
        </p:txBody>
      </p:sp>
      <p:sp>
        <p:nvSpPr>
          <p:cNvPr id="1826490733" name="Slide Number Placeholder 3"/>
          <p:cNvSpPr>
            <a:spLocks noGrp="1"/>
          </p:cNvSpPr>
          <p:nvPr>
            <p:ph type="sldNum" sz="quarter" idx="5"/>
          </p:nvPr>
        </p:nvSpPr>
        <p:spPr bwMode="auto"/>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55952812" name="Slide Image Placeholder 1"/>
          <p:cNvSpPr>
            <a:spLocks noChangeAspect="1" noGrp="1" noRot="1"/>
          </p:cNvSpPr>
          <p:nvPr>
            <p:ph type="sldImg" idx="2"/>
          </p:nvPr>
        </p:nvSpPr>
        <p:spPr bwMode="auto"/>
      </p:sp>
      <p:sp>
        <p:nvSpPr>
          <p:cNvPr id="833318559" name="Notes Placeholder 2"/>
          <p:cNvSpPr>
            <a:spLocks noGrp="1"/>
          </p:cNvSpPr>
          <p:nvPr>
            <p:ph type="body" sz="quarter" idx="3"/>
          </p:nvPr>
        </p:nvSpPr>
        <p:spPr bwMode="auto"/>
        <p:txBody>
          <a:bodyPr/>
          <a:lstStyle/>
          <a:p>
            <a:pPr>
              <a:defRPr/>
            </a:pPr>
            <a:r>
              <a:rP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endParaRPr/>
          </a:p>
        </p:txBody>
      </p:sp>
      <p:sp>
        <p:nvSpPr>
          <p:cNvPr id="243868528" name="Slide Number Placeholder 3"/>
          <p:cNvSpPr>
            <a:spLocks noGrp="1"/>
          </p:cNvSpPr>
          <p:nvPr>
            <p:ph type="sldNum" sz="quarter" idx="5"/>
          </p:nvPr>
        </p:nvSpPr>
        <p:spPr bwMode="auto"/>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8534120" name="Slide Image Placeholder 1"/>
          <p:cNvSpPr>
            <a:spLocks noChangeAspect="1" noGrp="1" noRot="1"/>
          </p:cNvSpPr>
          <p:nvPr>
            <p:ph type="sldImg" idx="2"/>
          </p:nvPr>
        </p:nvSpPr>
        <p:spPr bwMode="auto"/>
      </p:sp>
      <p:sp>
        <p:nvSpPr>
          <p:cNvPr id="1231527813" name="Notes Placeholder 2"/>
          <p:cNvSpPr>
            <a:spLocks noGrp="1"/>
          </p:cNvSpPr>
          <p:nvPr>
            <p:ph type="body" sz="quarter" idx="3"/>
          </p:nvPr>
        </p:nvSpPr>
        <p:spPr bwMode="auto"/>
        <p:txBody>
          <a:bodyPr/>
          <a:lstStyle/>
          <a:p>
            <a:pPr>
              <a:defRPr/>
            </a:pPr>
            <a:r>
              <a:rP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endParaRPr/>
          </a:p>
        </p:txBody>
      </p:sp>
      <p:sp>
        <p:nvSpPr>
          <p:cNvPr id="2105574409" name="Slide Number Placeholder 3"/>
          <p:cNvSpPr>
            <a:spLocks noGrp="1"/>
          </p:cNvSpPr>
          <p:nvPr>
            <p:ph type="sldNum" sz="quarter" idx="5"/>
          </p:nvPr>
        </p:nvSpPr>
        <p:spPr bwMode="auto"/>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3477205" name="Slide Image Placeholder 1"/>
          <p:cNvSpPr>
            <a:spLocks noChangeAspect="1" noGrp="1" noRot="1"/>
          </p:cNvSpPr>
          <p:nvPr>
            <p:ph type="sldImg" idx="2"/>
          </p:nvPr>
        </p:nvSpPr>
        <p:spPr bwMode="auto"/>
      </p:sp>
      <p:sp>
        <p:nvSpPr>
          <p:cNvPr id="651672698" name="Notes Placeholder 2"/>
          <p:cNvSpPr>
            <a:spLocks noGrp="1"/>
          </p:cNvSpPr>
          <p:nvPr>
            <p:ph type="body" sz="quarter" idx="3"/>
          </p:nvPr>
        </p:nvSpPr>
        <p:spPr bwMode="auto"/>
        <p:txBody>
          <a:bodyPr/>
          <a:lstStyle/>
          <a:p>
            <a:pPr>
              <a:defRPr/>
            </a:pPr>
            <a:r>
              <a:rP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endParaRPr/>
          </a:p>
        </p:txBody>
      </p:sp>
      <p:sp>
        <p:nvSpPr>
          <p:cNvPr id="77818605" name="Slide Number Placeholder 3"/>
          <p:cNvSpPr>
            <a:spLocks noGrp="1"/>
          </p:cNvSpPr>
          <p:nvPr>
            <p:ph type="sldNum" sz="quarter" idx="5"/>
          </p:nvPr>
        </p:nvSpPr>
        <p:spPr bwMode="auto"/>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6291340" name="Slide Image Placeholder 1"/>
          <p:cNvSpPr>
            <a:spLocks noChangeAspect="1" noGrp="1" noRot="1"/>
          </p:cNvSpPr>
          <p:nvPr>
            <p:ph type="sldImg" idx="2"/>
          </p:nvPr>
        </p:nvSpPr>
        <p:spPr bwMode="auto"/>
      </p:sp>
      <p:sp>
        <p:nvSpPr>
          <p:cNvPr id="140487749" name="Notes Placeholder 2"/>
          <p:cNvSpPr>
            <a:spLocks noGrp="1"/>
          </p:cNvSpPr>
          <p:nvPr>
            <p:ph type="body" sz="quarter" idx="3"/>
          </p:nvPr>
        </p:nvSpPr>
        <p:spPr bwMode="auto"/>
        <p:txBody>
          <a:bodyPr/>
          <a:lstStyle/>
          <a:p>
            <a:pPr>
              <a:defRPr/>
            </a:pPr>
            <a:r>
              <a:rP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endParaRPr/>
          </a:p>
        </p:txBody>
      </p:sp>
      <p:sp>
        <p:nvSpPr>
          <p:cNvPr id="961632534" name="Slide Number Placeholder 3"/>
          <p:cNvSpPr>
            <a:spLocks noGrp="1"/>
          </p:cNvSpPr>
          <p:nvPr>
            <p:ph type="sldNum" sz="quarter" idx="5"/>
          </p:nvPr>
        </p:nvSpPr>
        <p:spPr bwMode="auto"/>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7707658" name="Slide Image Placeholder 1"/>
          <p:cNvSpPr>
            <a:spLocks noChangeAspect="1" noGrp="1" noRot="1"/>
          </p:cNvSpPr>
          <p:nvPr>
            <p:ph type="sldImg" idx="2"/>
          </p:nvPr>
        </p:nvSpPr>
        <p:spPr bwMode="auto"/>
      </p:sp>
      <p:sp>
        <p:nvSpPr>
          <p:cNvPr id="1251364715" name="Notes Placeholder 2"/>
          <p:cNvSpPr>
            <a:spLocks noGrp="1"/>
          </p:cNvSpPr>
          <p:nvPr>
            <p:ph type="body" sz="quarter" idx="3"/>
          </p:nvPr>
        </p:nvSpPr>
        <p:spPr bwMode="auto"/>
        <p:txBody>
          <a:bodyPr/>
          <a:lstStyle/>
          <a:p>
            <a:pPr>
              <a:defRPr/>
            </a:pPr>
            <a:r>
              <a:rP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endParaRPr/>
          </a:p>
        </p:txBody>
      </p:sp>
      <p:sp>
        <p:nvSpPr>
          <p:cNvPr id="971406862" name="Slide Number Placeholder 3"/>
          <p:cNvSpPr>
            <a:spLocks noGrp="1"/>
          </p:cNvSpPr>
          <p:nvPr>
            <p:ph type="sldNum" sz="quarter" idx="5"/>
          </p:nvPr>
        </p:nvSpPr>
        <p:spPr bwMode="auto"/>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3337978" name="Slide Image Placeholder 1"/>
          <p:cNvSpPr>
            <a:spLocks noChangeAspect="1" noGrp="1" noRot="1"/>
          </p:cNvSpPr>
          <p:nvPr>
            <p:ph type="sldImg" idx="2"/>
          </p:nvPr>
        </p:nvSpPr>
        <p:spPr bwMode="auto"/>
      </p:sp>
      <p:sp>
        <p:nvSpPr>
          <p:cNvPr id="77089463" name="Notes Placeholder 2"/>
          <p:cNvSpPr>
            <a:spLocks noGrp="1"/>
          </p:cNvSpPr>
          <p:nvPr>
            <p:ph type="body" sz="quarter" idx="3"/>
          </p:nvPr>
        </p:nvSpPr>
        <p:spPr bwMode="auto"/>
        <p:txBody>
          <a:bodyPr/>
          <a:lstStyle/>
          <a:p>
            <a:pPr>
              <a:defRPr/>
            </a:pPr>
            <a:r>
              <a:rP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endParaRPr/>
          </a:p>
        </p:txBody>
      </p:sp>
      <p:sp>
        <p:nvSpPr>
          <p:cNvPr id="2115190014" name="Slide Number Placeholder 3"/>
          <p:cNvSpPr>
            <a:spLocks noGrp="1"/>
          </p:cNvSpPr>
          <p:nvPr>
            <p:ph type="sldNum" sz="quarter" idx="5"/>
          </p:nvPr>
        </p:nvSpPr>
        <p:spPr bwMode="auto"/>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240" name="Slide Image Placeholder 1"/>
          <p:cNvSpPr>
            <a:spLocks noChangeAspect="1" noGrp="1" noRot="1"/>
          </p:cNvSpPr>
          <p:nvPr>
            <p:ph type="sldImg" idx="2"/>
          </p:nvPr>
        </p:nvSpPr>
        <p:spPr bwMode="auto"/>
      </p:sp>
      <p:sp>
        <p:nvSpPr>
          <p:cNvPr id="1513486594" name="Notes Placeholder 2"/>
          <p:cNvSpPr>
            <a:spLocks noGrp="1"/>
          </p:cNvSpPr>
          <p:nvPr>
            <p:ph type="body" sz="quarter" idx="3"/>
          </p:nvPr>
        </p:nvSpPr>
        <p:spPr bwMode="auto"/>
        <p:txBody>
          <a:bodyPr/>
          <a:lstStyle/>
          <a:p>
            <a:pPr>
              <a:defRPr/>
            </a:pPr>
            <a:r>
              <a:rP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endParaRPr/>
          </a:p>
        </p:txBody>
      </p:sp>
      <p:sp>
        <p:nvSpPr>
          <p:cNvPr id="504410284" name="Slide Number Placeholder 3"/>
          <p:cNvSpPr>
            <a:spLocks noGrp="1"/>
          </p:cNvSpPr>
          <p:nvPr>
            <p:ph type="sldNum" sz="quarter" idx="5"/>
          </p:nvPr>
        </p:nvSpPr>
        <p:spPr bwMode="auto"/>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91861840" name="Slide Image Placeholder 1"/>
          <p:cNvSpPr>
            <a:spLocks noChangeAspect="1" noGrp="1" noRot="1"/>
          </p:cNvSpPr>
          <p:nvPr>
            <p:ph type="sldImg" idx="2"/>
          </p:nvPr>
        </p:nvSpPr>
        <p:spPr bwMode="auto"/>
      </p:sp>
      <p:sp>
        <p:nvSpPr>
          <p:cNvPr id="407580495" name="Notes Placeholder 2"/>
          <p:cNvSpPr>
            <a:spLocks noGrp="1"/>
          </p:cNvSpPr>
          <p:nvPr>
            <p:ph type="body" sz="quarter" idx="3"/>
          </p:nvPr>
        </p:nvSpPr>
        <p:spPr bwMode="auto"/>
        <p:txBody>
          <a:bodyPr/>
          <a:lstStyle/>
          <a:p>
            <a:pPr>
              <a:defRPr/>
            </a:pPr>
            <a:r>
              <a:rP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endParaRPr/>
          </a:p>
        </p:txBody>
      </p:sp>
      <p:sp>
        <p:nvSpPr>
          <p:cNvPr id="533828802" name="Slide Number Placeholder 3"/>
          <p:cNvSpPr>
            <a:spLocks noGrp="1"/>
          </p:cNvSpPr>
          <p:nvPr>
            <p:ph type="sldNum" sz="quarter" idx="5"/>
          </p:nvPr>
        </p:nvSpPr>
        <p:spPr bwMode="auto"/>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1057123" name="Slide Image Placeholder 1"/>
          <p:cNvSpPr>
            <a:spLocks noChangeAspect="1" noGrp="1" noRot="1"/>
          </p:cNvSpPr>
          <p:nvPr>
            <p:ph type="sldImg" idx="2"/>
          </p:nvPr>
        </p:nvSpPr>
        <p:spPr bwMode="auto"/>
      </p:sp>
      <p:sp>
        <p:nvSpPr>
          <p:cNvPr id="1900984210" name="Notes Placeholder 2"/>
          <p:cNvSpPr>
            <a:spLocks noGrp="1"/>
          </p:cNvSpPr>
          <p:nvPr>
            <p:ph type="body" sz="quarter" idx="3"/>
          </p:nvPr>
        </p:nvSpPr>
        <p:spPr bwMode="auto"/>
        <p:txBody>
          <a:bodyPr/>
          <a:lstStyle/>
          <a:p>
            <a:pPr>
              <a:defRPr/>
            </a:pPr>
            <a:r>
              <a:rP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endParaRPr/>
          </a:p>
        </p:txBody>
      </p:sp>
      <p:sp>
        <p:nvSpPr>
          <p:cNvPr id="1784398911"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685923106"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a:p>
        </p:txBody>
      </p:sp>
      <p:sp>
        <p:nvSpPr>
          <p:cNvPr id="2023920115"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1436005266"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466430233" name="Footer Placeholder 4"/>
          <p:cNvSpPr>
            <a:spLocks noGrp="1"/>
          </p:cNvSpPr>
          <p:nvPr>
            <p:ph type="ftr" sz="quarter" idx="11"/>
          </p:nvPr>
        </p:nvSpPr>
        <p:spPr bwMode="auto"/>
        <p:txBody>
          <a:bodyPr/>
          <a:lstStyle/>
          <a:p>
            <a:pPr>
              <a:defRPr/>
            </a:pPr>
            <a:endParaRPr lang="en-US"/>
          </a:p>
        </p:txBody>
      </p:sp>
      <p:sp>
        <p:nvSpPr>
          <p:cNvPr id="229438442"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595452241" name="Title 1"/>
          <p:cNvSpPr>
            <a:spLocks noGrp="1"/>
          </p:cNvSpPr>
          <p:nvPr>
            <p:ph type="title"/>
          </p:nvPr>
        </p:nvSpPr>
        <p:spPr bwMode="auto"/>
        <p:txBody>
          <a:bodyPr/>
          <a:lstStyle/>
          <a:p>
            <a:pPr>
              <a:defRPr/>
            </a:pPr>
            <a:r>
              <a:rPr lang="en-US"/>
              <a:t>Click to edit Master title style</a:t>
            </a:r>
            <a:endParaRPr/>
          </a:p>
        </p:txBody>
      </p:sp>
      <p:sp>
        <p:nvSpPr>
          <p:cNvPr id="281218420"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393397567"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220494566" name="Footer Placeholder 4"/>
          <p:cNvSpPr>
            <a:spLocks noGrp="1"/>
          </p:cNvSpPr>
          <p:nvPr>
            <p:ph type="ftr" sz="quarter" idx="11"/>
          </p:nvPr>
        </p:nvSpPr>
        <p:spPr bwMode="auto"/>
        <p:txBody>
          <a:bodyPr/>
          <a:lstStyle/>
          <a:p>
            <a:pPr>
              <a:defRPr/>
            </a:pPr>
            <a:endParaRPr lang="en-US"/>
          </a:p>
        </p:txBody>
      </p:sp>
      <p:sp>
        <p:nvSpPr>
          <p:cNvPr id="1875373026"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866193448"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a:p>
        </p:txBody>
      </p:sp>
      <p:sp>
        <p:nvSpPr>
          <p:cNvPr id="1456362090"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4668122"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899084003" name="Footer Placeholder 4"/>
          <p:cNvSpPr>
            <a:spLocks noGrp="1"/>
          </p:cNvSpPr>
          <p:nvPr>
            <p:ph type="ftr" sz="quarter" idx="11"/>
          </p:nvPr>
        </p:nvSpPr>
        <p:spPr bwMode="auto"/>
        <p:txBody>
          <a:bodyPr/>
          <a:lstStyle/>
          <a:p>
            <a:pPr>
              <a:defRPr/>
            </a:pPr>
            <a:endParaRPr lang="en-US"/>
          </a:p>
        </p:txBody>
      </p:sp>
      <p:sp>
        <p:nvSpPr>
          <p:cNvPr id="1472062206"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359748343" name="Title 1"/>
          <p:cNvSpPr>
            <a:spLocks noGrp="1"/>
          </p:cNvSpPr>
          <p:nvPr>
            <p:ph type="title"/>
          </p:nvPr>
        </p:nvSpPr>
        <p:spPr bwMode="auto"/>
        <p:txBody>
          <a:bodyPr/>
          <a:lstStyle/>
          <a:p>
            <a:pPr>
              <a:defRPr/>
            </a:pPr>
            <a:r>
              <a:rPr lang="en-US"/>
              <a:t>Click to edit Master title style</a:t>
            </a:r>
            <a:endParaRPr/>
          </a:p>
        </p:txBody>
      </p:sp>
      <p:sp>
        <p:nvSpPr>
          <p:cNvPr id="142657954"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31467039"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77396472"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616240069" name="Footer Placeholder 5"/>
          <p:cNvSpPr>
            <a:spLocks noGrp="1"/>
          </p:cNvSpPr>
          <p:nvPr>
            <p:ph type="ftr" sz="quarter" idx="11"/>
          </p:nvPr>
        </p:nvSpPr>
        <p:spPr bwMode="auto"/>
        <p:txBody>
          <a:bodyPr/>
          <a:lstStyle/>
          <a:p>
            <a:pPr>
              <a:defRPr/>
            </a:pPr>
            <a:endParaRPr lang="en-US"/>
          </a:p>
        </p:txBody>
      </p:sp>
      <p:sp>
        <p:nvSpPr>
          <p:cNvPr id="161029558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080722348"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1879197971"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259632228"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416379285"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87046682"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9587162" name="Date Placeholder 6"/>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54129602" name="Footer Placeholder 7"/>
          <p:cNvSpPr>
            <a:spLocks noGrp="1"/>
          </p:cNvSpPr>
          <p:nvPr>
            <p:ph type="ftr" sz="quarter" idx="11"/>
          </p:nvPr>
        </p:nvSpPr>
        <p:spPr bwMode="auto"/>
        <p:txBody>
          <a:bodyPr/>
          <a:lstStyle/>
          <a:p>
            <a:pPr>
              <a:defRPr/>
            </a:pPr>
            <a:endParaRPr lang="en-US"/>
          </a:p>
        </p:txBody>
      </p:sp>
      <p:sp>
        <p:nvSpPr>
          <p:cNvPr id="1257416382"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477901757" name="Title 1"/>
          <p:cNvSpPr>
            <a:spLocks noGrp="1"/>
          </p:cNvSpPr>
          <p:nvPr>
            <p:ph type="title"/>
          </p:nvPr>
        </p:nvSpPr>
        <p:spPr bwMode="auto"/>
        <p:txBody>
          <a:bodyPr/>
          <a:lstStyle/>
          <a:p>
            <a:pPr>
              <a:defRPr/>
            </a:pPr>
            <a:r>
              <a:rPr lang="en-US"/>
              <a:t>Click to edit Master title style</a:t>
            </a:r>
            <a:endParaRPr/>
          </a:p>
        </p:txBody>
      </p:sp>
      <p:sp>
        <p:nvSpPr>
          <p:cNvPr id="51301029" name="Date Placeholder 2"/>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402419175" name="Footer Placeholder 3"/>
          <p:cNvSpPr>
            <a:spLocks noGrp="1"/>
          </p:cNvSpPr>
          <p:nvPr>
            <p:ph type="ftr" sz="quarter" idx="11"/>
          </p:nvPr>
        </p:nvSpPr>
        <p:spPr bwMode="auto"/>
        <p:txBody>
          <a:bodyPr/>
          <a:lstStyle/>
          <a:p>
            <a:pPr>
              <a:defRPr/>
            </a:pPr>
            <a:endParaRPr lang="en-US"/>
          </a:p>
        </p:txBody>
      </p:sp>
      <p:sp>
        <p:nvSpPr>
          <p:cNvPr id="1029189309"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1530540840" name="Date Placeholder 1"/>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057967819" name="Footer Placeholder 2"/>
          <p:cNvSpPr>
            <a:spLocks noGrp="1"/>
          </p:cNvSpPr>
          <p:nvPr>
            <p:ph type="ftr" sz="quarter" idx="11"/>
          </p:nvPr>
        </p:nvSpPr>
        <p:spPr bwMode="auto"/>
        <p:txBody>
          <a:bodyPr/>
          <a:lstStyle/>
          <a:p>
            <a:pPr>
              <a:defRPr/>
            </a:pPr>
            <a:endParaRPr lang="en-US"/>
          </a:p>
        </p:txBody>
      </p:sp>
      <p:sp>
        <p:nvSpPr>
          <p:cNvPr id="751732458"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1951481686"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a:p>
        </p:txBody>
      </p:sp>
      <p:sp>
        <p:nvSpPr>
          <p:cNvPr id="1890820859"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612702846"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605385287"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427978710" name="Footer Placeholder 5"/>
          <p:cNvSpPr>
            <a:spLocks noGrp="1"/>
          </p:cNvSpPr>
          <p:nvPr>
            <p:ph type="ftr" sz="quarter" idx="11"/>
          </p:nvPr>
        </p:nvSpPr>
        <p:spPr bwMode="auto"/>
        <p:txBody>
          <a:bodyPr/>
          <a:lstStyle/>
          <a:p>
            <a:pPr>
              <a:defRPr/>
            </a:pPr>
            <a:endParaRPr lang="en-US"/>
          </a:p>
        </p:txBody>
      </p:sp>
      <p:sp>
        <p:nvSpPr>
          <p:cNvPr id="103793828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1549709232"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a:p>
        </p:txBody>
      </p:sp>
      <p:sp>
        <p:nvSpPr>
          <p:cNvPr id="1873823064"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652419041"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2007097398"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869536365" name="Footer Placeholder 5"/>
          <p:cNvSpPr>
            <a:spLocks noGrp="1"/>
          </p:cNvSpPr>
          <p:nvPr>
            <p:ph type="ftr" sz="quarter" idx="11"/>
          </p:nvPr>
        </p:nvSpPr>
        <p:spPr bwMode="auto"/>
        <p:txBody>
          <a:bodyPr/>
          <a:lstStyle/>
          <a:p>
            <a:pPr>
              <a:defRPr/>
            </a:pPr>
            <a:endParaRPr lang="en-US"/>
          </a:p>
        </p:txBody>
      </p:sp>
      <p:sp>
        <p:nvSpPr>
          <p:cNvPr id="1609730668"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97138074" name="Title 1"/>
          <p:cNvSpPr>
            <a:spLocks noGrp="1"/>
          </p:cNvSpPr>
          <p:nvPr>
            <p:ph type="title"/>
          </p:nvPr>
        </p:nvSpPr>
        <p:spPr bwMode="auto"/>
        <p:txBody>
          <a:bodyPr/>
          <a:lstStyle/>
          <a:p>
            <a:pPr>
              <a:defRPr/>
            </a:pPr>
            <a:r>
              <a:rPr lang="en-US"/>
              <a:t>Click to edit Master title style</a:t>
            </a:r>
            <a:endParaRPr/>
          </a:p>
        </p:txBody>
      </p:sp>
      <p:sp>
        <p:nvSpPr>
          <p:cNvPr id="1582946792"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909770974"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479095273" name="Footer Placeholder 4"/>
          <p:cNvSpPr>
            <a:spLocks noGrp="1"/>
          </p:cNvSpPr>
          <p:nvPr>
            <p:ph type="ftr" sz="quarter" idx="11"/>
          </p:nvPr>
        </p:nvSpPr>
        <p:spPr bwMode="auto"/>
        <p:txBody>
          <a:bodyPr/>
          <a:lstStyle/>
          <a:p>
            <a:pPr>
              <a:defRPr/>
            </a:pPr>
            <a:endParaRPr lang="en-US"/>
          </a:p>
        </p:txBody>
      </p:sp>
      <p:sp>
        <p:nvSpPr>
          <p:cNvPr id="2129725556"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480015943"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a:p>
        </p:txBody>
      </p:sp>
      <p:sp>
        <p:nvSpPr>
          <p:cNvPr id="358805874"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8522937"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229673225" name="Footer Placeholder 4"/>
          <p:cNvSpPr>
            <a:spLocks noGrp="1"/>
          </p:cNvSpPr>
          <p:nvPr>
            <p:ph type="ftr" sz="quarter" idx="11"/>
          </p:nvPr>
        </p:nvSpPr>
        <p:spPr bwMode="auto"/>
        <p:txBody>
          <a:bodyPr/>
          <a:lstStyle/>
          <a:p>
            <a:pPr>
              <a:defRPr/>
            </a:pPr>
            <a:endParaRPr lang="en-US"/>
          </a:p>
        </p:txBody>
      </p:sp>
      <p:sp>
        <p:nvSpPr>
          <p:cNvPr id="2140409783"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664291832"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1809527671"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560150101"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9/12/2026</a:t>
            </a:fld>
            <a:endParaRPr lang="en-US"/>
          </a:p>
        </p:txBody>
      </p:sp>
      <p:sp>
        <p:nvSpPr>
          <p:cNvPr id="1204018403"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771163832"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48061633"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9471192"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5658240" name="TextBox 3"/>
          <p:cNvSpPr txBox="1"/>
          <p:nvPr/>
        </p:nvSpPr>
        <p:spPr bwMode="auto">
          <a:xfrm>
            <a:off x="960120" y="1600200"/>
            <a:ext cx="10241280" cy="274320"/>
          </a:xfrm>
          <a:prstGeom prst="rect">
            <a:avLst/>
          </a:prstGeom>
          <a:noFill/>
        </p:spPr>
        <p:txBody>
          <a:bodyPr wrap="square" lIns="0" tIns="0" rIns="0" bIns="0" anchor="t">
            <a:spAutoFit/>
          </a:bodyPr>
          <a:lstStyle/>
          <a:p>
            <a:pPr algn="l">
              <a:lnSpc>
                <a:spcPct val="124000"/>
              </a:lnSpc>
              <a:spcAft>
                <a:spcPts val="0"/>
              </a:spcAft>
              <a:defRPr/>
            </a:pPr>
            <a:r>
              <a:rPr sz="1100" b="1" i="0">
                <a:solidFill>
                  <a:srgbClr val="9EC5F4"/>
                </a:solidFill>
                <a:latin typeface="Segoe UI"/>
              </a:rPr>
              <a:t>NPOWER JUNIOR DATA ANALYST PROGRAM</a:t>
            </a:r>
            <a:endParaRPr/>
          </a:p>
        </p:txBody>
      </p:sp>
      <p:sp>
        <p:nvSpPr>
          <p:cNvPr id="54295156" name="TextBox 4"/>
          <p:cNvSpPr txBox="1"/>
          <p:nvPr/>
        </p:nvSpPr>
        <p:spPr bwMode="auto">
          <a:xfrm>
            <a:off x="960120" y="2029968"/>
            <a:ext cx="10241280" cy="1280160"/>
          </a:xfrm>
          <a:prstGeom prst="rect">
            <a:avLst/>
          </a:prstGeom>
          <a:noFill/>
        </p:spPr>
        <p:txBody>
          <a:bodyPr wrap="square" lIns="0" tIns="0" rIns="0" bIns="0" anchor="t">
            <a:spAutoFit/>
          </a:bodyPr>
          <a:lstStyle/>
          <a:p>
            <a:pPr algn="l">
              <a:lnSpc>
                <a:spcPct val="108000"/>
              </a:lnSpc>
              <a:spcAft>
                <a:spcPts val="0"/>
              </a:spcAft>
              <a:defRPr/>
            </a:pPr>
            <a:r>
              <a:rPr sz="4200" b="1" i="0">
                <a:solidFill>
                  <a:srgbClr val="FFFFFF"/>
                </a:solidFill>
                <a:latin typeface="Segoe UI"/>
              </a:rPr>
              <a:t>IBM Employee Attrition</a:t>
            </a:r>
            <a:br>
              <a:rPr sz="4200" b="1" i="0">
                <a:solidFill>
                  <a:srgbClr val="FFFFFF"/>
                </a:solidFill>
                <a:latin typeface="Segoe UI"/>
              </a:rPr>
            </a:br>
            <a:r>
              <a:rPr sz="4200" b="1" i="0">
                <a:solidFill>
                  <a:srgbClr val="FFFFFF"/>
                </a:solidFill>
                <a:latin typeface="Segoe UI"/>
              </a:rPr>
              <a:t>— Exploratory Data Analysis</a:t>
            </a:r>
            <a:endParaRPr/>
          </a:p>
        </p:txBody>
      </p:sp>
      <p:sp>
        <p:nvSpPr>
          <p:cNvPr id="359311130" name="TextBox 5"/>
          <p:cNvSpPr txBox="1"/>
          <p:nvPr/>
        </p:nvSpPr>
        <p:spPr bwMode="auto">
          <a:xfrm>
            <a:off x="960120" y="3584448"/>
            <a:ext cx="9509760" cy="402336"/>
          </a:xfrm>
          <a:prstGeom prst="rect">
            <a:avLst/>
          </a:prstGeom>
          <a:noFill/>
        </p:spPr>
        <p:txBody>
          <a:bodyPr wrap="square" lIns="0" tIns="0" rIns="0" bIns="0" anchor="t">
            <a:spAutoFit/>
          </a:bodyPr>
          <a:lstStyle/>
          <a:p>
            <a:pPr algn="l">
              <a:lnSpc>
                <a:spcPct val="124000"/>
              </a:lnSpc>
              <a:spcAft>
                <a:spcPts val="0"/>
              </a:spcAft>
              <a:defRPr/>
            </a:pPr>
            <a:r>
              <a:rPr sz="1700" b="0" i="0">
                <a:solidFill>
                  <a:srgbClr val="CDE2FB"/>
                </a:solidFill>
                <a:latin typeface="Segoe UI"/>
              </a:rPr>
              <a:t>Understanding the Factors Associated with Employee Attrition</a:t>
            </a:r>
            <a:endParaRPr/>
          </a:p>
        </p:txBody>
      </p:sp>
      <p:sp>
        <p:nvSpPr>
          <p:cNvPr id="233048671" name="Rectangle 6"/>
          <p:cNvSpPr/>
          <p:nvPr/>
        </p:nvSpPr>
        <p:spPr bwMode="auto">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13171249" name="TextBox 7"/>
          <p:cNvSpPr txBox="1"/>
          <p:nvPr/>
        </p:nvSpPr>
        <p:spPr bwMode="auto">
          <a:xfrm>
            <a:off x="960120" y="4526280"/>
            <a:ext cx="10241280" cy="1005840"/>
          </a:xfrm>
          <a:prstGeom prst="rect">
            <a:avLst/>
          </a:prstGeom>
          <a:noFill/>
        </p:spPr>
        <p:txBody>
          <a:bodyPr wrap="square" lIns="0" tIns="0" rIns="0" bIns="0" anchor="t">
            <a:spAutoFit/>
          </a:bodyPr>
          <a:lstStyle/>
          <a:p>
            <a:pPr algn="l">
              <a:lnSpc>
                <a:spcPct val="170000"/>
              </a:lnSpc>
              <a:spcAft>
                <a:spcPts val="0"/>
              </a:spcAft>
              <a:defRPr/>
            </a:pPr>
            <a:r>
              <a:rPr sz="1400" b="1" i="0">
                <a:solidFill>
                  <a:srgbClr val="FFFFFF"/>
                </a:solidFill>
                <a:latin typeface="Segoe UI"/>
              </a:rPr>
              <a:t>NPower JDA Cohort 2026  </a:t>
            </a:r>
            <a:r>
              <a:rPr sz="1400" b="0" i="0">
                <a:solidFill>
                  <a:srgbClr val="9EC5F4"/>
                </a:solidFill>
                <a:latin typeface="Segoe UI"/>
              </a:rPr>
              <a:t>·  8-person team project</a:t>
            </a:r>
            <a:endParaRPr/>
          </a:p>
          <a:p>
            <a:pPr algn="l">
              <a:lnSpc>
                <a:spcPct val="170000"/>
              </a:lnSpc>
              <a:spcAft>
                <a:spcPts val="0"/>
              </a:spcAft>
              <a:defRPr/>
            </a:pPr>
            <a:r>
              <a:rPr sz="1200" b="0" i="0">
                <a:solidFill>
                  <a:srgbClr val="86B6EF"/>
                </a:solidFill>
                <a:latin typeface="Consolas"/>
              </a:rPr>
              <a:t>github.com/NPower-JDA-Cohort-2026/ibm-analytics-attrition-eda</a:t>
            </a:r>
            <a:endParaRPr/>
          </a:p>
        </p:txBody>
      </p:sp>
      <p:sp>
        <p:nvSpPr>
          <p:cNvPr id="534803608" name="TextBox 8"/>
          <p:cNvSpPr txBox="1"/>
          <p:nvPr/>
        </p:nvSpPr>
        <p:spPr bwMode="auto">
          <a:xfrm>
            <a:off x="960120" y="5760720"/>
            <a:ext cx="10241280" cy="274320"/>
          </a:xfrm>
          <a:prstGeom prst="rect">
            <a:avLst/>
          </a:prstGeom>
          <a:noFill/>
        </p:spPr>
        <p:txBody>
          <a:bodyPr wrap="square" lIns="0" tIns="0" rIns="0" bIns="0" anchor="t">
            <a:spAutoFit/>
          </a:bodyPr>
          <a:lstStyle/>
          <a:p>
            <a:pPr algn="l">
              <a:lnSpc>
                <a:spcPct val="124000"/>
              </a:lnSpc>
              <a:spcAft>
                <a:spcPts val="0"/>
              </a:spcAft>
              <a:defRPr/>
            </a:pPr>
            <a:r>
              <a:rPr sz="1200" b="0" i="0">
                <a:solidFill>
                  <a:srgbClr val="86B6EF"/>
                </a:solidFill>
                <a:latin typeface="Segoe UI"/>
              </a:rPr>
              <a:t>September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7729083"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PROJECT INTRODUCTION</a:t>
            </a:r>
            <a:endParaRPr/>
          </a:p>
        </p:txBody>
      </p:sp>
      <p:sp>
        <p:nvSpPr>
          <p:cNvPr id="156551874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Why attrition analysis</a:t>
            </a:r>
            <a:endParaRPr/>
          </a:p>
        </p:txBody>
      </p:sp>
      <p:sp>
        <p:nvSpPr>
          <p:cNvPr id="842775325"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6333777" name="TextBox 4"/>
          <p:cNvSpPr txBox="1"/>
          <p:nvPr/>
        </p:nvSpPr>
        <p:spPr bwMode="auto">
          <a:xfrm>
            <a:off x="566928" y="1389888"/>
            <a:ext cx="5989320" cy="3108960"/>
          </a:xfrm>
          <a:prstGeom prst="rect">
            <a:avLst/>
          </a:prstGeom>
          <a:noFill/>
        </p:spPr>
        <p:txBody>
          <a:bodyPr wrap="square" lIns="0" tIns="0" rIns="0" bIns="0" anchor="t">
            <a:spAutoFit/>
          </a:bodyPr>
          <a:lstStyle/>
          <a:p>
            <a:pPr algn="l">
              <a:lnSpc>
                <a:spcPct val="130000"/>
              </a:lnSpc>
              <a:spcAft>
                <a:spcPts val="1100"/>
              </a:spcAft>
              <a:defRPr/>
            </a:pPr>
            <a:r>
              <a:rPr sz="1350" b="1" i="0">
                <a:solidFill>
                  <a:srgbClr val="0B0B0B"/>
                </a:solidFill>
                <a:latin typeface="Segoe UI"/>
              </a:rPr>
              <a:t>What attrition means</a:t>
            </a:r>
            <a:endParaRPr/>
          </a:p>
          <a:p>
            <a:pPr algn="l">
              <a:lnSpc>
                <a:spcPct val="130000"/>
              </a:lnSpc>
              <a:spcAft>
                <a:spcPts val="1100"/>
              </a:spcAft>
              <a:defRPr/>
            </a:pPr>
            <a:r>
              <a:rPr sz="1200" b="0" i="0">
                <a:solidFill>
                  <a:srgbClr val="52514E"/>
                </a:solidFill>
                <a:latin typeface="Segoe UI"/>
              </a:rPr>
              <a:t>Attrition is the loss of employees from an organisation — in this dataset, one column with two values: whether an employee has left (Yes) or is still employed (No).</a:t>
            </a:r>
            <a:endParaRPr/>
          </a:p>
          <a:p>
            <a:pPr algn="l">
              <a:lnSpc>
                <a:spcPct val="130000"/>
              </a:lnSpc>
              <a:spcAft>
                <a:spcPts val="1100"/>
              </a:spcAft>
              <a:defRPr/>
            </a:pPr>
            <a:r>
              <a:rPr sz="1350" b="1" i="0">
                <a:solidFill>
                  <a:srgbClr val="0B0B0B"/>
                </a:solidFill>
                <a:latin typeface="Segoe UI"/>
              </a:rPr>
              <a:t>Why it matters</a:t>
            </a:r>
            <a:endParaRPr/>
          </a:p>
          <a:p>
            <a:pPr algn="l">
              <a:lnSpc>
                <a:spcPct val="130000"/>
              </a:lnSpc>
              <a:spcAft>
                <a:spcPts val="1100"/>
              </a:spcAft>
              <a:defRPr/>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endParaRPr/>
          </a:p>
        </p:txBody>
      </p:sp>
      <p:sp>
        <p:nvSpPr>
          <p:cNvPr id="157158199" name="Rectangle 5"/>
          <p:cNvSpPr/>
          <p:nvPr/>
        </p:nvSpPr>
        <p:spPr bwMode="auto">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5640487" name="Rectangle 6"/>
          <p:cNvSpPr/>
          <p:nvPr/>
        </p:nvSpPr>
        <p:spPr bwMode="auto">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97047558" name="TextBox 7"/>
          <p:cNvSpPr txBox="1"/>
          <p:nvPr/>
        </p:nvSpPr>
        <p:spPr bwMode="auto">
          <a:xfrm>
            <a:off x="786384" y="5093208"/>
            <a:ext cx="5586983"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OUR GOAL</a:t>
            </a:r>
            <a:endParaRPr/>
          </a:p>
        </p:txBody>
      </p:sp>
      <p:sp>
        <p:nvSpPr>
          <p:cNvPr id="195017106" name="TextBox 8"/>
          <p:cNvSpPr txBox="1"/>
          <p:nvPr/>
        </p:nvSpPr>
        <p:spPr bwMode="auto">
          <a:xfrm>
            <a:off x="786384" y="5340096"/>
            <a:ext cx="5586983"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Not “can we guess who quits” but “which conditions are over-represented among leavers, by how much, and is the gap large enough to act on.”</a:t>
            </a:r>
            <a:endParaRPr/>
          </a:p>
        </p:txBody>
      </p:sp>
      <p:sp>
        <p:nvSpPr>
          <p:cNvPr id="386156146" name="TextBox 9"/>
          <p:cNvSpPr txBox="1"/>
          <p:nvPr/>
        </p:nvSpPr>
        <p:spPr bwMode="auto">
          <a:xfrm>
            <a:off x="6922008" y="1389888"/>
            <a:ext cx="4703033" cy="274320"/>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The five question groups the project set out to answer</a:t>
            </a:r>
            <a:endParaRPr/>
          </a:p>
        </p:txBody>
      </p:sp>
      <p:sp>
        <p:nvSpPr>
          <p:cNvPr id="28990414" name="TextBox 10"/>
          <p:cNvSpPr txBox="1"/>
          <p:nvPr/>
        </p:nvSpPr>
        <p:spPr bwMode="auto">
          <a:xfrm>
            <a:off x="6922008" y="1773936"/>
            <a:ext cx="4703033" cy="2834640"/>
          </a:xfrm>
          <a:prstGeom prst="rect">
            <a:avLst/>
          </a:prstGeom>
          <a:noFill/>
        </p:spPr>
        <p:txBody>
          <a:bodyPr wrap="square" lIns="0" tIns="0" rIns="0" bIns="0" anchor="t">
            <a:spAutoFit/>
          </a:bodyPr>
          <a:lstStyle/>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endParaRPr/>
          </a:p>
        </p:txBody>
      </p:sp>
      <p:sp>
        <p:nvSpPr>
          <p:cNvPr id="390747650" name="Rectangle 11"/>
          <p:cNvSpPr/>
          <p:nvPr/>
        </p:nvSpPr>
        <p:spPr bwMode="auto">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9037586" name="Rectangle 12"/>
          <p:cNvSpPr/>
          <p:nvPr/>
        </p:nvSpPr>
        <p:spPr bwMode="auto">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4656538" name="TextBox 13"/>
          <p:cNvSpPr txBox="1"/>
          <p:nvPr/>
        </p:nvSpPr>
        <p:spPr bwMode="auto">
          <a:xfrm>
            <a:off x="7141464" y="5093208"/>
            <a:ext cx="43006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FRAMING</a:t>
            </a:r>
            <a:endParaRPr/>
          </a:p>
        </p:txBody>
      </p:sp>
      <p:sp>
        <p:nvSpPr>
          <p:cNvPr id="2048883003" name="TextBox 14"/>
          <p:cNvSpPr txBox="1"/>
          <p:nvPr/>
        </p:nvSpPr>
        <p:spPr bwMode="auto">
          <a:xfrm>
            <a:off x="7141464" y="5340096"/>
            <a:ext cx="4300697"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Diagnostic, not predictive. With one cross-sectional snapshot and no experiment, the honest ceiling is “this condition is over-represented among leavers by n percentage points.”</a:t>
            </a:r>
            <a:endParaRPr/>
          </a:p>
        </p:txBody>
      </p:sp>
      <p:sp>
        <p:nvSpPr>
          <p:cNvPr id="1337814262"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13258148"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Overview and Analysis Questions</a:t>
            </a:r>
            <a:endParaRPr/>
          </a:p>
        </p:txBody>
      </p:sp>
      <p:sp>
        <p:nvSpPr>
          <p:cNvPr id="357431013"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550528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DATASET OVERVIEW</a:t>
            </a:r>
            <a:endParaRPr/>
          </a:p>
        </p:txBody>
      </p:sp>
      <p:sp>
        <p:nvSpPr>
          <p:cNvPr id="31613369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IBM HR Analytics Employee Attrition dataset</a:t>
            </a:r>
            <a:endParaRPr/>
          </a:p>
        </p:txBody>
      </p:sp>
      <p:sp>
        <p:nvSpPr>
          <p:cNvPr id="350207826"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27581714" name="Rectangle 4"/>
          <p:cNvSpPr/>
          <p:nvPr/>
        </p:nvSpPr>
        <p:spPr bwMode="auto">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41491990" name="Rectangle 5"/>
          <p:cNvSpPr/>
          <p:nvPr/>
        </p:nvSpPr>
        <p:spPr bwMode="auto">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9155833" name="TextBox 6"/>
          <p:cNvSpPr txBox="1"/>
          <p:nvPr/>
        </p:nvSpPr>
        <p:spPr bwMode="auto">
          <a:xfrm>
            <a:off x="804672"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631504378" name="TextBox 7"/>
          <p:cNvSpPr txBox="1"/>
          <p:nvPr/>
        </p:nvSpPr>
        <p:spPr bwMode="auto">
          <a:xfrm>
            <a:off x="804672"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Employee records</a:t>
            </a:r>
            <a:endParaRPr/>
          </a:p>
        </p:txBody>
      </p:sp>
      <p:sp>
        <p:nvSpPr>
          <p:cNvPr id="475804738" name="TextBox 8"/>
          <p:cNvSpPr txBox="1"/>
          <p:nvPr/>
        </p:nvSpPr>
        <p:spPr bwMode="auto">
          <a:xfrm>
            <a:off x="804672"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One row per employee</a:t>
            </a:r>
            <a:endParaRPr/>
          </a:p>
        </p:txBody>
      </p:sp>
      <p:sp>
        <p:nvSpPr>
          <p:cNvPr id="657860336" name="Rectangle 9"/>
          <p:cNvSpPr/>
          <p:nvPr/>
        </p:nvSpPr>
        <p:spPr bwMode="auto">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97042067" name="Rectangle 10"/>
          <p:cNvSpPr/>
          <p:nvPr/>
        </p:nvSpPr>
        <p:spPr bwMode="auto">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0070027" name="TextBox 11"/>
          <p:cNvSpPr txBox="1"/>
          <p:nvPr/>
        </p:nvSpPr>
        <p:spPr bwMode="auto">
          <a:xfrm>
            <a:off x="3624064"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35</a:t>
            </a:r>
            <a:endParaRPr/>
          </a:p>
        </p:txBody>
      </p:sp>
      <p:sp>
        <p:nvSpPr>
          <p:cNvPr id="1671043753" name="TextBox 12"/>
          <p:cNvSpPr txBox="1"/>
          <p:nvPr/>
        </p:nvSpPr>
        <p:spPr bwMode="auto">
          <a:xfrm>
            <a:off x="3624064"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Columns</a:t>
            </a:r>
            <a:endParaRPr/>
          </a:p>
        </p:txBody>
      </p:sp>
      <p:sp>
        <p:nvSpPr>
          <p:cNvPr id="1650860044" name="TextBox 13"/>
          <p:cNvSpPr txBox="1"/>
          <p:nvPr/>
        </p:nvSpPr>
        <p:spPr bwMode="auto">
          <a:xfrm>
            <a:off x="3624064"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26 numeric · 9 text</a:t>
            </a:r>
            <a:endParaRPr/>
          </a:p>
        </p:txBody>
      </p:sp>
      <p:sp>
        <p:nvSpPr>
          <p:cNvPr id="1926434989" name="Rectangle 14"/>
          <p:cNvSpPr/>
          <p:nvPr/>
        </p:nvSpPr>
        <p:spPr bwMode="auto">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842547" name="Rectangle 15"/>
          <p:cNvSpPr/>
          <p:nvPr/>
        </p:nvSpPr>
        <p:spPr bwMode="auto">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5978837" name="TextBox 16"/>
          <p:cNvSpPr txBox="1"/>
          <p:nvPr/>
        </p:nvSpPr>
        <p:spPr bwMode="auto">
          <a:xfrm>
            <a:off x="6443456"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16.1%</a:t>
            </a:r>
            <a:endParaRPr/>
          </a:p>
        </p:txBody>
      </p:sp>
      <p:sp>
        <p:nvSpPr>
          <p:cNvPr id="220266450" name="TextBox 17"/>
          <p:cNvSpPr txBox="1"/>
          <p:nvPr/>
        </p:nvSpPr>
        <p:spPr bwMode="auto">
          <a:xfrm>
            <a:off x="6443456"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Overall attrition</a:t>
            </a:r>
            <a:endParaRPr/>
          </a:p>
        </p:txBody>
      </p:sp>
      <p:sp>
        <p:nvSpPr>
          <p:cNvPr id="2104803017" name="TextBox 18"/>
          <p:cNvSpPr txBox="1"/>
          <p:nvPr/>
        </p:nvSpPr>
        <p:spPr bwMode="auto">
          <a:xfrm>
            <a:off x="6443456"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237 left · 1,233 stayed</a:t>
            </a:r>
            <a:endParaRPr/>
          </a:p>
        </p:txBody>
      </p:sp>
      <p:sp>
        <p:nvSpPr>
          <p:cNvPr id="1978497405" name="Rectangle 19"/>
          <p:cNvSpPr/>
          <p:nvPr/>
        </p:nvSpPr>
        <p:spPr bwMode="auto">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2621529" name="Rectangle 20"/>
          <p:cNvSpPr/>
          <p:nvPr/>
        </p:nvSpPr>
        <p:spPr bwMode="auto">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0853736" name="TextBox 21"/>
          <p:cNvSpPr txBox="1"/>
          <p:nvPr/>
        </p:nvSpPr>
        <p:spPr bwMode="auto">
          <a:xfrm>
            <a:off x="9262849"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a:t>
            </a:r>
            <a:endParaRPr/>
          </a:p>
        </p:txBody>
      </p:sp>
      <p:sp>
        <p:nvSpPr>
          <p:cNvPr id="634940643" name="TextBox 22"/>
          <p:cNvSpPr txBox="1"/>
          <p:nvPr/>
        </p:nvSpPr>
        <p:spPr bwMode="auto">
          <a:xfrm>
            <a:off x="9262849"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Missing values</a:t>
            </a:r>
            <a:endParaRPr/>
          </a:p>
        </p:txBody>
      </p:sp>
      <p:sp>
        <p:nvSpPr>
          <p:cNvPr id="1690153713" name="TextBox 23"/>
          <p:cNvSpPr txBox="1"/>
          <p:nvPr/>
        </p:nvSpPr>
        <p:spPr bwMode="auto">
          <a:xfrm>
            <a:off x="9262849"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0 duplicate rows</a:t>
            </a:r>
            <a:endParaRPr/>
          </a:p>
        </p:txBody>
      </p:sp>
      <p:sp>
        <p:nvSpPr>
          <p:cNvPr id="318919086" name="TextBox 24"/>
          <p:cNvSpPr txBox="1"/>
          <p:nvPr/>
        </p:nvSpPr>
        <p:spPr bwMode="auto">
          <a:xfrm>
            <a:off x="566928" y="2871216"/>
            <a:ext cx="56692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Variable groups</a:t>
            </a:r>
            <a:endParaRPr/>
          </a:p>
        </p:txBody>
      </p:sp>
      <p:sp>
        <p:nvSpPr>
          <p:cNvPr id="1949653471" name="TextBox 25"/>
          <p:cNvSpPr txBox="1"/>
          <p:nvPr/>
        </p:nvSpPr>
        <p:spPr bwMode="auto">
          <a:xfrm>
            <a:off x="566928" y="3218688"/>
            <a:ext cx="5669280"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endParaRPr/>
          </a:p>
        </p:txBody>
      </p:sp>
      <p:sp>
        <p:nvSpPr>
          <p:cNvPr id="1354746833" name="TextBox 26"/>
          <p:cNvSpPr txBox="1"/>
          <p:nvPr/>
        </p:nvSpPr>
        <p:spPr bwMode="auto">
          <a:xfrm>
            <a:off x="6601968" y="2871216"/>
            <a:ext cx="502307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Source and data quality</a:t>
            </a:r>
            <a:endParaRPr/>
          </a:p>
        </p:txBody>
      </p:sp>
      <p:sp>
        <p:nvSpPr>
          <p:cNvPr id="1506165583" name="TextBox 27"/>
          <p:cNvSpPr txBox="1"/>
          <p:nvPr/>
        </p:nvSpPr>
        <p:spPr bwMode="auto">
          <a:xfrm>
            <a:off x="6601968" y="3218688"/>
            <a:ext cx="5023073"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endParaRPr/>
          </a:p>
        </p:txBody>
      </p:sp>
      <p:sp>
        <p:nvSpPr>
          <p:cNvPr id="1801957835" name="Rectangle 28"/>
          <p:cNvSpPr/>
          <p:nvPr/>
        </p:nvSpPr>
        <p:spPr bwMode="auto">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30885933" name="Rectangle 29"/>
          <p:cNvSpPr/>
          <p:nvPr/>
        </p:nvSpPr>
        <p:spPr bwMode="auto">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69808327" name="TextBox 30"/>
          <p:cNvSpPr txBox="1"/>
          <p:nvPr/>
        </p:nvSpPr>
        <p:spPr bwMode="auto">
          <a:xfrm>
            <a:off x="786384" y="571500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IMPORTANT</a:t>
            </a:r>
            <a:endParaRPr/>
          </a:p>
        </p:txBody>
      </p:sp>
      <p:sp>
        <p:nvSpPr>
          <p:cNvPr id="1528025406" name="TextBox 31"/>
          <p:cNvSpPr txBox="1"/>
          <p:nvPr/>
        </p:nvSpPr>
        <p:spPr bwMode="auto">
          <a:xfrm>
            <a:off x="786384" y="596188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is fictional — created by IBM data scientists to demonstrate HR analytics. No rate in it is an industry benchmark. Findings demonstrate method.</a:t>
            </a:r>
            <a:endParaRPr/>
          </a:p>
        </p:txBody>
      </p:sp>
      <p:sp>
        <p:nvSpPr>
          <p:cNvPr id="907084755" name="Rectangle 3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3497175" name="TextBox 3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 01, 02 · README.md</a:t>
            </a:r>
            <a:endParaRPr/>
          </a:p>
        </p:txBody>
      </p:sp>
      <p:sp>
        <p:nvSpPr>
          <p:cNvPr id="757246116" name="TextBox 3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900291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METHODOLOGY</a:t>
            </a:r>
            <a:endParaRPr/>
          </a:p>
        </p:txBody>
      </p:sp>
      <p:sp>
        <p:nvSpPr>
          <p:cNvPr id="1192155834"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Eleven notebooks, run in numeric order</a:t>
            </a:r>
            <a:endParaRPr/>
          </a:p>
        </p:txBody>
      </p:sp>
      <p:sp>
        <p:nvSpPr>
          <p:cNvPr id="129803461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Each notebook reads data/raw and is reproducible on its own; every derived table regenerates by running them in sequence.</a:t>
            </a:r>
            <a:endParaRPr/>
          </a:p>
        </p:txBody>
      </p:sp>
      <p:sp>
        <p:nvSpPr>
          <p:cNvPr id="187030942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48800197" name="Rectangle 5"/>
          <p:cNvSpPr/>
          <p:nvPr/>
        </p:nvSpPr>
        <p:spPr bwMode="auto">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63091612" name="Rectangle 6"/>
          <p:cNvSpPr/>
          <p:nvPr/>
        </p:nvSpPr>
        <p:spPr bwMode="auto">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194818" name="TextBox 7"/>
          <p:cNvSpPr txBox="1"/>
          <p:nvPr/>
        </p:nvSpPr>
        <p:spPr bwMode="auto">
          <a:xfrm>
            <a:off x="713232"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00–02</a:t>
            </a:r>
            <a:endParaRPr/>
          </a:p>
        </p:txBody>
      </p:sp>
      <p:sp>
        <p:nvSpPr>
          <p:cNvPr id="1159159494" name="TextBox 8"/>
          <p:cNvSpPr txBox="1"/>
          <p:nvPr/>
        </p:nvSpPr>
        <p:spPr bwMode="auto">
          <a:xfrm>
            <a:off x="713232"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Profile &amp; validate</a:t>
            </a:r>
            <a:endParaRPr/>
          </a:p>
        </p:txBody>
      </p:sp>
      <p:sp>
        <p:nvSpPr>
          <p:cNvPr id="1292008334" name="TextBox 9"/>
          <p:cNvSpPr txBox="1"/>
          <p:nvPr/>
        </p:nvSpPr>
        <p:spPr bwMode="auto">
          <a:xfrm>
            <a:off x="713232"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dtypes, duplicates, missing values</a:t>
            </a:r>
            <a:endParaRPr/>
          </a:p>
        </p:txBody>
      </p:sp>
      <p:sp>
        <p:nvSpPr>
          <p:cNvPr id="1761074871" name="TextBox 10"/>
          <p:cNvSpPr txBox="1"/>
          <p:nvPr/>
        </p:nvSpPr>
        <p:spPr bwMode="auto">
          <a:xfrm>
            <a:off x="2032227"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55227235" name="Rectangle 11"/>
          <p:cNvSpPr/>
          <p:nvPr/>
        </p:nvSpPr>
        <p:spPr bwMode="auto">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39792420" name="Rectangle 12"/>
          <p:cNvSpPr/>
          <p:nvPr/>
        </p:nvSpPr>
        <p:spPr bwMode="auto">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65704037" name="TextBox 13"/>
          <p:cNvSpPr txBox="1"/>
          <p:nvPr/>
        </p:nvSpPr>
        <p:spPr bwMode="auto">
          <a:xfrm>
            <a:off x="2313863"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03–04</a:t>
            </a:r>
            <a:endParaRPr/>
          </a:p>
        </p:txBody>
      </p:sp>
      <p:sp>
        <p:nvSpPr>
          <p:cNvPr id="1168074393" name="TextBox 14"/>
          <p:cNvSpPr txBox="1"/>
          <p:nvPr/>
        </p:nvSpPr>
        <p:spPr bwMode="auto">
          <a:xfrm>
            <a:off x="2313863"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Prepare</a:t>
            </a:r>
            <a:endParaRPr/>
          </a:p>
        </p:txBody>
      </p:sp>
      <p:sp>
        <p:nvSpPr>
          <p:cNvPr id="1208736509" name="TextBox 15"/>
          <p:cNvSpPr txBox="1"/>
          <p:nvPr/>
        </p:nvSpPr>
        <p:spPr bwMode="auto">
          <a:xfrm>
            <a:off x="2313863"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Encoding, scaling, feature groups, wrangled extract</a:t>
            </a:r>
            <a:endParaRPr/>
          </a:p>
        </p:txBody>
      </p:sp>
      <p:sp>
        <p:nvSpPr>
          <p:cNvPr id="2102138275" name="TextBox 16"/>
          <p:cNvSpPr txBox="1"/>
          <p:nvPr/>
        </p:nvSpPr>
        <p:spPr bwMode="auto">
          <a:xfrm>
            <a:off x="3632858"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586575390" name="Rectangle 17"/>
          <p:cNvSpPr/>
          <p:nvPr/>
        </p:nvSpPr>
        <p:spPr bwMode="auto">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2006865" name="Rectangle 18"/>
          <p:cNvSpPr/>
          <p:nvPr/>
        </p:nvSpPr>
        <p:spPr bwMode="auto">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26026836" name="TextBox 19"/>
          <p:cNvSpPr txBox="1"/>
          <p:nvPr/>
        </p:nvSpPr>
        <p:spPr bwMode="auto">
          <a:xfrm>
            <a:off x="3914494"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05</a:t>
            </a:r>
            <a:endParaRPr/>
          </a:p>
        </p:txBody>
      </p:sp>
      <p:sp>
        <p:nvSpPr>
          <p:cNvPr id="764892703" name="TextBox 20"/>
          <p:cNvSpPr txBox="1"/>
          <p:nvPr/>
        </p:nvSpPr>
        <p:spPr bwMode="auto">
          <a:xfrm>
            <a:off x="3914494"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Attrition analysis</a:t>
            </a:r>
            <a:endParaRPr/>
          </a:p>
        </p:txBody>
      </p:sp>
      <p:sp>
        <p:nvSpPr>
          <p:cNvPr id="382427892" name="TextBox 21"/>
          <p:cNvSpPr txBox="1"/>
          <p:nvPr/>
        </p:nvSpPr>
        <p:spPr bwMode="auto">
          <a:xfrm>
            <a:off x="3914494"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Segment rates vs the 16.1% baseline</a:t>
            </a:r>
            <a:endParaRPr/>
          </a:p>
        </p:txBody>
      </p:sp>
      <p:sp>
        <p:nvSpPr>
          <p:cNvPr id="1555047784" name="TextBox 22"/>
          <p:cNvSpPr txBox="1"/>
          <p:nvPr/>
        </p:nvSpPr>
        <p:spPr bwMode="auto">
          <a:xfrm>
            <a:off x="5233490"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065735833" name="Rectangle 23"/>
          <p:cNvSpPr/>
          <p:nvPr/>
        </p:nvSpPr>
        <p:spPr bwMode="auto">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16387685" name="Rectangle 24"/>
          <p:cNvSpPr/>
          <p:nvPr/>
        </p:nvSpPr>
        <p:spPr bwMode="auto">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1437327" name="TextBox 25"/>
          <p:cNvSpPr txBox="1"/>
          <p:nvPr/>
        </p:nvSpPr>
        <p:spPr bwMode="auto">
          <a:xfrm>
            <a:off x="5515125"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06–07</a:t>
            </a:r>
            <a:endParaRPr/>
          </a:p>
        </p:txBody>
      </p:sp>
      <p:sp>
        <p:nvSpPr>
          <p:cNvPr id="1596369246" name="TextBox 26"/>
          <p:cNvSpPr txBox="1"/>
          <p:nvPr/>
        </p:nvSpPr>
        <p:spPr bwMode="auto">
          <a:xfrm>
            <a:off x="5515125"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Distribution &amp; outliers</a:t>
            </a:r>
            <a:endParaRPr/>
          </a:p>
        </p:txBody>
      </p:sp>
      <p:sp>
        <p:nvSpPr>
          <p:cNvPr id="1788422497" name="TextBox 27"/>
          <p:cNvSpPr txBox="1"/>
          <p:nvPr/>
        </p:nvSpPr>
        <p:spPr bwMode="auto">
          <a:xfrm>
            <a:off x="5515125"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of every numeric feature, IQR review</a:t>
            </a:r>
            <a:endParaRPr/>
          </a:p>
        </p:txBody>
      </p:sp>
      <p:sp>
        <p:nvSpPr>
          <p:cNvPr id="575354756" name="TextBox 28"/>
          <p:cNvSpPr txBox="1"/>
          <p:nvPr/>
        </p:nvSpPr>
        <p:spPr bwMode="auto">
          <a:xfrm>
            <a:off x="6834121"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64287652" name="Rectangle 29"/>
          <p:cNvSpPr/>
          <p:nvPr/>
        </p:nvSpPr>
        <p:spPr bwMode="auto">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48838828" name="Rectangle 30"/>
          <p:cNvSpPr/>
          <p:nvPr/>
        </p:nvSpPr>
        <p:spPr bwMode="auto">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20887775" name="TextBox 31"/>
          <p:cNvSpPr txBox="1"/>
          <p:nvPr/>
        </p:nvSpPr>
        <p:spPr bwMode="auto">
          <a:xfrm>
            <a:off x="7115756"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08</a:t>
            </a:r>
            <a:endParaRPr/>
          </a:p>
        </p:txBody>
      </p:sp>
      <p:sp>
        <p:nvSpPr>
          <p:cNvPr id="963246883" name="TextBox 32"/>
          <p:cNvSpPr txBox="1"/>
          <p:nvPr/>
        </p:nvSpPr>
        <p:spPr bwMode="auto">
          <a:xfrm>
            <a:off x="7115756"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Correlation</a:t>
            </a:r>
            <a:endParaRPr/>
          </a:p>
        </p:txBody>
      </p:sp>
      <p:sp>
        <p:nvSpPr>
          <p:cNvPr id="615770654" name="TextBox 33"/>
          <p:cNvSpPr txBox="1"/>
          <p:nvPr/>
        </p:nvSpPr>
        <p:spPr bwMode="auto">
          <a:xfrm>
            <a:off x="7115756"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Group gaps and Pearson screening</a:t>
            </a:r>
            <a:endParaRPr/>
          </a:p>
        </p:txBody>
      </p:sp>
      <p:sp>
        <p:nvSpPr>
          <p:cNvPr id="1024596244" name="TextBox 34"/>
          <p:cNvSpPr txBox="1"/>
          <p:nvPr/>
        </p:nvSpPr>
        <p:spPr bwMode="auto">
          <a:xfrm>
            <a:off x="8434752"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608501299" name="Rectangle 35"/>
          <p:cNvSpPr/>
          <p:nvPr/>
        </p:nvSpPr>
        <p:spPr bwMode="auto">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34171406" name="Rectangle 36"/>
          <p:cNvSpPr/>
          <p:nvPr/>
        </p:nvSpPr>
        <p:spPr bwMode="auto">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40804409" name="TextBox 37"/>
          <p:cNvSpPr txBox="1"/>
          <p:nvPr/>
        </p:nvSpPr>
        <p:spPr bwMode="auto">
          <a:xfrm>
            <a:off x="8716387"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09</a:t>
            </a:r>
            <a:endParaRPr/>
          </a:p>
        </p:txBody>
      </p:sp>
      <p:sp>
        <p:nvSpPr>
          <p:cNvPr id="684234663" name="TextBox 38"/>
          <p:cNvSpPr txBox="1"/>
          <p:nvPr/>
        </p:nvSpPr>
        <p:spPr bwMode="auto">
          <a:xfrm>
            <a:off x="8716387"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Visualise</a:t>
            </a:r>
            <a:endParaRPr/>
          </a:p>
        </p:txBody>
      </p:sp>
      <p:sp>
        <p:nvSpPr>
          <p:cNvPr id="1378444843" name="TextBox 39"/>
          <p:cNvSpPr txBox="1"/>
          <p:nvPr/>
        </p:nvSpPr>
        <p:spPr bwMode="auto">
          <a:xfrm>
            <a:off x="8716387"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Age, income, tenure, experience distributions</a:t>
            </a:r>
            <a:endParaRPr/>
          </a:p>
        </p:txBody>
      </p:sp>
      <p:sp>
        <p:nvSpPr>
          <p:cNvPr id="1709586519" name="TextBox 40"/>
          <p:cNvSpPr txBox="1"/>
          <p:nvPr/>
        </p:nvSpPr>
        <p:spPr bwMode="auto">
          <a:xfrm>
            <a:off x="10035383"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800689318" name="Rectangle 41"/>
          <p:cNvSpPr/>
          <p:nvPr/>
        </p:nvSpPr>
        <p:spPr bwMode="auto">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28741237" name="Rectangle 42"/>
          <p:cNvSpPr/>
          <p:nvPr/>
        </p:nvSpPr>
        <p:spPr bwMode="auto">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7820828" name="TextBox 43"/>
          <p:cNvSpPr txBox="1"/>
          <p:nvPr/>
        </p:nvSpPr>
        <p:spPr bwMode="auto">
          <a:xfrm>
            <a:off x="10317018"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898781"/>
                </a:solidFill>
                <a:latin typeface="Segoe UI"/>
              </a:rPr>
              <a:t>10</a:t>
            </a:r>
            <a:endParaRPr/>
          </a:p>
        </p:txBody>
      </p:sp>
      <p:sp>
        <p:nvSpPr>
          <p:cNvPr id="1373154582" name="TextBox 44"/>
          <p:cNvSpPr txBox="1"/>
          <p:nvPr/>
        </p:nvSpPr>
        <p:spPr bwMode="auto">
          <a:xfrm>
            <a:off x="10317018"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Model</a:t>
            </a:r>
            <a:endParaRPr/>
          </a:p>
        </p:txBody>
      </p:sp>
      <p:sp>
        <p:nvSpPr>
          <p:cNvPr id="807766834" name="TextBox 45"/>
          <p:cNvSpPr txBox="1"/>
          <p:nvPr/>
        </p:nvSpPr>
        <p:spPr bwMode="auto">
          <a:xfrm>
            <a:off x="10317018"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Logistic regression as a closing check</a:t>
            </a:r>
            <a:endParaRPr/>
          </a:p>
        </p:txBody>
      </p:sp>
      <p:sp>
        <p:nvSpPr>
          <p:cNvPr id="1698864443" name="TextBox 46"/>
          <p:cNvSpPr txBox="1"/>
          <p:nvPr/>
        </p:nvSpPr>
        <p:spPr bwMode="auto">
          <a:xfrm>
            <a:off x="566928" y="3986784"/>
            <a:ext cx="1105811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How every segment rate is read</a:t>
            </a:r>
            <a:endParaRPr/>
          </a:p>
        </p:txBody>
      </p:sp>
      <p:sp>
        <p:nvSpPr>
          <p:cNvPr id="1964880877" name="TextBox 47"/>
          <p:cNvSpPr txBox="1"/>
          <p:nvPr/>
        </p:nvSpPr>
        <p:spPr bwMode="auto">
          <a:xfrm>
            <a:off x="566928" y="4334256"/>
            <a:ext cx="5852160" cy="1737360"/>
          </a:xfrm>
          <a:prstGeom prst="rect">
            <a:avLst/>
          </a:prstGeom>
          <a:noFill/>
        </p:spPr>
        <p:txBody>
          <a:bodyPr wrap="square" lIns="0" tIns="0" rIns="0" bIns="0" anchor="t">
            <a:spAutoFit/>
          </a:bodyPr>
          <a:lstStyle/>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endParaRPr/>
          </a:p>
        </p:txBody>
      </p:sp>
      <p:sp>
        <p:nvSpPr>
          <p:cNvPr id="413307224" name="Rectangle 48"/>
          <p:cNvSpPr/>
          <p:nvPr/>
        </p:nvSpPr>
        <p:spPr bwMode="auto">
          <a:xfrm>
            <a:off x="6784848" y="3986784"/>
            <a:ext cx="4840192"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1687673" name="Rectangle 49"/>
          <p:cNvSpPr/>
          <p:nvPr/>
        </p:nvSpPr>
        <p:spPr bwMode="auto">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1491939" name="TextBox 50"/>
          <p:cNvSpPr txBox="1"/>
          <p:nvPr/>
        </p:nvSpPr>
        <p:spPr bwMode="auto">
          <a:xfrm>
            <a:off x="7004304" y="4123944"/>
            <a:ext cx="44378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WHY EXCESS ATTRITION MATTERS</a:t>
            </a:r>
            <a:endParaRPr/>
          </a:p>
        </p:txBody>
      </p:sp>
      <p:sp>
        <p:nvSpPr>
          <p:cNvPr id="74078850" name="TextBox 51"/>
          <p:cNvSpPr txBox="1"/>
          <p:nvPr/>
        </p:nvSpPr>
        <p:spPr bwMode="auto">
          <a:xfrm>
            <a:off x="7004304" y="4370832"/>
            <a:ext cx="4437857" cy="160934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endParaRPr/>
          </a:p>
        </p:txBody>
      </p:sp>
      <p:sp>
        <p:nvSpPr>
          <p:cNvPr id="640981124"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4119274"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notebooks/00–10 · README.md Roadmap</a:t>
            </a:r>
            <a:endParaRPr/>
          </a:p>
        </p:txBody>
      </p:sp>
      <p:sp>
        <p:nvSpPr>
          <p:cNvPr id="1459638866"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3039604" name="TextBox 1"/>
          <p:cNvSpPr txBox="1"/>
          <p:nvPr/>
        </p:nvSpPr>
        <p:spPr bwMode="auto">
          <a:xfrm>
            <a:off x="566928" y="365760"/>
            <a:ext cx="1106459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PREPARING THE DATA</a:t>
            </a:r>
            <a:endParaRPr/>
          </a:p>
        </p:txBody>
      </p:sp>
      <p:sp>
        <p:nvSpPr>
          <p:cNvPr id="949409274"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Profiling, duplicates and missing values</a:t>
            </a:r>
            <a:endParaRPr/>
          </a:p>
        </p:txBody>
      </p:sp>
      <p:sp>
        <p:nvSpPr>
          <p:cNvPr id="289969445"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establish that the data is complete, unique and structurally sound before any analysis depends on it.</a:t>
            </a:r>
            <a:endParaRPr/>
          </a:p>
        </p:txBody>
      </p:sp>
      <p:sp>
        <p:nvSpPr>
          <p:cNvPr id="61466608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52885226" name="Rectangle 5"/>
          <p:cNvSpPr/>
          <p:nvPr/>
        </p:nvSpPr>
        <p:spPr bwMode="auto">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14214767" name="Rectangle 6"/>
          <p:cNvSpPr/>
          <p:nvPr/>
        </p:nvSpPr>
        <p:spPr bwMode="auto">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26582301" name="TextBox 7"/>
          <p:cNvSpPr txBox="1"/>
          <p:nvPr/>
        </p:nvSpPr>
        <p:spPr bwMode="auto">
          <a:xfrm>
            <a:off x="786384"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00 · Exploring the dataset</a:t>
            </a:r>
            <a:endParaRPr/>
          </a:p>
        </p:txBody>
      </p:sp>
      <p:sp>
        <p:nvSpPr>
          <p:cNvPr id="1068464409" name="TextBox 8"/>
          <p:cNvSpPr txBox="1"/>
          <p:nvPr/>
        </p:nvSpPr>
        <p:spPr bwMode="auto">
          <a:xfrm>
            <a:off x="786384"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758315988" name="TextBox 9"/>
          <p:cNvSpPr txBox="1"/>
          <p:nvPr/>
        </p:nvSpPr>
        <p:spPr bwMode="auto">
          <a:xfrm>
            <a:off x="786384"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Loaded the CSV, checked shape, catalogued every column's data type and unique-value count, and read the summary statistics for all numeric fields.</a:t>
            </a:r>
            <a:endParaRPr/>
          </a:p>
        </p:txBody>
      </p:sp>
      <p:sp>
        <p:nvSpPr>
          <p:cNvPr id="333669516" name="TextBox 10"/>
          <p:cNvSpPr txBox="1"/>
          <p:nvPr/>
        </p:nvSpPr>
        <p:spPr bwMode="auto">
          <a:xfrm>
            <a:off x="786384"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672681954" name="TextBox 11"/>
          <p:cNvSpPr txBox="1"/>
          <p:nvPr/>
        </p:nvSpPr>
        <p:spPr bwMode="auto">
          <a:xfrm>
            <a:off x="786384"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1,470 rows × 35 columns, with 26 numeric and 9 text columns. Three columns hold a single value throughout — EmployeeCount, StandardHours and Over18 — and carry no analytical value.</a:t>
            </a:r>
            <a:endParaRPr/>
          </a:p>
        </p:txBody>
      </p:sp>
      <p:sp>
        <p:nvSpPr>
          <p:cNvPr id="1106098940" name="Rectangle 12"/>
          <p:cNvSpPr/>
          <p:nvPr/>
        </p:nvSpPr>
        <p:spPr bwMode="auto">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7716477" name="Rectangle 13"/>
          <p:cNvSpPr/>
          <p:nvPr/>
        </p:nvSpPr>
        <p:spPr bwMode="auto">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1150255" name="TextBox 14"/>
          <p:cNvSpPr txBox="1"/>
          <p:nvPr/>
        </p:nvSpPr>
        <p:spPr bwMode="auto">
          <a:xfrm>
            <a:off x="4551669"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01 · Handling duplicates</a:t>
            </a:r>
            <a:endParaRPr/>
          </a:p>
        </p:txBody>
      </p:sp>
      <p:sp>
        <p:nvSpPr>
          <p:cNvPr id="1612828195" name="TextBox 15"/>
          <p:cNvSpPr txBox="1"/>
          <p:nvPr/>
        </p:nvSpPr>
        <p:spPr bwMode="auto">
          <a:xfrm>
            <a:off x="4551669"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357765521" name="TextBox 16"/>
          <p:cNvSpPr txBox="1"/>
          <p:nvPr/>
        </p:nvSpPr>
        <p:spPr bwMode="auto">
          <a:xfrm>
            <a:off x="4551669"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Checked for fully duplicated rows and for repeated values in EmployeeNumber, the dataset's unique identifier.</a:t>
            </a:r>
            <a:endParaRPr/>
          </a:p>
        </p:txBody>
      </p:sp>
      <p:sp>
        <p:nvSpPr>
          <p:cNvPr id="1494730502" name="TextBox 17"/>
          <p:cNvSpPr txBox="1"/>
          <p:nvPr/>
        </p:nvSpPr>
        <p:spPr bwMode="auto">
          <a:xfrm>
            <a:off x="4551669"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838464128" name="TextBox 18"/>
          <p:cNvSpPr txBox="1"/>
          <p:nvPr/>
        </p:nvSpPr>
        <p:spPr bwMode="auto">
          <a:xfrm>
            <a:off x="4551669"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completely duplicated rows and 1,470 unique EmployeeNumbers, so every record represents a distinct employee. No de-duplication was required.</a:t>
            </a:r>
            <a:endParaRPr/>
          </a:p>
        </p:txBody>
      </p:sp>
      <p:sp>
        <p:nvSpPr>
          <p:cNvPr id="552864754" name="Rectangle 19"/>
          <p:cNvSpPr/>
          <p:nvPr/>
        </p:nvSpPr>
        <p:spPr bwMode="auto">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9955504" name="Rectangle 20"/>
          <p:cNvSpPr/>
          <p:nvPr/>
        </p:nvSpPr>
        <p:spPr bwMode="auto">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33140" name="TextBox 21"/>
          <p:cNvSpPr txBox="1"/>
          <p:nvPr/>
        </p:nvSpPr>
        <p:spPr bwMode="auto">
          <a:xfrm>
            <a:off x="8316955"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02 · Handling missing values</a:t>
            </a:r>
            <a:endParaRPr/>
          </a:p>
        </p:txBody>
      </p:sp>
      <p:sp>
        <p:nvSpPr>
          <p:cNvPr id="373673456" name="TextBox 22"/>
          <p:cNvSpPr txBox="1"/>
          <p:nvPr/>
        </p:nvSpPr>
        <p:spPr bwMode="auto">
          <a:xfrm>
            <a:off x="8316955"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515666738" name="TextBox 23"/>
          <p:cNvSpPr txBox="1"/>
          <p:nvPr/>
        </p:nvSpPr>
        <p:spPr bwMode="auto">
          <a:xfrm>
            <a:off x="8316955"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Counted nulls and the null percentage for each of the 35 columns.</a:t>
            </a:r>
            <a:endParaRPr/>
          </a:p>
        </p:txBody>
      </p:sp>
      <p:sp>
        <p:nvSpPr>
          <p:cNvPr id="1748875037" name="TextBox 24"/>
          <p:cNvSpPr txBox="1"/>
          <p:nvPr/>
        </p:nvSpPr>
        <p:spPr bwMode="auto">
          <a:xfrm>
            <a:off x="8316955"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83513124" name="TextBox 25"/>
          <p:cNvSpPr txBox="1"/>
          <p:nvPr/>
        </p:nvSpPr>
        <p:spPr bwMode="auto">
          <a:xfrm>
            <a:off x="8316955"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missing values in every column — 0.0% throughout. No imputation and no record deletion was needed.</a:t>
            </a:r>
            <a:endParaRPr/>
          </a:p>
        </p:txBody>
      </p:sp>
      <p:sp>
        <p:nvSpPr>
          <p:cNvPr id="366947186" name="Rectangle 26"/>
          <p:cNvSpPr/>
          <p:nvPr/>
        </p:nvSpPr>
        <p:spPr bwMode="auto">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9772391" name="Rectangle 27"/>
          <p:cNvSpPr/>
          <p:nvPr/>
        </p:nvSpPr>
        <p:spPr bwMode="auto">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87902717" name="TextBox 28"/>
          <p:cNvSpPr txBox="1"/>
          <p:nvPr/>
        </p:nvSpPr>
        <p:spPr bwMode="auto">
          <a:xfrm>
            <a:off x="786384" y="521208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CONCLUSION</a:t>
            </a:r>
            <a:endParaRPr/>
          </a:p>
        </p:txBody>
      </p:sp>
      <p:sp>
        <p:nvSpPr>
          <p:cNvPr id="129850676" name="TextBox 29"/>
          <p:cNvSpPr txBox="1"/>
          <p:nvPr/>
        </p:nvSpPr>
        <p:spPr bwMode="auto">
          <a:xfrm>
            <a:off x="786384" y="5458968"/>
            <a:ext cx="10655777" cy="56692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endParaRPr/>
          </a:p>
        </p:txBody>
      </p:sp>
      <p:sp>
        <p:nvSpPr>
          <p:cNvPr id="252936836" name="Rectangle 3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7425902" name="TextBox 3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notebooks/00-exploring-the-dataset · 01-handling-duplicates · 02-handling-missing-values</a:t>
            </a:r>
            <a:endParaRPr/>
          </a:p>
        </p:txBody>
      </p:sp>
      <p:sp>
        <p:nvSpPr>
          <p:cNvPr id="1952720691" name="TextBox 3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19386160" name="TextBox 1"/>
          <p:cNvSpPr txBox="1"/>
          <p:nvPr/>
        </p:nvSpPr>
        <p:spPr bwMode="auto">
          <a:xfrm>
            <a:off x="566928" y="365760"/>
            <a:ext cx="110685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 WRANGLING</a:t>
            </a:r>
            <a:endParaRPr/>
          </a:p>
        </p:txBody>
      </p:sp>
      <p:sp>
        <p:nvSpPr>
          <p:cNvPr id="333027378" name="TextBox 2"/>
          <p:cNvSpPr txBox="1"/>
          <p:nvPr/>
        </p:nvSpPr>
        <p:spPr bwMode="auto">
          <a:xfrm>
            <a:off x="566928" y="603504"/>
            <a:ext cx="1105883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Data wrangling</a:t>
            </a:r>
            <a:endParaRPr/>
          </a:p>
        </p:txBody>
      </p:sp>
      <p:sp>
        <p:nvSpPr>
          <p:cNvPr id="180078123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build a compact, analysis-ready extract with comparable employee groups instead of raw continuous columns.</a:t>
            </a:r>
            <a:endParaRPr/>
          </a:p>
        </p:txBody>
      </p:sp>
      <p:sp>
        <p:nvSpPr>
          <p:cNvPr id="195237424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8071960" name="TextBox 5"/>
          <p:cNvSpPr txBox="1"/>
          <p:nvPr/>
        </p:nvSpPr>
        <p:spPr bwMode="auto">
          <a:xfrm>
            <a:off x="566928" y="1700784"/>
            <a:ext cx="52120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37762564" name="TextBox 6"/>
          <p:cNvSpPr txBox="1"/>
          <p:nvPr/>
        </p:nvSpPr>
        <p:spPr bwMode="auto">
          <a:xfrm>
            <a:off x="566928" y="2048256"/>
            <a:ext cx="5212080" cy="265176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endParaRPr/>
          </a:p>
        </p:txBody>
      </p:sp>
      <p:pic>
        <p:nvPicPr>
          <p:cNvPr id="1251911136" name="Picture 7" descr="04_department.png"/>
          <p:cNvPicPr>
            <a:picLocks noChangeAspect="1"/>
          </p:cNvPicPr>
          <p:nvPr/>
        </p:nvPicPr>
        <p:blipFill rotWithShape="1">
          <a:blip r:embed="rId3"/>
          <a:stretch/>
        </p:blipFill>
        <p:spPr bwMode="auto">
          <a:xfrm>
            <a:off x="6099048" y="1817984"/>
            <a:ext cx="5525993" cy="2600239"/>
          </a:xfrm>
          <a:prstGeom prst="rect">
            <a:avLst/>
          </a:prstGeom>
        </p:spPr>
      </p:pic>
      <p:sp>
        <p:nvSpPr>
          <p:cNvPr id="1988823836" name="Rectangle 8"/>
          <p:cNvSpPr/>
          <p:nvPr/>
        </p:nvSpPr>
        <p:spPr bwMode="auto">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788709" name="Rectangle 9"/>
          <p:cNvSpPr/>
          <p:nvPr/>
        </p:nvSpPr>
        <p:spPr bwMode="auto">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47025475" name="TextBox 10"/>
          <p:cNvSpPr txBox="1"/>
          <p:nvPr/>
        </p:nvSpPr>
        <p:spPr bwMode="auto">
          <a:xfrm>
            <a:off x="786384"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8756134" name="TextBox 11"/>
          <p:cNvSpPr txBox="1"/>
          <p:nvPr/>
        </p:nvSpPr>
        <p:spPr bwMode="auto">
          <a:xfrm>
            <a:off x="786384"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endParaRPr/>
          </a:p>
        </p:txBody>
      </p:sp>
      <p:sp>
        <p:nvSpPr>
          <p:cNvPr id="2020048889" name="Rectangle 12"/>
          <p:cNvSpPr/>
          <p:nvPr/>
        </p:nvSpPr>
        <p:spPr bwMode="auto">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48682337" name="Rectangle 13"/>
          <p:cNvSpPr/>
          <p:nvPr/>
        </p:nvSpPr>
        <p:spPr bwMode="auto">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11549944" name="TextBox 14"/>
          <p:cNvSpPr txBox="1"/>
          <p:nvPr/>
        </p:nvSpPr>
        <p:spPr bwMode="auto">
          <a:xfrm>
            <a:off x="6443456"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278264520" name="TextBox 15"/>
          <p:cNvSpPr txBox="1"/>
          <p:nvPr/>
        </p:nvSpPr>
        <p:spPr bwMode="auto">
          <a:xfrm>
            <a:off x="6443456"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endParaRPr/>
          </a:p>
        </p:txBody>
      </p:sp>
      <p:sp>
        <p:nvSpPr>
          <p:cNvPr id="2110181259"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53077878"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notebooks/04-data-wrangling.ipynb</a:t>
            </a:r>
            <a:endParaRPr/>
          </a:p>
        </p:txBody>
      </p:sp>
      <p:sp>
        <p:nvSpPr>
          <p:cNvPr id="628790194"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58001866" name="TextBox 1"/>
          <p:cNvSpPr txBox="1"/>
          <p:nvPr/>
        </p:nvSpPr>
        <p:spPr bwMode="auto">
          <a:xfrm>
            <a:off x="566928" y="365760"/>
            <a:ext cx="11060991"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OUTLIERS</a:t>
            </a:r>
            <a:endParaRPr/>
          </a:p>
        </p:txBody>
      </p:sp>
      <p:sp>
        <p:nvSpPr>
          <p:cNvPr id="733232010"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outliers</a:t>
            </a:r>
            <a:endParaRPr/>
          </a:p>
        </p:txBody>
      </p:sp>
      <p:sp>
        <p:nvSpPr>
          <p:cNvPr id="2134187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identify unusually high or low values with the IQR rule, then decide whether each is a data error or a real employee.</a:t>
            </a:r>
            <a:endParaRPr/>
          </a:p>
        </p:txBody>
      </p:sp>
      <p:sp>
        <p:nvSpPr>
          <p:cNvPr id="202155896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330992266" name="Picture 5" descr="07_outliers.png"/>
          <p:cNvPicPr>
            <a:picLocks noChangeAspect="1"/>
          </p:cNvPicPr>
          <p:nvPr/>
        </p:nvPicPr>
        <p:blipFill rotWithShape="1">
          <a:blip r:embed="rId3"/>
          <a:stretch/>
        </p:blipFill>
        <p:spPr bwMode="auto">
          <a:xfrm>
            <a:off x="1048438" y="1655063"/>
            <a:ext cx="5300618" cy="3154680"/>
          </a:xfrm>
          <a:prstGeom prst="rect">
            <a:avLst/>
          </a:prstGeom>
        </p:spPr>
      </p:pic>
      <p:sp>
        <p:nvSpPr>
          <p:cNvPr id="1258856351" name="TextBox 6"/>
          <p:cNvSpPr txBox="1"/>
          <p:nvPr/>
        </p:nvSpPr>
        <p:spPr bwMode="auto">
          <a:xfrm>
            <a:off x="7013448" y="1700784"/>
            <a:ext cx="461159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512121932" name="TextBox 7"/>
          <p:cNvSpPr txBox="1"/>
          <p:nvPr/>
        </p:nvSpPr>
        <p:spPr bwMode="auto">
          <a:xfrm>
            <a:off x="7013448" y="2048256"/>
            <a:ext cx="4611593" cy="18288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endParaRPr/>
          </a:p>
        </p:txBody>
      </p:sp>
      <p:sp>
        <p:nvSpPr>
          <p:cNvPr id="244242063" name="Rectangle 8"/>
          <p:cNvSpPr/>
          <p:nvPr/>
        </p:nvSpPr>
        <p:spPr bwMode="auto">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4869428" name="Rectangle 9"/>
          <p:cNvSpPr/>
          <p:nvPr/>
        </p:nvSpPr>
        <p:spPr bwMode="auto">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3473929" name="TextBox 10"/>
          <p:cNvSpPr txBox="1"/>
          <p:nvPr/>
        </p:nvSpPr>
        <p:spPr bwMode="auto">
          <a:xfrm>
            <a:off x="7232904" y="4050792"/>
            <a:ext cx="42092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852438889" name="TextBox 11"/>
          <p:cNvSpPr txBox="1"/>
          <p:nvPr/>
        </p:nvSpPr>
        <p:spPr bwMode="auto">
          <a:xfrm>
            <a:off x="7232904" y="4297680"/>
            <a:ext cx="4209257" cy="42062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endParaRPr/>
          </a:p>
        </p:txBody>
      </p:sp>
      <p:sp>
        <p:nvSpPr>
          <p:cNvPr id="891390937" name="Rectangle 12"/>
          <p:cNvSpPr/>
          <p:nvPr/>
        </p:nvSpPr>
        <p:spPr bwMode="auto">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65387402" name="Rectangle 13"/>
          <p:cNvSpPr/>
          <p:nvPr/>
        </p:nvSpPr>
        <p:spPr bwMode="auto">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5379688" name="TextBox 14"/>
          <p:cNvSpPr txBox="1"/>
          <p:nvPr/>
        </p:nvSpPr>
        <p:spPr bwMode="auto">
          <a:xfrm>
            <a:off x="786384"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566424947" name="TextBox 15"/>
          <p:cNvSpPr txBox="1"/>
          <p:nvPr/>
        </p:nvSpPr>
        <p:spPr bwMode="auto">
          <a:xfrm>
            <a:off x="786384"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endParaRPr/>
          </a:p>
        </p:txBody>
      </p:sp>
      <p:sp>
        <p:nvSpPr>
          <p:cNvPr id="192657423" name="Rectangle 16"/>
          <p:cNvSpPr/>
          <p:nvPr/>
        </p:nvSpPr>
        <p:spPr bwMode="auto">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5495152" name="Rectangle 17"/>
          <p:cNvSpPr/>
          <p:nvPr/>
        </p:nvSpPr>
        <p:spPr bwMode="auto">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97352102" name="TextBox 18"/>
          <p:cNvSpPr txBox="1"/>
          <p:nvPr/>
        </p:nvSpPr>
        <p:spPr bwMode="auto">
          <a:xfrm>
            <a:off x="6443456"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1178168451" name="TextBox 19"/>
          <p:cNvSpPr txBox="1"/>
          <p:nvPr/>
        </p:nvSpPr>
        <p:spPr bwMode="auto">
          <a:xfrm>
            <a:off x="6443456"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endParaRPr/>
          </a:p>
        </p:txBody>
      </p:sp>
      <p:sp>
        <p:nvSpPr>
          <p:cNvPr id="2101074024"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21254506"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notebooks/07-finding-outliers.ipynb</a:t>
            </a:r>
            <a:endParaRPr/>
          </a:p>
        </p:txBody>
      </p:sp>
      <p:sp>
        <p:nvSpPr>
          <p:cNvPr id="2017691129"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624760" name="TextBox 1"/>
          <p:cNvSpPr txBox="1"/>
          <p:nvPr/>
        </p:nvSpPr>
        <p:spPr bwMode="auto">
          <a:xfrm>
            <a:off x="566928" y="365760"/>
            <a:ext cx="1105919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DATA ANALYSIS</a:t>
            </a:r>
            <a:r>
              <a:rPr sz="950" b="1" i="0">
                <a:solidFill>
                  <a:srgbClr val="2A78D6"/>
                </a:solidFill>
                <a:latin typeface="Segoe UI"/>
              </a:rPr>
              <a:t> · 1 OF 3</a:t>
            </a:r>
            <a:endParaRPr/>
          </a:p>
        </p:txBody>
      </p:sp>
      <p:sp>
        <p:nvSpPr>
          <p:cNvPr id="48003753"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Where is attrition concentrated?</a:t>
            </a:r>
            <a:endParaRPr/>
          </a:p>
        </p:txBody>
      </p:sp>
      <p:sp>
        <p:nvSpPr>
          <p:cNvPr id="2724448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find which job roles exceed the 16.1% baseline — and which of them matter once headcount is taken into account.</a:t>
            </a:r>
            <a:endParaRPr/>
          </a:p>
        </p:txBody>
      </p:sp>
      <p:sp>
        <p:nvSpPr>
          <p:cNvPr id="186452490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2117117301" name="Picture 5" descr="05_jobrole.png"/>
          <p:cNvPicPr>
            <a:picLocks noChangeAspect="1"/>
          </p:cNvPicPr>
          <p:nvPr/>
        </p:nvPicPr>
        <p:blipFill rotWithShape="1">
          <a:blip r:embed="rId3"/>
          <a:stretch/>
        </p:blipFill>
        <p:spPr bwMode="auto">
          <a:xfrm>
            <a:off x="1021332" y="1645919"/>
            <a:ext cx="5720590" cy="3246120"/>
          </a:xfrm>
          <a:prstGeom prst="rect">
            <a:avLst/>
          </a:prstGeom>
        </p:spPr>
      </p:pic>
      <p:pic>
        <p:nvPicPr>
          <p:cNvPr id="1762895643" name="Picture 6" descr="05_excess_role.png"/>
          <p:cNvPicPr>
            <a:picLocks noChangeAspect="1"/>
          </p:cNvPicPr>
          <p:nvPr/>
        </p:nvPicPr>
        <p:blipFill rotWithShape="1">
          <a:blip r:embed="rId4"/>
          <a:stretch/>
        </p:blipFill>
        <p:spPr bwMode="auto">
          <a:xfrm>
            <a:off x="7287768" y="1596518"/>
            <a:ext cx="4337273" cy="3335778"/>
          </a:xfrm>
          <a:prstGeom prst="rect">
            <a:avLst/>
          </a:prstGeom>
        </p:spPr>
      </p:pic>
      <p:sp>
        <p:nvSpPr>
          <p:cNvPr id="1837538067" name="Rectangle 7"/>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31941011" name="Rectangle 8"/>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2548263" name="TextBox 9"/>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38075312" name="TextBox 10"/>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endParaRPr/>
          </a:p>
        </p:txBody>
      </p:sp>
      <p:sp>
        <p:nvSpPr>
          <p:cNvPr id="1758436918" name="Rectangle 11"/>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0629547" name="Rectangle 12"/>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5568528" name="TextBox 13"/>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522103473" name="TextBox 14"/>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endParaRPr/>
          </a:p>
        </p:txBody>
      </p:sp>
      <p:sp>
        <p:nvSpPr>
          <p:cNvPr id="2048388284"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4848165"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001667260"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84873879" name="TextBox 1"/>
          <p:cNvSpPr txBox="1"/>
          <p:nvPr/>
        </p:nvSpPr>
        <p:spPr bwMode="auto">
          <a:xfrm>
            <a:off x="566928" y="365760"/>
            <a:ext cx="1105919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DATA ANALYSIS</a:t>
            </a:r>
            <a:r>
              <a:rPr sz="950" b="1" i="0">
                <a:solidFill>
                  <a:srgbClr val="2A78D6"/>
                </a:solidFill>
                <a:latin typeface="Segoe UI"/>
              </a:rPr>
              <a:t> · 2 OF 3</a:t>
            </a:r>
            <a:endParaRPr/>
          </a:p>
        </p:txBody>
      </p:sp>
      <p:sp>
        <p:nvSpPr>
          <p:cNvPr id="1509527282"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Department and job level</a:t>
            </a:r>
            <a:endParaRPr/>
          </a:p>
        </p:txBody>
      </p:sp>
      <p:sp>
        <p:nvSpPr>
          <p:cNvPr id="196254308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test whether the concentration is organisational (which department) or hierarchical (which level).</a:t>
            </a:r>
            <a:endParaRPr/>
          </a:p>
        </p:txBody>
      </p:sp>
      <p:sp>
        <p:nvSpPr>
          <p:cNvPr id="195572297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03701036" name="Picture 5" descr="05_joblevel.png"/>
          <p:cNvPicPr>
            <a:picLocks noChangeAspect="1"/>
          </p:cNvPicPr>
          <p:nvPr/>
        </p:nvPicPr>
        <p:blipFill rotWithShape="1">
          <a:blip r:embed="rId3"/>
          <a:stretch/>
        </p:blipFill>
        <p:spPr bwMode="auto">
          <a:xfrm>
            <a:off x="842972" y="1645919"/>
            <a:ext cx="5254350" cy="3246120"/>
          </a:xfrm>
          <a:prstGeom prst="rect">
            <a:avLst/>
          </a:prstGeom>
        </p:spPr>
      </p:pic>
      <p:sp>
        <p:nvSpPr>
          <p:cNvPr id="1560429760" name="TextBox 6"/>
          <p:cNvSpPr txBox="1"/>
          <p:nvPr/>
        </p:nvSpPr>
        <p:spPr bwMode="auto">
          <a:xfrm>
            <a:off x="6647687" y="1700784"/>
            <a:ext cx="497735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What the two cuts show</a:t>
            </a:r>
            <a:endParaRPr/>
          </a:p>
        </p:txBody>
      </p:sp>
      <p:sp>
        <p:nvSpPr>
          <p:cNvPr id="718251255" name="TextBox 7"/>
          <p:cNvSpPr txBox="1"/>
          <p:nvPr/>
        </p:nvSpPr>
        <p:spPr bwMode="auto">
          <a:xfrm>
            <a:off x="6647687" y="2048256"/>
            <a:ext cx="4977353" cy="2651760"/>
          </a:xfrm>
          <a:prstGeom prst="rect">
            <a:avLst/>
          </a:prstGeom>
          <a:noFill/>
        </p:spPr>
        <p:txBody>
          <a:bodyPr wrap="square" lIns="0" tIns="0" rIns="0" bIns="0" anchor="t">
            <a:spAutoFit/>
          </a:bodyPr>
          <a:lstStyle/>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artifact.</a:t>
            </a:r>
            <a:endParaRPr/>
          </a:p>
        </p:txBody>
      </p:sp>
      <p:sp>
        <p:nvSpPr>
          <p:cNvPr id="683139110" name="Rectangle 8"/>
          <p:cNvSpPr/>
          <p:nvPr/>
        </p:nvSpPr>
        <p:spPr bwMode="auto">
          <a:xfrm flipH="0" flipV="0">
            <a:off x="566927" y="4892038"/>
            <a:ext cx="5401038" cy="12527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07813817" name="Rectangle 9"/>
          <p:cNvSpPr/>
          <p:nvPr/>
        </p:nvSpPr>
        <p:spPr bwMode="auto">
          <a:xfrm flipH="0" flipV="0">
            <a:off x="566927" y="4892038"/>
            <a:ext cx="41148" cy="1252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771776" name="TextBox 10"/>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346395613" name="TextBox 11"/>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endParaRPr/>
          </a:p>
        </p:txBody>
      </p:sp>
      <p:sp>
        <p:nvSpPr>
          <p:cNvPr id="1489599892" name="Rectangle 12"/>
          <p:cNvSpPr/>
          <p:nvPr/>
        </p:nvSpPr>
        <p:spPr bwMode="auto">
          <a:xfrm flipH="0" flipV="0">
            <a:off x="6223999" y="4892038"/>
            <a:ext cx="5401038" cy="12527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2519671" name="Rectangle 13"/>
          <p:cNvSpPr/>
          <p:nvPr/>
        </p:nvSpPr>
        <p:spPr bwMode="auto">
          <a:xfrm flipH="0" flipV="0">
            <a:off x="6203424" y="4910327"/>
            <a:ext cx="41148" cy="12344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8250537" name="TextBox 14"/>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553064658" name="TextBox 15"/>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endParaRPr/>
          </a:p>
        </p:txBody>
      </p:sp>
      <p:sp>
        <p:nvSpPr>
          <p:cNvPr id="1088052409"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11290703"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87109451"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3460940" name="TextBox 1"/>
          <p:cNvSpPr txBox="1"/>
          <p:nvPr/>
        </p:nvSpPr>
        <p:spPr bwMode="auto">
          <a:xfrm>
            <a:off x="566928" y="365760"/>
            <a:ext cx="110631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 ANALYSIS · 3 OF 3</a:t>
            </a:r>
            <a:endParaRPr/>
          </a:p>
        </p:txBody>
      </p:sp>
      <p:sp>
        <p:nvSpPr>
          <p:cNvPr id="341178755"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Is attrition an early-tenure phenomenon?</a:t>
            </a:r>
            <a:endParaRPr/>
          </a:p>
        </p:txBody>
      </p:sp>
      <p:sp>
        <p:nvSpPr>
          <p:cNvPr id="214072343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separate “new to the company” from “early in a career” and find when the risk period ends.</a:t>
            </a:r>
            <a:endParaRPr/>
          </a:p>
        </p:txBody>
      </p:sp>
      <p:sp>
        <p:nvSpPr>
          <p:cNvPr id="213623094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822144723" name="Picture 5" descr="05_tenure.png"/>
          <p:cNvPicPr>
            <a:picLocks noChangeAspect="1"/>
          </p:cNvPicPr>
          <p:nvPr/>
        </p:nvPicPr>
        <p:blipFill rotWithShape="1">
          <a:blip r:embed="rId3"/>
          <a:stretch/>
        </p:blipFill>
        <p:spPr bwMode="auto">
          <a:xfrm>
            <a:off x="888443" y="1609344"/>
            <a:ext cx="4340448" cy="2788920"/>
          </a:xfrm>
          <a:prstGeom prst="rect">
            <a:avLst/>
          </a:prstGeom>
        </p:spPr>
      </p:pic>
      <p:pic>
        <p:nvPicPr>
          <p:cNvPr id="1268526204" name="Picture 6" descr="05_tenure_curve.png"/>
          <p:cNvPicPr>
            <a:picLocks noChangeAspect="1"/>
          </p:cNvPicPr>
          <p:nvPr/>
        </p:nvPicPr>
        <p:blipFill rotWithShape="1">
          <a:blip r:embed="rId4"/>
          <a:stretch/>
        </p:blipFill>
        <p:spPr bwMode="auto">
          <a:xfrm>
            <a:off x="6781128" y="1481328"/>
            <a:ext cx="4500531" cy="2788920"/>
          </a:xfrm>
          <a:prstGeom prst="rect">
            <a:avLst/>
          </a:prstGeom>
        </p:spPr>
      </p:pic>
      <p:pic>
        <p:nvPicPr>
          <p:cNvPr id="907387567" name="Picture 7" descr="05_early_signals.png"/>
          <p:cNvPicPr>
            <a:picLocks noChangeAspect="1"/>
          </p:cNvPicPr>
          <p:nvPr/>
        </p:nvPicPr>
        <p:blipFill rotWithShape="1">
          <a:blip r:embed="rId5"/>
          <a:stretch/>
        </p:blipFill>
        <p:spPr bwMode="auto">
          <a:xfrm>
            <a:off x="3058666" y="4398264"/>
            <a:ext cx="5318560" cy="1481328"/>
          </a:xfrm>
          <a:prstGeom prst="rect">
            <a:avLst/>
          </a:prstGeom>
        </p:spPr>
      </p:pic>
      <p:sp>
        <p:nvSpPr>
          <p:cNvPr id="1374606163" name="Rectangle 8"/>
          <p:cNvSpPr/>
          <p:nvPr/>
        </p:nvSpPr>
        <p:spPr bwMode="auto">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7134339" name="Rectangle 9"/>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12981472" name="TextBox 10"/>
          <p:cNvSpPr txBox="1"/>
          <p:nvPr/>
        </p:nvSpPr>
        <p:spPr bwMode="auto">
          <a:xfrm>
            <a:off x="786384"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620562650" name="TextBox 11"/>
          <p:cNvSpPr txBox="1"/>
          <p:nvPr/>
        </p:nvSpPr>
        <p:spPr bwMode="auto">
          <a:xfrm>
            <a:off x="786384"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Attrition is an early-tenure phenomenon. It runs at 29.82% in the first two years (342 employees, 1.85× baseline, +47 excess), then falls to 13.82%, 12.28% and 8.13% across the later bands.</a:t>
            </a:r>
            <a:endParaRPr/>
          </a:p>
        </p:txBody>
      </p:sp>
      <p:sp>
        <p:nvSpPr>
          <p:cNvPr id="314950315" name="Rectangle 12"/>
          <p:cNvSpPr/>
          <p:nvPr/>
        </p:nvSpPr>
        <p:spPr bwMode="auto">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5252675" name="Rectangle 13"/>
          <p:cNvSpPr/>
          <p:nvPr/>
        </p:nvSpPr>
        <p:spPr bwMode="auto">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4803759" name="TextBox 14"/>
          <p:cNvSpPr txBox="1"/>
          <p:nvPr/>
        </p:nvSpPr>
        <p:spPr bwMode="auto">
          <a:xfrm>
            <a:off x="6443456"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302358847" name="TextBox 15"/>
          <p:cNvSpPr txBox="1"/>
          <p:nvPr/>
        </p:nvSpPr>
        <p:spPr bwMode="auto">
          <a:xfrm>
            <a:off x="6443456"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endParaRPr/>
          </a:p>
        </p:txBody>
      </p:sp>
      <p:sp>
        <p:nvSpPr>
          <p:cNvPr id="618021173"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86157207"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143800357"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4251185" name="TextBox 1"/>
          <p:cNvSpPr txBox="1"/>
          <p:nvPr/>
        </p:nvSpPr>
        <p:spPr bwMode="auto">
          <a:xfrm>
            <a:off x="566928" y="365760"/>
            <a:ext cx="1106243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DISTRIBUTION</a:t>
            </a:r>
            <a:endParaRPr/>
          </a:p>
        </p:txBody>
      </p:sp>
      <p:sp>
        <p:nvSpPr>
          <p:cNvPr id="2092002567"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how the data is distributed</a:t>
            </a:r>
            <a:endParaRPr/>
          </a:p>
        </p:txBody>
      </p:sp>
      <p:sp>
        <p:nvSpPr>
          <p:cNvPr id="45551180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profile the shape of every numeric feature before trusting any mean, correlation or bin edge drawn from it.</a:t>
            </a:r>
            <a:endParaRPr/>
          </a:p>
        </p:txBody>
      </p:sp>
      <p:sp>
        <p:nvSpPr>
          <p:cNvPr id="24240548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7480378" name="Rectangle 8"/>
          <p:cNvSpPr/>
          <p:nvPr/>
        </p:nvSpPr>
        <p:spPr bwMode="auto">
          <a:xfrm>
            <a:off x="2200298" y="2595819"/>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6898235" name="Rectangle 9"/>
          <p:cNvSpPr/>
          <p:nvPr/>
        </p:nvSpPr>
        <p:spPr bwMode="auto">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7831017" name="TextBox 10"/>
          <p:cNvSpPr txBox="1"/>
          <p:nvPr/>
        </p:nvSpPr>
        <p:spPr bwMode="auto">
          <a:xfrm>
            <a:off x="786384" y="1568196"/>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99810076" name="TextBox 11"/>
          <p:cNvSpPr txBox="1"/>
          <p:nvPr/>
        </p:nvSpPr>
        <p:spPr bwMode="auto">
          <a:xfrm>
            <a:off x="786384" y="1739646"/>
            <a:ext cx="4359358" cy="2585323"/>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200"/>
              <a:t>Numeric features showed two distinct patterns: </a:t>
            </a:r>
            <a:endParaRPr/>
          </a:p>
          <a:p>
            <a:pPr marL="742950" lvl="1" indent="-285750">
              <a:lnSpc>
                <a:spcPct val="100000"/>
              </a:lnSpc>
              <a:buFont typeface="Arial"/>
              <a:buChar char="•"/>
              <a:defRPr/>
            </a:pPr>
            <a:r>
              <a:rPr lang="en-CA" sz="1200"/>
              <a:t>Continuous variables (</a:t>
            </a:r>
            <a:r>
              <a:rPr lang="en-CA" sz="1200"/>
              <a:t>MonthlyIncome</a:t>
            </a:r>
            <a:r>
              <a:rPr lang="en-CA" sz="1200"/>
              <a:t>, </a:t>
            </a:r>
            <a:r>
              <a:rPr lang="en-CA" sz="1200"/>
              <a:t>TotalWorkingYears</a:t>
            </a:r>
            <a:r>
              <a:rPr lang="en-CA" sz="1200"/>
              <a:t>, </a:t>
            </a:r>
            <a:r>
              <a:rPr lang="en-CA" sz="1200"/>
              <a:t>YearsAtCompany</a:t>
            </a:r>
            <a:r>
              <a:rPr lang="en-CA" sz="1200"/>
              <a:t>) displayed strong left-skewed distributions with long lower tails.</a:t>
            </a:r>
            <a:endParaRPr/>
          </a:p>
          <a:p>
            <a:pPr marL="742950" lvl="1" indent="-285750">
              <a:lnSpc>
                <a:spcPct val="100000"/>
              </a:lnSpc>
              <a:buFont typeface="Arial"/>
              <a:buChar char="•"/>
              <a:defRPr/>
            </a:pPr>
            <a:r>
              <a:rPr lang="en-CA" sz="1200"/>
              <a:t>Ordinal survey variables (</a:t>
            </a:r>
            <a:r>
              <a:rPr lang="en-CA" sz="1200"/>
              <a:t>JobSatisfaction</a:t>
            </a:r>
            <a:r>
              <a:rPr lang="en-CA" sz="1200"/>
              <a:t>, </a:t>
            </a:r>
            <a:r>
              <a:rPr lang="en-CA" sz="1200"/>
              <a:t>EnvironmentSatisfaction</a:t>
            </a:r>
            <a:r>
              <a:rPr lang="en-CA" sz="1200"/>
              <a:t>, </a:t>
            </a:r>
            <a:r>
              <a:rPr lang="en-CA" sz="1200"/>
              <a:t>WorkLifeBalance</a:t>
            </a:r>
            <a:r>
              <a:rPr lang="en-CA" sz="1200"/>
              <a:t>) clustered around mid-higher values.</a:t>
            </a:r>
            <a:endParaRPr/>
          </a:p>
          <a:p>
            <a:pPr marL="342900" lvl="0" indent="-342900">
              <a:lnSpc>
                <a:spcPct val="100000"/>
              </a:lnSpc>
              <a:buFont typeface="Arial"/>
              <a:buChar char="•"/>
              <a:defRPr/>
            </a:pPr>
            <a:r>
              <a:rPr lang="en-CA" sz="1200"/>
              <a:t>Median values are more representative than means for compensation and tenure variables because a relatively small group of highly paid, highly experienced employees pulls averages upward.</a:t>
            </a:r>
            <a:endParaRPr/>
          </a:p>
          <a:p>
            <a:pPr marL="342900" lvl="0" indent="-342900">
              <a:lnSpc>
                <a:spcPct val="100000"/>
              </a:lnSpc>
              <a:buFont typeface="Arial"/>
              <a:buChar char="•"/>
              <a:defRPr/>
            </a:pPr>
            <a:r>
              <a:rPr lang="en-CA" sz="1200"/>
              <a:t>No unusual distributional patterns suggested data-quality issues; observed extreme values aligned with realistic senior employee profiles.</a:t>
            </a:r>
            <a:endParaRPr/>
          </a:p>
        </p:txBody>
      </p:sp>
      <p:sp>
        <p:nvSpPr>
          <p:cNvPr id="1593866057" name="Rectangle 12"/>
          <p:cNvSpPr/>
          <p:nvPr/>
        </p:nvSpPr>
        <p:spPr bwMode="auto">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48466042" name="Rectangle 13"/>
          <p:cNvSpPr/>
          <p:nvPr/>
        </p:nvSpPr>
        <p:spPr bwMode="auto">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4247765" name="TextBox 14"/>
          <p:cNvSpPr txBox="1"/>
          <p:nvPr/>
        </p:nvSpPr>
        <p:spPr bwMode="auto">
          <a:xfrm>
            <a:off x="786381" y="4267421"/>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274804683" name="TextBox 19"/>
          <p:cNvSpPr txBox="1"/>
          <p:nvPr/>
        </p:nvSpPr>
        <p:spPr bwMode="auto">
          <a:xfrm>
            <a:off x="786382" y="4458914"/>
            <a:ext cx="4359360" cy="1477328"/>
          </a:xfrm>
          <a:prstGeom prst="rect">
            <a:avLst/>
          </a:prstGeom>
          <a:noFill/>
        </p:spPr>
        <p:txBody>
          <a:bodyPr wrap="square" lIns="0" tIns="0" rIns="0" bIns="0" anchor="t">
            <a:spAutoFit/>
          </a:bodyPr>
          <a:lstStyle/>
          <a:p>
            <a:pPr>
              <a:lnSpc>
                <a:spcPct val="100000"/>
              </a:lnSpc>
              <a:buNone/>
              <a:defRPr/>
            </a:pPr>
            <a:r>
              <a:rPr lang="en-CA" sz="120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endParaRPr/>
          </a:p>
        </p:txBody>
      </p:sp>
      <p:sp>
        <p:nvSpPr>
          <p:cNvPr id="1868311048"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0694035"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notebooks/06-finding-how-data-distributed.ipynb</a:t>
            </a:r>
            <a:endParaRPr/>
          </a:p>
        </p:txBody>
      </p:sp>
      <p:sp>
        <p:nvSpPr>
          <p:cNvPr id="1305964567"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11</a:t>
            </a:r>
            <a:endParaRPr/>
          </a:p>
        </p:txBody>
      </p:sp>
      <p:pic>
        <p:nvPicPr>
          <p:cNvPr id="1378140784" name="Picture 24"/>
          <p:cNvPicPr>
            <a:picLocks noChangeAspect="1"/>
          </p:cNvPicPr>
          <p:nvPr/>
        </p:nvPicPr>
        <p:blipFill rotWithShape="1">
          <a:blip r:embed="rId3"/>
          <a:stretch/>
        </p:blipFill>
        <p:spPr bwMode="auto">
          <a:xfrm>
            <a:off x="5407118" y="1298785"/>
            <a:ext cx="6784879" cy="2184376"/>
          </a:xfrm>
          <a:prstGeom prst="rect">
            <a:avLst/>
          </a:prstGeom>
        </p:spPr>
      </p:pic>
      <p:pic>
        <p:nvPicPr>
          <p:cNvPr id="212913435" name="Picture 26"/>
          <p:cNvPicPr>
            <a:picLocks noChangeAspect="1"/>
          </p:cNvPicPr>
          <p:nvPr/>
        </p:nvPicPr>
        <p:blipFill rotWithShape="1">
          <a:blip r:embed="rId4"/>
          <a:stretch/>
        </p:blipFill>
        <p:spPr bwMode="auto">
          <a:xfrm>
            <a:off x="5357491" y="3481761"/>
            <a:ext cx="6784879" cy="22698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23125992" name="TextBox 1"/>
          <p:cNvSpPr txBox="1"/>
          <p:nvPr/>
        </p:nvSpPr>
        <p:spPr bwMode="auto">
          <a:xfrm>
            <a:off x="566928" y="365760"/>
            <a:ext cx="110649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VISUALIZATION</a:t>
            </a:r>
            <a:endParaRPr/>
          </a:p>
        </p:txBody>
      </p:sp>
      <p:sp>
        <p:nvSpPr>
          <p:cNvPr id="674733891"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Visualizing distribution</a:t>
            </a:r>
            <a:endParaRPr/>
          </a:p>
        </p:txBody>
      </p:sp>
      <p:sp>
        <p:nvSpPr>
          <p:cNvPr id="182485837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describe the workforce itself — age, pay, tenure and experience — so the segment rates have a population to sit in.</a:t>
            </a:r>
            <a:endParaRPr/>
          </a:p>
        </p:txBody>
      </p:sp>
      <p:sp>
        <p:nvSpPr>
          <p:cNvPr id="74147641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77567850" name="Picture 5" descr="09_distributions.png"/>
          <p:cNvPicPr>
            <a:picLocks noChangeAspect="1"/>
          </p:cNvPicPr>
          <p:nvPr/>
        </p:nvPicPr>
        <p:blipFill rotWithShape="1">
          <a:blip r:embed="rId3"/>
          <a:stretch/>
        </p:blipFill>
        <p:spPr bwMode="auto">
          <a:xfrm>
            <a:off x="799790" y="1627632"/>
            <a:ext cx="6437995" cy="3291840"/>
          </a:xfrm>
          <a:prstGeom prst="rect">
            <a:avLst/>
          </a:prstGeom>
        </p:spPr>
      </p:pic>
      <p:sp>
        <p:nvSpPr>
          <p:cNvPr id="1692383850" name="TextBox 6"/>
          <p:cNvSpPr txBox="1"/>
          <p:nvPr/>
        </p:nvSpPr>
        <p:spPr bwMode="auto">
          <a:xfrm>
            <a:off x="7607808" y="1682496"/>
            <a:ext cx="40172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Finding</a:t>
            </a:r>
            <a:endParaRPr/>
          </a:p>
        </p:txBody>
      </p:sp>
      <p:sp>
        <p:nvSpPr>
          <p:cNvPr id="1945434144" name="TextBox 7"/>
          <p:cNvSpPr txBox="1"/>
          <p:nvPr/>
        </p:nvSpPr>
        <p:spPr bwMode="auto">
          <a:xfrm>
            <a:off x="7607808" y="2011680"/>
            <a:ext cx="4017233" cy="210312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endParaRPr/>
          </a:p>
        </p:txBody>
      </p:sp>
      <p:sp>
        <p:nvSpPr>
          <p:cNvPr id="1438676955" name="Rectangle 8"/>
          <p:cNvSpPr/>
          <p:nvPr/>
        </p:nvSpPr>
        <p:spPr bwMode="auto">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7098039" name="Rectangle 9"/>
          <p:cNvSpPr/>
          <p:nvPr/>
        </p:nvSpPr>
        <p:spPr bwMode="auto">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91664761" name="TextBox 10"/>
          <p:cNvSpPr txBox="1"/>
          <p:nvPr/>
        </p:nvSpPr>
        <p:spPr bwMode="auto">
          <a:xfrm>
            <a:off x="7827264" y="4142232"/>
            <a:ext cx="36148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2059696118" name="TextBox 11"/>
          <p:cNvSpPr txBox="1"/>
          <p:nvPr/>
        </p:nvSpPr>
        <p:spPr bwMode="auto">
          <a:xfrm>
            <a:off x="7827264" y="4389120"/>
            <a:ext cx="3614897" cy="4754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Where mean and median diverge, the median is the honest description of a typical employee — a small group of senior, high-earning, long-tenured people pulls every average upward.</a:t>
            </a:r>
            <a:endParaRPr/>
          </a:p>
        </p:txBody>
      </p:sp>
      <p:sp>
        <p:nvSpPr>
          <p:cNvPr id="341561993" name="Rectangle 12"/>
          <p:cNvSpPr/>
          <p:nvPr/>
        </p:nvSpPr>
        <p:spPr bwMode="auto">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2718181" name="Rectangle 13"/>
          <p:cNvSpPr/>
          <p:nvPr/>
        </p:nvSpPr>
        <p:spPr bwMode="auto">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2962001" name="TextBox 14"/>
          <p:cNvSpPr txBox="1"/>
          <p:nvPr/>
        </p:nvSpPr>
        <p:spPr bwMode="auto">
          <a:xfrm>
            <a:off x="786384" y="509320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835994772" name="TextBox 15"/>
          <p:cNvSpPr txBox="1"/>
          <p:nvPr/>
        </p:nvSpPr>
        <p:spPr bwMode="auto">
          <a:xfrm>
            <a:off x="786384" y="5340096"/>
            <a:ext cx="10655777" cy="69494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endParaRPr/>
          </a:p>
        </p:txBody>
      </p:sp>
      <p:sp>
        <p:nvSpPr>
          <p:cNvPr id="1551373972"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89696150"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notebooks/09-visualizing-distribution.ipynb · contributor: Asif Hassan</a:t>
            </a:r>
            <a:endParaRPr/>
          </a:p>
        </p:txBody>
      </p:sp>
      <p:sp>
        <p:nvSpPr>
          <p:cNvPr id="192646223"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2470929" name="TextBox 1"/>
          <p:cNvSpPr txBox="1"/>
          <p:nvPr/>
        </p:nvSpPr>
        <p:spPr bwMode="auto">
          <a:xfrm>
            <a:off x="566928" y="365760"/>
            <a:ext cx="1106351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CORRELATION</a:t>
            </a:r>
            <a:endParaRPr/>
          </a:p>
        </p:txBody>
      </p:sp>
      <p:sp>
        <p:nvSpPr>
          <p:cNvPr id="1366234174"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correlation</a:t>
            </a:r>
            <a:endParaRPr/>
          </a:p>
        </p:txBody>
      </p:sp>
      <p:sp>
        <p:nvSpPr>
          <p:cNvPr id="147446312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screen every variable at once — both as grouped attrition rates and as a direct correlation with leaving.</a:t>
            </a:r>
            <a:endParaRPr/>
          </a:p>
        </p:txBody>
      </p:sp>
      <p:sp>
        <p:nvSpPr>
          <p:cNvPr id="136973884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4221372" name="Rectangle 7"/>
          <p:cNvSpPr/>
          <p:nvPr/>
        </p:nvSpPr>
        <p:spPr bwMode="auto">
          <a:xfrm flipH="0" flipV="0">
            <a:off x="694944" y="4582110"/>
            <a:ext cx="5401038" cy="1562656"/>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6339093" name="Rectangle 8"/>
          <p:cNvSpPr/>
          <p:nvPr/>
        </p:nvSpPr>
        <p:spPr bwMode="auto">
          <a:xfrm>
            <a:off x="562357" y="1508759"/>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0675633" name="TextBox 9"/>
          <p:cNvSpPr txBox="1"/>
          <p:nvPr/>
        </p:nvSpPr>
        <p:spPr bwMode="auto">
          <a:xfrm>
            <a:off x="694944" y="1553237"/>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681737935" name="TextBox 10"/>
          <p:cNvSpPr txBox="1"/>
          <p:nvPr/>
        </p:nvSpPr>
        <p:spPr bwMode="auto">
          <a:xfrm>
            <a:off x="694944" y="1701651"/>
            <a:ext cx="3779018" cy="2800767"/>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All correlations are relatively weak (|r| &lt; 0.20), indicating that no single numeric variable strongly explains employee attrition.</a:t>
            </a:r>
            <a:endParaRPr/>
          </a:p>
          <a:p>
            <a:pPr marL="342900" lvl="0" indent="-342900">
              <a:lnSpc>
                <a:spcPct val="100000"/>
              </a:lnSpc>
              <a:buFont typeface="Arial"/>
              <a:buChar char="•"/>
              <a:defRPr/>
            </a:pPr>
            <a:r>
              <a:rPr lang="en-CA" sz="1400"/>
              <a:t>Employees with less total work experience, lower job levels, lower income, and shorter tenure with managers were more likely to leave.</a:t>
            </a:r>
            <a:endParaRPr/>
          </a:p>
          <a:p>
            <a:pPr marL="342900" lvl="0" indent="-342900">
              <a:lnSpc>
                <a:spcPct val="100000"/>
              </a:lnSpc>
              <a:buFont typeface="Arial"/>
              <a:buChar char="•"/>
              <a:defRPr/>
            </a:pPr>
            <a:r>
              <a:rPr lang="en-CA" sz="1400"/>
              <a:t>The only notable positive relationship was </a:t>
            </a:r>
            <a:r>
              <a:rPr lang="en-CA" sz="1400"/>
              <a:t>DistanceFromHome</a:t>
            </a:r>
            <a:r>
              <a:rPr lang="en-CA" sz="1400"/>
              <a:t> (+0.078), suggesting attrition tends to increase as commute distance grows.</a:t>
            </a:r>
            <a:endParaRPr/>
          </a:p>
          <a:p>
            <a:pPr marL="342900" lvl="0" indent="-342900">
              <a:lnSpc>
                <a:spcPct val="100000"/>
              </a:lnSpc>
              <a:buFont typeface="Arial"/>
              <a:buChar char="•"/>
              <a:defRPr/>
            </a:pPr>
            <a:r>
              <a:rPr lang="en-CA" sz="1400"/>
              <a:t>Correlations should be viewed as screening indicators, not evidence of causation.</a:t>
            </a:r>
            <a:endParaRPr/>
          </a:p>
        </p:txBody>
      </p:sp>
      <p:sp>
        <p:nvSpPr>
          <p:cNvPr id="790929420" name="Rectangle 11"/>
          <p:cNvSpPr/>
          <p:nvPr/>
        </p:nvSpPr>
        <p:spPr bwMode="auto">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76702682" name="Rectangle 12"/>
          <p:cNvSpPr/>
          <p:nvPr/>
        </p:nvSpPr>
        <p:spPr bwMode="auto">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3887569" name="TextBox 13"/>
          <p:cNvSpPr txBox="1"/>
          <p:nvPr/>
        </p:nvSpPr>
        <p:spPr bwMode="auto">
          <a:xfrm>
            <a:off x="694944" y="4472383"/>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828442762" name="TextBox 14"/>
          <p:cNvSpPr txBox="1"/>
          <p:nvPr/>
        </p:nvSpPr>
        <p:spPr bwMode="auto">
          <a:xfrm flipH="0" flipV="0">
            <a:off x="694942" y="4582110"/>
            <a:ext cx="3780459" cy="1493879"/>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Employees with ≤ 6 total working years had a 25.6% attrition rate, compared with 8.7% for employees with more than 15 years of experience.</a:t>
            </a:r>
            <a:endParaRPr/>
          </a:p>
          <a:p>
            <a:pPr marL="342900" lvl="0" indent="-342900">
              <a:lnSpc>
                <a:spcPct val="100000"/>
              </a:lnSpc>
              <a:buFont typeface="Arial"/>
              <a:buChar char="•"/>
              <a:defRPr/>
            </a:pPr>
            <a:r>
              <a:rPr lang="en-CA" sz="1400"/>
              <a:t>Employees in the lowest income quartile experienced 29.3% attrition, nearly three times the rate of the highest income quartile (~10%).</a:t>
            </a:r>
            <a:endParaRPr/>
          </a:p>
        </p:txBody>
      </p:sp>
      <p:sp>
        <p:nvSpPr>
          <p:cNvPr id="563624357"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62462802"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notebooks/08-finding-correlation.ipynb</a:t>
            </a:r>
            <a:endParaRPr/>
          </a:p>
        </p:txBody>
      </p:sp>
      <p:sp>
        <p:nvSpPr>
          <p:cNvPr id="1112717855"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13</a:t>
            </a:r>
            <a:endParaRPr/>
          </a:p>
        </p:txBody>
      </p:sp>
      <p:pic>
        <p:nvPicPr>
          <p:cNvPr id="1238244635" name="Picture 23"/>
          <p:cNvPicPr>
            <a:picLocks noChangeAspect="1"/>
          </p:cNvPicPr>
          <p:nvPr/>
        </p:nvPicPr>
        <p:blipFill rotWithShape="1">
          <a:blip r:embed="rId3"/>
          <a:stretch/>
        </p:blipFill>
        <p:spPr bwMode="auto">
          <a:xfrm>
            <a:off x="9690266" y="1369349"/>
            <a:ext cx="2501734" cy="5488652"/>
          </a:xfrm>
          <a:prstGeom prst="rect">
            <a:avLst/>
          </a:prstGeom>
        </p:spPr>
      </p:pic>
      <p:pic>
        <p:nvPicPr>
          <p:cNvPr id="1462635162" name="Picture 27"/>
          <p:cNvPicPr>
            <a:picLocks noChangeAspect="1"/>
          </p:cNvPicPr>
          <p:nvPr/>
        </p:nvPicPr>
        <p:blipFill rotWithShape="1">
          <a:blip r:embed="rId4"/>
          <a:stretch/>
        </p:blipFill>
        <p:spPr bwMode="auto">
          <a:xfrm>
            <a:off x="4497714" y="1712623"/>
            <a:ext cx="5192552" cy="417534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2062645" name="TextBox 1"/>
          <p:cNvSpPr txBox="1"/>
          <p:nvPr/>
        </p:nvSpPr>
        <p:spPr bwMode="auto">
          <a:xfrm>
            <a:off x="566928" y="365760"/>
            <a:ext cx="1107971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MODEL TRAINING | 1 OF 2</a:t>
            </a:r>
            <a:endParaRPr/>
          </a:p>
        </p:txBody>
      </p:sp>
      <p:sp>
        <p:nvSpPr>
          <p:cNvPr id="107584960"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Normalizing data</a:t>
            </a:r>
            <a:endParaRPr/>
          </a:p>
        </p:txBody>
      </p:sp>
      <p:sp>
        <p:nvSpPr>
          <p:cNvPr id="39374430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turn a mixed table of text, binary and ordinal columns into a purely numeric matrix that a model can read.</a:t>
            </a:r>
            <a:endParaRPr/>
          </a:p>
        </p:txBody>
      </p:sp>
      <p:sp>
        <p:nvSpPr>
          <p:cNvPr id="56231211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2155251" name="TextBox 5"/>
          <p:cNvSpPr txBox="1"/>
          <p:nvPr/>
        </p:nvSpPr>
        <p:spPr bwMode="auto">
          <a:xfrm>
            <a:off x="566928" y="1700784"/>
            <a:ext cx="576072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136745083" name="TextBox 6"/>
          <p:cNvSpPr txBox="1"/>
          <p:nvPr/>
        </p:nvSpPr>
        <p:spPr bwMode="auto">
          <a:xfrm>
            <a:off x="566928" y="2048256"/>
            <a:ext cx="5765759" cy="2359003"/>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BusinessTravel, Department, EducationField, Gender, JobRole and MaritalStatus are expanded into indicator columns, one per category.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no predictive variability.</a:t>
            </a:r>
            <a:endParaRPr/>
          </a:p>
        </p:txBody>
      </p:sp>
      <p:sp>
        <p:nvSpPr>
          <p:cNvPr id="1600258011" name="TextBox 7"/>
          <p:cNvSpPr txBox="1"/>
          <p:nvPr/>
        </p:nvSpPr>
        <p:spPr bwMode="auto">
          <a:xfrm>
            <a:off x="6693408" y="1700784"/>
            <a:ext cx="49316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Result</a:t>
            </a:r>
            <a:endParaRPr/>
          </a:p>
        </p:txBody>
      </p:sp>
      <p:sp>
        <p:nvSpPr>
          <p:cNvPr id="2001451574" name="Rectangle 8"/>
          <p:cNvSpPr/>
          <p:nvPr/>
        </p:nvSpPr>
        <p:spPr bwMode="auto">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67846649" name="Rectangle 9"/>
          <p:cNvSpPr/>
          <p:nvPr/>
        </p:nvSpPr>
        <p:spPr bwMode="auto">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2909558" name="TextBox 10"/>
          <p:cNvSpPr txBox="1"/>
          <p:nvPr/>
        </p:nvSpPr>
        <p:spPr bwMode="auto">
          <a:xfrm>
            <a:off x="69311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50</a:t>
            </a:r>
            <a:endParaRPr/>
          </a:p>
        </p:txBody>
      </p:sp>
      <p:sp>
        <p:nvSpPr>
          <p:cNvPr id="937263482" name="TextBox 11"/>
          <p:cNvSpPr txBox="1"/>
          <p:nvPr/>
        </p:nvSpPr>
        <p:spPr bwMode="auto">
          <a:xfrm>
            <a:off x="69311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Model features</a:t>
            </a:r>
            <a:endParaRPr/>
          </a:p>
        </p:txBody>
      </p:sp>
      <p:sp>
        <p:nvSpPr>
          <p:cNvPr id="1114442814" name="TextBox 12"/>
          <p:cNvSpPr txBox="1"/>
          <p:nvPr/>
        </p:nvSpPr>
        <p:spPr bwMode="auto">
          <a:xfrm>
            <a:off x="69311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from 35 source columns</a:t>
            </a:r>
            <a:endParaRPr/>
          </a:p>
        </p:txBody>
      </p:sp>
      <p:sp>
        <p:nvSpPr>
          <p:cNvPr id="1228195220" name="Rectangle 13"/>
          <p:cNvSpPr/>
          <p:nvPr/>
        </p:nvSpPr>
        <p:spPr bwMode="auto">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24258841" name="Rectangle 14"/>
          <p:cNvSpPr/>
          <p:nvPr/>
        </p:nvSpPr>
        <p:spPr bwMode="auto">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89802409" name="TextBox 15"/>
          <p:cNvSpPr txBox="1"/>
          <p:nvPr/>
        </p:nvSpPr>
        <p:spPr bwMode="auto">
          <a:xfrm>
            <a:off x="94975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774151035" name="TextBox 16"/>
          <p:cNvSpPr txBox="1"/>
          <p:nvPr/>
        </p:nvSpPr>
        <p:spPr bwMode="auto">
          <a:xfrm>
            <a:off x="94975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Rows retained</a:t>
            </a:r>
            <a:endParaRPr/>
          </a:p>
        </p:txBody>
      </p:sp>
      <p:sp>
        <p:nvSpPr>
          <p:cNvPr id="273582670" name="TextBox 17"/>
          <p:cNvSpPr txBox="1"/>
          <p:nvPr/>
        </p:nvSpPr>
        <p:spPr bwMode="auto">
          <a:xfrm>
            <a:off x="94975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nothing dropped</a:t>
            </a:r>
            <a:endParaRPr/>
          </a:p>
        </p:txBody>
      </p:sp>
      <p:sp>
        <p:nvSpPr>
          <p:cNvPr id="624995680" name="TextBox 18"/>
          <p:cNvSpPr txBox="1"/>
          <p:nvPr/>
        </p:nvSpPr>
        <p:spPr bwMode="auto">
          <a:xfrm>
            <a:off x="6693408" y="3291840"/>
            <a:ext cx="4931633" cy="82296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Written to data/processed/Employee-Attrition_Regression_Ready.csv, leaving the raw file untouched so the descriptive notebooks keep their readable labels.</a:t>
            </a:r>
            <a:endParaRPr/>
          </a:p>
        </p:txBody>
      </p:sp>
      <p:sp>
        <p:nvSpPr>
          <p:cNvPr id="2141747804" name="Rectangle 19"/>
          <p:cNvSpPr/>
          <p:nvPr/>
        </p:nvSpPr>
        <p:spPr bwMode="auto">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1182918" name="Rectangle 20"/>
          <p:cNvSpPr/>
          <p:nvPr/>
        </p:nvSpPr>
        <p:spPr bwMode="auto">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7984332" name="TextBox 21"/>
          <p:cNvSpPr txBox="1"/>
          <p:nvPr/>
        </p:nvSpPr>
        <p:spPr bwMode="auto">
          <a:xfrm>
            <a:off x="6912864" y="4325112"/>
            <a:ext cx="45292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320847369" name="TextBox 22"/>
          <p:cNvSpPr txBox="1"/>
          <p:nvPr/>
        </p:nvSpPr>
        <p:spPr bwMode="auto">
          <a:xfrm>
            <a:off x="6912864" y="4572000"/>
            <a:ext cx="4529297" cy="38404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Encoding is a reversible presentation choice, not an analytical result — but it is what makes step 10 possible at all.</a:t>
            </a:r>
            <a:endParaRPr/>
          </a:p>
        </p:txBody>
      </p:sp>
      <p:sp>
        <p:nvSpPr>
          <p:cNvPr id="2052702129" name="Rectangle 23"/>
          <p:cNvSpPr/>
          <p:nvPr/>
        </p:nvSpPr>
        <p:spPr bwMode="auto">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9459954" name="Rectangle 24"/>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39254030" name="TextBox 25"/>
          <p:cNvSpPr txBox="1"/>
          <p:nvPr/>
        </p:nvSpPr>
        <p:spPr bwMode="auto">
          <a:xfrm>
            <a:off x="786384" y="527608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INTERPRETATION</a:t>
            </a:r>
            <a:endParaRPr/>
          </a:p>
        </p:txBody>
      </p:sp>
      <p:sp>
        <p:nvSpPr>
          <p:cNvPr id="741257975" name="TextBox 26"/>
          <p:cNvSpPr txBox="1"/>
          <p:nvPr/>
        </p:nvSpPr>
        <p:spPr bwMode="auto">
          <a:xfrm>
            <a:off x="786384" y="5522976"/>
            <a:ext cx="10655777"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endParaRPr/>
          </a:p>
        </p:txBody>
      </p:sp>
      <p:sp>
        <p:nvSpPr>
          <p:cNvPr id="1028621427" name="Rectangle 27"/>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9814993" name="TextBox 28"/>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notebooks/03-normalizing-data.ipynb</a:t>
            </a:r>
            <a:endParaRPr/>
          </a:p>
        </p:txBody>
      </p:sp>
      <p:sp>
        <p:nvSpPr>
          <p:cNvPr id="290738658" name="TextBox 29"/>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6069829" name="TextBox 1"/>
          <p:cNvSpPr txBox="1"/>
          <p:nvPr/>
        </p:nvSpPr>
        <p:spPr bwMode="auto">
          <a:xfrm>
            <a:off x="566928" y="365760"/>
            <a:ext cx="1105955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MODEL TRAINING | 2 OF 2</a:t>
            </a:r>
            <a:endParaRPr/>
          </a:p>
        </p:txBody>
      </p:sp>
      <p:sp>
        <p:nvSpPr>
          <p:cNvPr id="1151010926"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Regression model</a:t>
            </a:r>
            <a:endParaRPr/>
          </a:p>
        </p:txBody>
      </p:sp>
      <p:sp>
        <p:nvSpPr>
          <p:cNvPr id="161527547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check whether the patterns found descriptively also separate leavers from stayers when fitted together.</a:t>
            </a:r>
            <a:endParaRPr/>
          </a:p>
        </p:txBody>
      </p:sp>
      <p:sp>
        <p:nvSpPr>
          <p:cNvPr id="147057130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396606679" name="Picture 5" descr="10_confusion.png"/>
          <p:cNvPicPr>
            <a:picLocks noChangeAspect="1"/>
          </p:cNvPicPr>
          <p:nvPr/>
        </p:nvPicPr>
        <p:blipFill rotWithShape="1">
          <a:blip r:embed="rId3"/>
          <a:stretch/>
        </p:blipFill>
        <p:spPr bwMode="auto">
          <a:xfrm>
            <a:off x="721547" y="1792224"/>
            <a:ext cx="2936881" cy="2468880"/>
          </a:xfrm>
          <a:prstGeom prst="rect">
            <a:avLst/>
          </a:prstGeom>
        </p:spPr>
      </p:pic>
      <p:pic>
        <p:nvPicPr>
          <p:cNvPr id="1760908008" name="Picture 6" descr="10_coefficients.png"/>
          <p:cNvPicPr>
            <a:picLocks noChangeAspect="1"/>
          </p:cNvPicPr>
          <p:nvPr/>
        </p:nvPicPr>
        <p:blipFill rotWithShape="1">
          <a:blip r:embed="rId4"/>
          <a:stretch/>
        </p:blipFill>
        <p:spPr bwMode="auto">
          <a:xfrm>
            <a:off x="5117252" y="1572768"/>
            <a:ext cx="5386463" cy="3063240"/>
          </a:xfrm>
          <a:prstGeom prst="rect">
            <a:avLst/>
          </a:prstGeom>
        </p:spPr>
      </p:pic>
      <p:sp>
        <p:nvSpPr>
          <p:cNvPr id="1921946079" name="Rectangle 7"/>
          <p:cNvSpPr/>
          <p:nvPr/>
        </p:nvSpPr>
        <p:spPr bwMode="auto">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34027714" name="Rectangle 8"/>
          <p:cNvSpPr/>
          <p:nvPr/>
        </p:nvSpPr>
        <p:spPr bwMode="auto">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1183800" name="TextBox 9"/>
          <p:cNvSpPr txBox="1"/>
          <p:nvPr/>
        </p:nvSpPr>
        <p:spPr bwMode="auto">
          <a:xfrm>
            <a:off x="804672"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86.0%</a:t>
            </a:r>
            <a:endParaRPr/>
          </a:p>
        </p:txBody>
      </p:sp>
      <p:sp>
        <p:nvSpPr>
          <p:cNvPr id="2030117401" name="TextBox 10"/>
          <p:cNvSpPr txBox="1"/>
          <p:nvPr/>
        </p:nvSpPr>
        <p:spPr bwMode="auto">
          <a:xfrm>
            <a:off x="804672"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Accuracy</a:t>
            </a:r>
            <a:endParaRPr/>
          </a:p>
        </p:txBody>
      </p:sp>
      <p:sp>
        <p:nvSpPr>
          <p:cNvPr id="1376908383" name="TextBox 11"/>
          <p:cNvSpPr txBox="1"/>
          <p:nvPr/>
        </p:nvSpPr>
        <p:spPr bwMode="auto">
          <a:xfrm>
            <a:off x="804672"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294 held-out rows</a:t>
            </a:r>
            <a:endParaRPr/>
          </a:p>
        </p:txBody>
      </p:sp>
      <p:sp>
        <p:nvSpPr>
          <p:cNvPr id="1205220301" name="Rectangle 12"/>
          <p:cNvSpPr/>
          <p:nvPr/>
        </p:nvSpPr>
        <p:spPr bwMode="auto">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22597935" name="Rectangle 13"/>
          <p:cNvSpPr/>
          <p:nvPr/>
        </p:nvSpPr>
        <p:spPr bwMode="auto">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9721259" name="TextBox 14"/>
          <p:cNvSpPr txBox="1"/>
          <p:nvPr/>
        </p:nvSpPr>
        <p:spPr bwMode="auto">
          <a:xfrm>
            <a:off x="2500884"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0.811</a:t>
            </a:r>
            <a:endParaRPr/>
          </a:p>
        </p:txBody>
      </p:sp>
      <p:sp>
        <p:nvSpPr>
          <p:cNvPr id="1859179463" name="TextBox 15"/>
          <p:cNvSpPr txBox="1"/>
          <p:nvPr/>
        </p:nvSpPr>
        <p:spPr bwMode="auto">
          <a:xfrm>
            <a:off x="2500884"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ROC-AUC</a:t>
            </a:r>
            <a:endParaRPr/>
          </a:p>
        </p:txBody>
      </p:sp>
      <p:sp>
        <p:nvSpPr>
          <p:cNvPr id="1787429164" name="TextBox 16"/>
          <p:cNvSpPr txBox="1"/>
          <p:nvPr/>
        </p:nvSpPr>
        <p:spPr bwMode="auto">
          <a:xfrm>
            <a:off x="2500884"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ranking quality</a:t>
            </a:r>
            <a:endParaRPr/>
          </a:p>
        </p:txBody>
      </p:sp>
      <p:sp>
        <p:nvSpPr>
          <p:cNvPr id="1016975198" name="Rectangle 17"/>
          <p:cNvSpPr/>
          <p:nvPr/>
        </p:nvSpPr>
        <p:spPr bwMode="auto">
          <a:xfrm flipH="0" flipV="0">
            <a:off x="566927" y="4983480"/>
            <a:ext cx="5401038" cy="1161287"/>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6010962" name="Rectangle 18"/>
          <p:cNvSpPr/>
          <p:nvPr/>
        </p:nvSpPr>
        <p:spPr bwMode="auto">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04847905" name="TextBox 19"/>
          <p:cNvSpPr txBox="1"/>
          <p:nvPr/>
        </p:nvSpPr>
        <p:spPr bwMode="auto">
          <a:xfrm>
            <a:off x="786384"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196639175" name="TextBox 20"/>
          <p:cNvSpPr txBox="1"/>
          <p:nvPr/>
        </p:nvSpPr>
        <p:spPr bwMode="auto">
          <a:xfrm>
            <a:off x="786384"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endParaRPr/>
          </a:p>
        </p:txBody>
      </p:sp>
      <p:sp>
        <p:nvSpPr>
          <p:cNvPr id="980582896" name="Rectangle 21"/>
          <p:cNvSpPr/>
          <p:nvPr/>
        </p:nvSpPr>
        <p:spPr bwMode="auto">
          <a:xfrm flipH="0" flipV="0">
            <a:off x="6223999" y="4983480"/>
            <a:ext cx="5401038" cy="135138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0762279" name="Rectangle 22"/>
          <p:cNvSpPr/>
          <p:nvPr/>
        </p:nvSpPr>
        <p:spPr bwMode="auto">
          <a:xfrm flipH="0" flipV="0">
            <a:off x="6223999" y="4983480"/>
            <a:ext cx="41148" cy="1362455"/>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6270038" name="TextBox 23"/>
          <p:cNvSpPr txBox="1"/>
          <p:nvPr/>
        </p:nvSpPr>
        <p:spPr bwMode="auto">
          <a:xfrm>
            <a:off x="6443456"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364255613" name="TextBox 24"/>
          <p:cNvSpPr txBox="1"/>
          <p:nvPr/>
        </p:nvSpPr>
        <p:spPr bwMode="auto">
          <a:xfrm>
            <a:off x="6443455" y="5230368"/>
            <a:ext cx="4999783" cy="110449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coefficients agree with the descriptive work, overtime is the largest positive weight at +1.80, and Research Director the largest negative at −1.05. A coefficient is still an association inside this model, not a cause, and magnitudes are not directly comparable because only the continuous features were scaled.</a:t>
            </a:r>
            <a:endParaRPr/>
          </a:p>
        </p:txBody>
      </p:sp>
      <p:sp>
        <p:nvSpPr>
          <p:cNvPr id="232215223" name="Rectangle 2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2900532" name="TextBox 2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notebooks/10-regression-model.ipynb</a:t>
            </a:r>
            <a:endParaRPr/>
          </a:p>
        </p:txBody>
      </p:sp>
      <p:sp>
        <p:nvSpPr>
          <p:cNvPr id="409141624" name="TextBox 2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46793905"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KEY FINDINGS</a:t>
            </a:r>
            <a:endParaRPr/>
          </a:p>
        </p:txBody>
      </p:sp>
      <p:sp>
        <p:nvSpPr>
          <p:cNvPr id="98953644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the analysis established</a:t>
            </a:r>
            <a:endParaRPr/>
          </a:p>
        </p:txBody>
      </p:sp>
      <p:sp>
        <p:nvSpPr>
          <p:cNvPr id="36656459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Ranked by strength of evidence — gap size, segment headcount and how many independent measures agree.</a:t>
            </a:r>
            <a:endParaRPr/>
          </a:p>
        </p:txBody>
      </p:sp>
      <p:sp>
        <p:nvSpPr>
          <p:cNvPr id="213671053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8737302" name="Rectangle 5"/>
          <p:cNvSpPr/>
          <p:nvPr/>
        </p:nvSpPr>
        <p:spPr bwMode="auto">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67392408" name="Rectangle 6"/>
          <p:cNvSpPr/>
          <p:nvPr/>
        </p:nvSpPr>
        <p:spPr bwMode="auto">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26586182" name="TextBox 7"/>
          <p:cNvSpPr txBox="1"/>
          <p:nvPr/>
        </p:nvSpPr>
        <p:spPr bwMode="auto">
          <a:xfrm>
            <a:off x="768096" y="188366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1</a:t>
            </a:r>
            <a:endParaRPr/>
          </a:p>
        </p:txBody>
      </p:sp>
      <p:sp>
        <p:nvSpPr>
          <p:cNvPr id="1656896786" name="TextBox 8"/>
          <p:cNvSpPr txBox="1"/>
          <p:nvPr/>
        </p:nvSpPr>
        <p:spPr bwMode="auto">
          <a:xfrm>
            <a:off x="1133856" y="179222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is an early-tenure phenomenon</a:t>
            </a:r>
            <a:endParaRPr/>
          </a:p>
        </p:txBody>
      </p:sp>
      <p:sp>
        <p:nvSpPr>
          <p:cNvPr id="571231394" name="TextBox 9"/>
          <p:cNvSpPr txBox="1"/>
          <p:nvPr/>
        </p:nvSpPr>
        <p:spPr bwMode="auto">
          <a:xfrm>
            <a:off x="4736592" y="179222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29.82% in the first two years vs 8.13% after eleven; 27.91% in a first year in role; 28.32% in a first year with a manager; 43.90% in a first two years of career</a:t>
            </a:r>
            <a:endParaRPr/>
          </a:p>
        </p:txBody>
      </p:sp>
      <p:sp>
        <p:nvSpPr>
          <p:cNvPr id="1064062049" name="TextBox 10"/>
          <p:cNvSpPr txBox="1"/>
          <p:nvPr/>
        </p:nvSpPr>
        <p:spPr bwMode="auto">
          <a:xfrm>
            <a:off x="8375903" y="179222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strongest result in the project — four independent tenure clocks agree, on large segments. Retention effort has a clear window.</a:t>
            </a:r>
            <a:endParaRPr/>
          </a:p>
        </p:txBody>
      </p:sp>
      <p:sp>
        <p:nvSpPr>
          <p:cNvPr id="1794565497" name="Rectangle 11"/>
          <p:cNvSpPr/>
          <p:nvPr/>
        </p:nvSpPr>
        <p:spPr bwMode="auto">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8709448" name="Rectangle 12"/>
          <p:cNvSpPr/>
          <p:nvPr/>
        </p:nvSpPr>
        <p:spPr bwMode="auto">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648986" name="TextBox 13"/>
          <p:cNvSpPr txBox="1"/>
          <p:nvPr/>
        </p:nvSpPr>
        <p:spPr bwMode="auto">
          <a:xfrm>
            <a:off x="768096" y="2656332"/>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2</a:t>
            </a:r>
            <a:endParaRPr/>
          </a:p>
        </p:txBody>
      </p:sp>
      <p:sp>
        <p:nvSpPr>
          <p:cNvPr id="2147128551" name="TextBox 14"/>
          <p:cNvSpPr txBox="1"/>
          <p:nvPr/>
        </p:nvSpPr>
        <p:spPr bwMode="auto">
          <a:xfrm>
            <a:off x="1133856" y="2564892"/>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Seniority travels with staying</a:t>
            </a:r>
            <a:endParaRPr/>
          </a:p>
        </p:txBody>
      </p:sp>
      <p:sp>
        <p:nvSpPr>
          <p:cNvPr id="1220157097" name="TextBox 15"/>
          <p:cNvSpPr txBox="1"/>
          <p:nvPr/>
        </p:nvSpPr>
        <p:spPr bwMode="auto">
          <a:xfrm>
            <a:off x="4736592" y="2564892"/>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level 1: 26.34% on 543 employees, +55 excess departures. Levels 2–5 all below baseline, down to 4.72%</a:t>
            </a:r>
            <a:endParaRPr/>
          </a:p>
        </p:txBody>
      </p:sp>
      <p:sp>
        <p:nvSpPr>
          <p:cNvPr id="1984331838" name="TextBox 16"/>
          <p:cNvSpPr txBox="1"/>
          <p:nvPr/>
        </p:nvSpPr>
        <p:spPr bwMode="auto">
          <a:xfrm>
            <a:off x="8375903" y="2564892"/>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largest excess of any single segment. Entry level is where the volume of preventable loss sits.</a:t>
            </a:r>
            <a:endParaRPr/>
          </a:p>
        </p:txBody>
      </p:sp>
      <p:sp>
        <p:nvSpPr>
          <p:cNvPr id="1740125291" name="Rectangle 17"/>
          <p:cNvSpPr/>
          <p:nvPr/>
        </p:nvSpPr>
        <p:spPr bwMode="auto">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4486642" name="Rectangle 18"/>
          <p:cNvSpPr/>
          <p:nvPr/>
        </p:nvSpPr>
        <p:spPr bwMode="auto">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6715627" name="TextBox 19"/>
          <p:cNvSpPr txBox="1"/>
          <p:nvPr/>
        </p:nvSpPr>
        <p:spPr bwMode="auto">
          <a:xfrm>
            <a:off x="768096" y="3429000"/>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3</a:t>
            </a:r>
            <a:endParaRPr/>
          </a:p>
        </p:txBody>
      </p:sp>
      <p:sp>
        <p:nvSpPr>
          <p:cNvPr id="2138237406" name="TextBox 20"/>
          <p:cNvSpPr txBox="1"/>
          <p:nvPr/>
        </p:nvSpPr>
        <p:spPr bwMode="auto">
          <a:xfrm>
            <a:off x="1133856" y="3337560"/>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Overtime carries the largest single-condition gap</a:t>
            </a:r>
            <a:endParaRPr/>
          </a:p>
        </p:txBody>
      </p:sp>
      <p:sp>
        <p:nvSpPr>
          <p:cNvPr id="1800835262" name="TextBox 21"/>
          <p:cNvSpPr txBox="1"/>
          <p:nvPr/>
        </p:nvSpPr>
        <p:spPr bwMode="auto">
          <a:xfrm>
            <a:off x="4736592" y="3337560"/>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30.53% of 416 employees working overtime left, vs 10.44% of 1,054 who did not — +14.4 pp; largest positive model coefficient at +1.80</a:t>
            </a:r>
            <a:endParaRPr/>
          </a:p>
        </p:txBody>
      </p:sp>
      <p:sp>
        <p:nvSpPr>
          <p:cNvPr id="479516400" name="TextBox 22"/>
          <p:cNvSpPr txBox="1"/>
          <p:nvPr/>
        </p:nvSpPr>
        <p:spPr bwMode="auto">
          <a:xfrm>
            <a:off x="8375903" y="3337560"/>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Both the descriptive rates and the fitted model agree, on a large group. The most actionable-looking association in the data.</a:t>
            </a:r>
            <a:endParaRPr/>
          </a:p>
        </p:txBody>
      </p:sp>
      <p:sp>
        <p:nvSpPr>
          <p:cNvPr id="228941224" name="Rectangle 23"/>
          <p:cNvSpPr/>
          <p:nvPr/>
        </p:nvSpPr>
        <p:spPr bwMode="auto">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354303" name="Rectangle 24"/>
          <p:cNvSpPr/>
          <p:nvPr/>
        </p:nvSpPr>
        <p:spPr bwMode="auto">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0757032" name="TextBox 25"/>
          <p:cNvSpPr txBox="1"/>
          <p:nvPr/>
        </p:nvSpPr>
        <p:spPr bwMode="auto">
          <a:xfrm>
            <a:off x="768096" y="4201668"/>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4</a:t>
            </a:r>
            <a:endParaRPr/>
          </a:p>
        </p:txBody>
      </p:sp>
      <p:sp>
        <p:nvSpPr>
          <p:cNvPr id="1923062314" name="TextBox 26"/>
          <p:cNvSpPr txBox="1"/>
          <p:nvPr/>
        </p:nvSpPr>
        <p:spPr bwMode="auto">
          <a:xfrm>
            <a:off x="1133856" y="4110228"/>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concentrates in specific operational roles</a:t>
            </a:r>
            <a:endParaRPr/>
          </a:p>
        </p:txBody>
      </p:sp>
      <p:sp>
        <p:nvSpPr>
          <p:cNvPr id="1111958150" name="TextBox 27"/>
          <p:cNvSpPr txBox="1"/>
          <p:nvPr/>
        </p:nvSpPr>
        <p:spPr bwMode="auto">
          <a:xfrm>
            <a:off x="4736592" y="4110228"/>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Sales Representative 39.76% (2.47× baseline); Laboratory Technician 23.94%; both ~+20 excess departures</a:t>
            </a:r>
            <a:endParaRPr/>
          </a:p>
        </p:txBody>
      </p:sp>
      <p:sp>
        <p:nvSpPr>
          <p:cNvPr id="545904400" name="TextBox 28"/>
          <p:cNvSpPr txBox="1"/>
          <p:nvPr/>
        </p:nvSpPr>
        <p:spPr bwMode="auto">
          <a:xfrm>
            <a:off x="8375903" y="4110228"/>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Rate and volume point to different roles, so targeting needs both views. These are also largely entry-level roles.</a:t>
            </a:r>
            <a:endParaRPr/>
          </a:p>
        </p:txBody>
      </p:sp>
      <p:sp>
        <p:nvSpPr>
          <p:cNvPr id="597694507" name="Rectangle 29"/>
          <p:cNvSpPr/>
          <p:nvPr/>
        </p:nvSpPr>
        <p:spPr bwMode="auto">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16441318" name="Rectangle 30"/>
          <p:cNvSpPr/>
          <p:nvPr/>
        </p:nvSpPr>
        <p:spPr bwMode="auto">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1679246" name="TextBox 31"/>
          <p:cNvSpPr txBox="1"/>
          <p:nvPr/>
        </p:nvSpPr>
        <p:spPr bwMode="auto">
          <a:xfrm>
            <a:off x="768096" y="4974336"/>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5</a:t>
            </a:r>
            <a:endParaRPr/>
          </a:p>
        </p:txBody>
      </p:sp>
      <p:sp>
        <p:nvSpPr>
          <p:cNvPr id="1704752616" name="TextBox 32"/>
          <p:cNvSpPr txBox="1"/>
          <p:nvPr/>
        </p:nvSpPr>
        <p:spPr bwMode="auto">
          <a:xfrm>
            <a:off x="1133856" y="4882896"/>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Lower pay is associated with leaving</a:t>
            </a:r>
            <a:endParaRPr/>
          </a:p>
        </p:txBody>
      </p:sp>
      <p:sp>
        <p:nvSpPr>
          <p:cNvPr id="881893884" name="TextBox 33"/>
          <p:cNvSpPr txBox="1"/>
          <p:nvPr/>
        </p:nvSpPr>
        <p:spPr bwMode="auto">
          <a:xfrm>
            <a:off x="4736592" y="4882896"/>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Lowest income quartile (≤$2,911): 29.27% vs 10.34% in the top quartile; correlation −0.160</a:t>
            </a:r>
            <a:endParaRPr/>
          </a:p>
        </p:txBody>
      </p:sp>
      <p:sp>
        <p:nvSpPr>
          <p:cNvPr id="633547810" name="TextBox 34"/>
          <p:cNvSpPr txBox="1"/>
          <p:nvPr/>
        </p:nvSpPr>
        <p:spPr bwMode="auto">
          <a:xfrm>
            <a:off x="8375903" y="4882896"/>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Real as a gap, but heavily confounded with level and tenure — the analysis did not control for them.</a:t>
            </a:r>
            <a:endParaRPr/>
          </a:p>
        </p:txBody>
      </p:sp>
      <p:sp>
        <p:nvSpPr>
          <p:cNvPr id="707825862" name="Rectangle 35"/>
          <p:cNvSpPr/>
          <p:nvPr/>
        </p:nvSpPr>
        <p:spPr bwMode="auto">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76417346" name="Rectangle 36"/>
          <p:cNvSpPr/>
          <p:nvPr/>
        </p:nvSpPr>
        <p:spPr bwMode="auto">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8955142" name="TextBox 37"/>
          <p:cNvSpPr txBox="1"/>
          <p:nvPr/>
        </p:nvSpPr>
        <p:spPr bwMode="auto">
          <a:xfrm>
            <a:off x="768096" y="574700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6</a:t>
            </a:r>
            <a:endParaRPr/>
          </a:p>
        </p:txBody>
      </p:sp>
      <p:sp>
        <p:nvSpPr>
          <p:cNvPr id="1117977188" name="TextBox 38"/>
          <p:cNvSpPr txBox="1"/>
          <p:nvPr/>
        </p:nvSpPr>
        <p:spPr bwMode="auto">
          <a:xfrm>
            <a:off x="1133856" y="565556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 satisfaction shifts the rate, but modestly</a:t>
            </a:r>
            <a:endParaRPr/>
          </a:p>
        </p:txBody>
      </p:sp>
      <p:sp>
        <p:nvSpPr>
          <p:cNvPr id="464352807" name="TextBox 39"/>
          <p:cNvSpPr txBox="1"/>
          <p:nvPr/>
        </p:nvSpPr>
        <p:spPr bwMode="auto">
          <a:xfrm>
            <a:off x="4736592" y="565556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involvement low 21.6% vs high 9.0%; environment satisfaction 20.1% vs 13.5%; job satisfaction 19.7% vs 11.3%</a:t>
            </a:r>
            <a:endParaRPr/>
          </a:p>
        </p:txBody>
      </p:sp>
      <p:sp>
        <p:nvSpPr>
          <p:cNvPr id="1916855816" name="TextBox 40"/>
          <p:cNvSpPr txBox="1"/>
          <p:nvPr/>
        </p:nvSpPr>
        <p:spPr bwMode="auto">
          <a:xfrm>
            <a:off x="8375903" y="565556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Directionally consistent across all four survey scales, but every correlation is under 0.13 — weaker than tenure or overtime.</a:t>
            </a:r>
            <a:endParaRPr/>
          </a:p>
        </p:txBody>
      </p:sp>
      <p:sp>
        <p:nvSpPr>
          <p:cNvPr id="1836408319" name="TextBox 41"/>
          <p:cNvSpPr txBox="1"/>
          <p:nvPr/>
        </p:nvSpPr>
        <p:spPr bwMode="auto">
          <a:xfrm>
            <a:off x="1133856" y="1463040"/>
            <a:ext cx="11058113"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FINDING</a:t>
            </a:r>
            <a:endParaRPr/>
          </a:p>
        </p:txBody>
      </p:sp>
      <p:sp>
        <p:nvSpPr>
          <p:cNvPr id="1124878703" name="TextBox 42"/>
          <p:cNvSpPr txBox="1"/>
          <p:nvPr/>
        </p:nvSpPr>
        <p:spPr bwMode="auto">
          <a:xfrm>
            <a:off x="4736592"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EVIDENCE</a:t>
            </a:r>
            <a:endParaRPr/>
          </a:p>
        </p:txBody>
      </p:sp>
      <p:sp>
        <p:nvSpPr>
          <p:cNvPr id="1248356301" name="TextBox 43"/>
          <p:cNvSpPr txBox="1"/>
          <p:nvPr/>
        </p:nvSpPr>
        <p:spPr bwMode="auto">
          <a:xfrm>
            <a:off x="8375903"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008877165" name="Rectangle 44"/>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18776231" name="TextBox 45"/>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 10</a:t>
            </a:r>
            <a:endParaRPr/>
          </a:p>
        </p:txBody>
      </p:sp>
      <p:sp>
        <p:nvSpPr>
          <p:cNvPr id="299351383" name="TextBox 46"/>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956415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SYNTHESIS</a:t>
            </a:r>
            <a:endParaRPr/>
          </a:p>
        </p:txBody>
      </p:sp>
      <p:sp>
        <p:nvSpPr>
          <p:cNvPr id="519024829"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Attrition risk patterns</a:t>
            </a:r>
            <a:endParaRPr/>
          </a:p>
        </p:txBody>
      </p:sp>
      <p:sp>
        <p:nvSpPr>
          <p:cNvPr id="68694079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Every segment shown was measured in notebook 05 or 08; headcount is printed beside each rate because a rate on 83 people is a weaker claim than the same rate on 543.</a:t>
            </a:r>
            <a:endParaRPr/>
          </a:p>
        </p:txBody>
      </p:sp>
      <p:sp>
        <p:nvSpPr>
          <p:cNvPr id="47345604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128434542" name="Picture 5" descr="risk_patterns.png"/>
          <p:cNvPicPr>
            <a:picLocks noChangeAspect="1"/>
          </p:cNvPicPr>
          <p:nvPr/>
        </p:nvPicPr>
        <p:blipFill rotWithShape="1">
          <a:blip r:embed="rId3"/>
          <a:stretch/>
        </p:blipFill>
        <p:spPr bwMode="auto">
          <a:xfrm>
            <a:off x="629002" y="1655063"/>
            <a:ext cx="7602529" cy="3794760"/>
          </a:xfrm>
          <a:prstGeom prst="rect">
            <a:avLst/>
          </a:prstGeom>
        </p:spPr>
      </p:pic>
      <p:sp>
        <p:nvSpPr>
          <p:cNvPr id="2042270545" name="TextBox 6"/>
          <p:cNvSpPr txBox="1"/>
          <p:nvPr/>
        </p:nvSpPr>
        <p:spPr bwMode="auto">
          <a:xfrm>
            <a:off x="8449055" y="1682496"/>
            <a:ext cx="3175985"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Associated with staying</a:t>
            </a:r>
            <a:endParaRPr/>
          </a:p>
        </p:txBody>
      </p:sp>
      <p:sp>
        <p:nvSpPr>
          <p:cNvPr id="1426256310" name="Oval 7"/>
          <p:cNvSpPr/>
          <p:nvPr/>
        </p:nvSpPr>
        <p:spPr bwMode="auto">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9371715" name="TextBox 8"/>
          <p:cNvSpPr txBox="1"/>
          <p:nvPr/>
        </p:nvSpPr>
        <p:spPr bwMode="auto">
          <a:xfrm>
            <a:off x="8631935" y="202996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Research Director — 2.50%</a:t>
            </a:r>
            <a:endParaRPr/>
          </a:p>
        </p:txBody>
      </p:sp>
      <p:sp>
        <p:nvSpPr>
          <p:cNvPr id="802333737" name="Oval 9"/>
          <p:cNvSpPr/>
          <p:nvPr/>
        </p:nvSpPr>
        <p:spPr bwMode="auto">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09880634" name="TextBox 10"/>
          <p:cNvSpPr txBox="1"/>
          <p:nvPr/>
        </p:nvSpPr>
        <p:spPr bwMode="auto">
          <a:xfrm>
            <a:off x="8631935" y="227685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Job level 4 — 4.72%</a:t>
            </a:r>
            <a:endParaRPr/>
          </a:p>
        </p:txBody>
      </p:sp>
      <p:sp>
        <p:nvSpPr>
          <p:cNvPr id="655690802" name="Oval 11"/>
          <p:cNvSpPr/>
          <p:nvPr/>
        </p:nvSpPr>
        <p:spPr bwMode="auto">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84408394" name="TextBox 12"/>
          <p:cNvSpPr txBox="1"/>
          <p:nvPr/>
        </p:nvSpPr>
        <p:spPr bwMode="auto">
          <a:xfrm>
            <a:off x="8631935" y="252374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Manager — 4.90%</a:t>
            </a:r>
            <a:endParaRPr/>
          </a:p>
        </p:txBody>
      </p:sp>
      <p:sp>
        <p:nvSpPr>
          <p:cNvPr id="260953142" name="Oval 13"/>
          <p:cNvSpPr/>
          <p:nvPr/>
        </p:nvSpPr>
        <p:spPr bwMode="auto">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0920685" name="TextBox 14"/>
          <p:cNvSpPr txBox="1"/>
          <p:nvPr/>
        </p:nvSpPr>
        <p:spPr bwMode="auto">
          <a:xfrm>
            <a:off x="8631935" y="277063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Healthcare Rep — 6.87%</a:t>
            </a:r>
            <a:endParaRPr/>
          </a:p>
        </p:txBody>
      </p:sp>
      <p:sp>
        <p:nvSpPr>
          <p:cNvPr id="767211288" name="Oval 15"/>
          <p:cNvSpPr/>
          <p:nvPr/>
        </p:nvSpPr>
        <p:spPr bwMode="auto">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7748841" name="TextBox 16"/>
          <p:cNvSpPr txBox="1"/>
          <p:nvPr/>
        </p:nvSpPr>
        <p:spPr bwMode="auto">
          <a:xfrm>
            <a:off x="8631935" y="3017519"/>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Manufacturing Dir — 6.90%</a:t>
            </a:r>
            <a:endParaRPr/>
          </a:p>
        </p:txBody>
      </p:sp>
      <p:sp>
        <p:nvSpPr>
          <p:cNvPr id="1218306434" name="Oval 17"/>
          <p:cNvSpPr/>
          <p:nvPr/>
        </p:nvSpPr>
        <p:spPr bwMode="auto">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429509" name="TextBox 18"/>
          <p:cNvSpPr txBox="1"/>
          <p:nvPr/>
        </p:nvSpPr>
        <p:spPr bwMode="auto">
          <a:xfrm>
            <a:off x="8631935" y="326440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11+ years tenure — 8.13%</a:t>
            </a:r>
            <a:endParaRPr/>
          </a:p>
        </p:txBody>
      </p:sp>
      <p:sp>
        <p:nvSpPr>
          <p:cNvPr id="665557510" name="Oval 19"/>
          <p:cNvSpPr/>
          <p:nvPr/>
        </p:nvSpPr>
        <p:spPr bwMode="auto">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0905889" name="TextBox 20"/>
          <p:cNvSpPr txBox="1"/>
          <p:nvPr/>
        </p:nvSpPr>
        <p:spPr bwMode="auto">
          <a:xfrm>
            <a:off x="8631935" y="351129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8+ years with manager — 4.11%</a:t>
            </a:r>
            <a:endParaRPr/>
          </a:p>
        </p:txBody>
      </p:sp>
      <p:sp>
        <p:nvSpPr>
          <p:cNvPr id="713035722" name="Oval 21"/>
          <p:cNvSpPr/>
          <p:nvPr/>
        </p:nvSpPr>
        <p:spPr bwMode="auto">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77634" name="TextBox 22"/>
          <p:cNvSpPr txBox="1"/>
          <p:nvPr/>
        </p:nvSpPr>
        <p:spPr bwMode="auto">
          <a:xfrm>
            <a:off x="8631935" y="375818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business travel — 8.00%</a:t>
            </a:r>
            <a:endParaRPr/>
          </a:p>
        </p:txBody>
      </p:sp>
      <p:sp>
        <p:nvSpPr>
          <p:cNvPr id="1784639391" name="Oval 23"/>
          <p:cNvSpPr/>
          <p:nvPr/>
        </p:nvSpPr>
        <p:spPr bwMode="auto">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5331692" name="TextBox 24"/>
          <p:cNvSpPr txBox="1"/>
          <p:nvPr/>
        </p:nvSpPr>
        <p:spPr bwMode="auto">
          <a:xfrm>
            <a:off x="8631935" y="400507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overtime — 10.44%</a:t>
            </a:r>
            <a:endParaRPr/>
          </a:p>
        </p:txBody>
      </p:sp>
      <p:sp>
        <p:nvSpPr>
          <p:cNvPr id="1686503310" name="Rectangle 25"/>
          <p:cNvSpPr/>
          <p:nvPr/>
        </p:nvSpPr>
        <p:spPr bwMode="auto">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4630388" name="Rectangle 26"/>
          <p:cNvSpPr/>
          <p:nvPr/>
        </p:nvSpPr>
        <p:spPr bwMode="auto">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26863994" name="TextBox 27"/>
          <p:cNvSpPr txBox="1"/>
          <p:nvPr/>
        </p:nvSpPr>
        <p:spPr bwMode="auto">
          <a:xfrm>
            <a:off x="8668511" y="4581144"/>
            <a:ext cx="277364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READ WITH CARE</a:t>
            </a:r>
            <a:endParaRPr/>
          </a:p>
        </p:txBody>
      </p:sp>
      <p:sp>
        <p:nvSpPr>
          <p:cNvPr id="1635943109" name="TextBox 28"/>
          <p:cNvSpPr txBox="1"/>
          <p:nvPr/>
        </p:nvSpPr>
        <p:spPr bwMode="auto">
          <a:xfrm>
            <a:off x="8668511" y="4828032"/>
            <a:ext cx="2773649" cy="5303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segments overlap heavily. An entry-level Sales Representative in their first year is one person counted in four rows.</a:t>
            </a:r>
            <a:endParaRPr/>
          </a:p>
        </p:txBody>
      </p:sp>
      <p:sp>
        <p:nvSpPr>
          <p:cNvPr id="2088223844" name="Rectangle 29"/>
          <p:cNvSpPr/>
          <p:nvPr/>
        </p:nvSpPr>
        <p:spPr bwMode="auto">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6407923" name="Rectangle 30"/>
          <p:cNvSpPr/>
          <p:nvPr/>
        </p:nvSpPr>
        <p:spPr bwMode="auto">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08041609" name="TextBox 31"/>
          <p:cNvSpPr txBox="1"/>
          <p:nvPr/>
        </p:nvSpPr>
        <p:spPr bwMode="auto">
          <a:xfrm>
            <a:off x="786384" y="562356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629613723" name="TextBox 32"/>
          <p:cNvSpPr txBox="1"/>
          <p:nvPr/>
        </p:nvSpPr>
        <p:spPr bwMode="auto">
          <a:xfrm>
            <a:off x="786384" y="587044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endParaRPr/>
          </a:p>
        </p:txBody>
      </p:sp>
      <p:sp>
        <p:nvSpPr>
          <p:cNvPr id="248898030" name="Rectangle 3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973008" name="TextBox 3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a:t>
            </a:r>
            <a:endParaRPr/>
          </a:p>
        </p:txBody>
      </p:sp>
      <p:sp>
        <p:nvSpPr>
          <p:cNvPr id="1674824436" name="TextBox 3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2503565"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HOW THE WORK WAS ORGANISED</a:t>
            </a:r>
            <a:endParaRPr/>
          </a:p>
        </p:txBody>
      </p:sp>
      <p:sp>
        <p:nvSpPr>
          <p:cNvPr id="23394156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Repository and team</a:t>
            </a:r>
            <a:endParaRPr/>
          </a:p>
        </p:txBody>
      </p:sp>
      <p:sp>
        <p:nvSpPr>
          <p:cNvPr id="94528459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A public GitHub repository with numerically-prefixed notebooks meant to be run in order, committed with their outputs so they read on GitHub.</a:t>
            </a:r>
            <a:endParaRPr/>
          </a:p>
        </p:txBody>
      </p:sp>
      <p:sp>
        <p:nvSpPr>
          <p:cNvPr id="185941207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76752484" name="TextBox 5"/>
          <p:cNvSpPr txBox="1"/>
          <p:nvPr/>
        </p:nvSpPr>
        <p:spPr bwMode="auto">
          <a:xfrm>
            <a:off x="566928" y="1700784"/>
            <a:ext cx="539496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Repository structure</a:t>
            </a:r>
            <a:endParaRPr/>
          </a:p>
        </p:txBody>
      </p:sp>
      <p:sp>
        <p:nvSpPr>
          <p:cNvPr id="154164964" name="Rectangle 6"/>
          <p:cNvSpPr/>
          <p:nvPr/>
        </p:nvSpPr>
        <p:spPr bwMode="auto">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169042" name="TextBox 7"/>
          <p:cNvSpPr txBox="1"/>
          <p:nvPr/>
        </p:nvSpPr>
        <p:spPr bwMode="auto">
          <a:xfrm>
            <a:off x="786384" y="2194560"/>
            <a:ext cx="5029200" cy="2103120"/>
          </a:xfrm>
          <a:prstGeom prst="rect">
            <a:avLst/>
          </a:prstGeom>
          <a:noFill/>
        </p:spPr>
        <p:txBody>
          <a:bodyPr wrap="square" lIns="0" tIns="0" rIns="0" bIns="0" anchor="t">
            <a:spAutoFit/>
          </a:bodyPr>
          <a:lstStyle/>
          <a:p>
            <a:pPr algn="l">
              <a:lnSpc>
                <a:spcPct val="130000"/>
              </a:lnSpc>
              <a:spcAft>
                <a:spcPts val="0"/>
              </a:spcAft>
              <a:defRPr/>
            </a:pPr>
            <a:r>
              <a:rPr sz="950" b="0" i="0">
                <a:solidFill>
                  <a:srgbClr val="52514E"/>
                </a:solidFill>
                <a:latin typeface="Consolas"/>
              </a:rPr>
              <a:t>ibm-analytics-attrition-eda/</a:t>
            </a:r>
            <a:endParaRPr/>
          </a:p>
          <a:p>
            <a:pPr algn="l">
              <a:lnSpc>
                <a:spcPct val="130000"/>
              </a:lnSpc>
              <a:spcAft>
                <a:spcPts val="0"/>
              </a:spcAft>
              <a:defRPr/>
            </a:pPr>
            <a:r>
              <a:rPr sz="950" b="0" i="0">
                <a:solidFill>
                  <a:srgbClr val="52514E"/>
                </a:solidFill>
                <a:latin typeface="Consolas"/>
              </a:rPr>
              <a:t>├─ data/</a:t>
            </a:r>
            <a:endParaRPr/>
          </a:p>
          <a:p>
            <a:pPr algn="l">
              <a:lnSpc>
                <a:spcPct val="130000"/>
              </a:lnSpc>
              <a:spcAft>
                <a:spcPts val="0"/>
              </a:spcAft>
              <a:defRPr/>
            </a:pPr>
            <a:r>
              <a:rPr sz="950" b="0" i="0">
                <a:solidFill>
                  <a:srgbClr val="52514E"/>
                </a:solidFill>
                <a:latin typeface="Consolas"/>
              </a:rPr>
              <a:t>│  ├─ raw/          WA_Fn-UseC_-HR-Employee-Attrition.csv</a:t>
            </a:r>
            <a:endParaRPr/>
          </a:p>
          <a:p>
            <a:pPr algn="l">
              <a:lnSpc>
                <a:spcPct val="130000"/>
              </a:lnSpc>
              <a:spcAft>
                <a:spcPts val="0"/>
              </a:spcAft>
              <a:defRPr/>
            </a:pPr>
            <a:r>
              <a:rPr sz="950" b="0" i="0">
                <a:solidFill>
                  <a:srgbClr val="52514E"/>
                </a:solidFill>
                <a:latin typeface="Consolas"/>
              </a:rPr>
              <a:t>│  ├─ processed/    Employee-Attrition_Regression_Ready.csv</a:t>
            </a:r>
            <a:endParaRPr/>
          </a:p>
          <a:p>
            <a:pPr algn="l">
              <a:lnSpc>
                <a:spcPct val="130000"/>
              </a:lnSpc>
              <a:spcAft>
                <a:spcPts val="0"/>
              </a:spcAft>
              <a:defRPr/>
            </a:pPr>
            <a:r>
              <a:rPr sz="950" b="0" i="0">
                <a:solidFill>
                  <a:srgbClr val="52514E"/>
                </a:solidFill>
                <a:latin typeface="Consolas"/>
              </a:rPr>
              <a:t>│  └─ HR_Employee_Attrition_Wrangled.csv</a:t>
            </a:r>
            <a:endParaRPr/>
          </a:p>
          <a:p>
            <a:pPr algn="l">
              <a:lnSpc>
                <a:spcPct val="130000"/>
              </a:lnSpc>
              <a:spcAft>
                <a:spcPts val="0"/>
              </a:spcAft>
              <a:defRPr/>
            </a:pPr>
            <a:r>
              <a:rPr sz="950" b="0" i="0">
                <a:solidFill>
                  <a:srgbClr val="52514E"/>
                </a:solidFill>
                <a:latin typeface="Consolas"/>
              </a:rPr>
              <a:t>├─ notebooks/       00 … 10  (11 notebooks, run in order)</a:t>
            </a:r>
            <a:endParaRPr/>
          </a:p>
          <a:p>
            <a:pPr algn="l">
              <a:lnSpc>
                <a:spcPct val="130000"/>
              </a:lnSpc>
              <a:spcAft>
                <a:spcPts val="0"/>
              </a:spcAft>
              <a:defRPr/>
            </a:pPr>
            <a:r>
              <a:rPr sz="950" b="0" i="0">
                <a:solidFill>
                  <a:srgbClr val="52514E"/>
                </a:solidFill>
                <a:latin typeface="Consolas"/>
              </a:rPr>
              <a:t>├─ dashboards/</a:t>
            </a:r>
            <a:endParaRPr/>
          </a:p>
          <a:p>
            <a:pPr algn="l">
              <a:lnSpc>
                <a:spcPct val="130000"/>
              </a:lnSpc>
              <a:spcAft>
                <a:spcPts val="0"/>
              </a:spcAft>
              <a:defRPr/>
            </a:pPr>
            <a:r>
              <a:rPr sz="950" b="0" i="0">
                <a:solidFill>
                  <a:srgbClr val="52514E"/>
                </a:solidFill>
                <a:latin typeface="Consolas"/>
              </a:rPr>
              <a:t>│  └─ app/          Dash app — layout, callbacks, figures, theme</a:t>
            </a:r>
            <a:endParaRPr/>
          </a:p>
          <a:p>
            <a:pPr algn="l">
              <a:lnSpc>
                <a:spcPct val="130000"/>
              </a:lnSpc>
              <a:spcAft>
                <a:spcPts val="0"/>
              </a:spcAft>
              <a:defRPr/>
            </a:pPr>
            <a:r>
              <a:rPr sz="950" b="0" i="0">
                <a:solidFill>
                  <a:srgbClr val="52514E"/>
                </a:solidFill>
                <a:latin typeface="Consolas"/>
              </a:rPr>
              <a:t>├─ requirements.txt</a:t>
            </a:r>
            <a:endParaRPr/>
          </a:p>
          <a:p>
            <a:pPr algn="l">
              <a:lnSpc>
                <a:spcPct val="130000"/>
              </a:lnSpc>
              <a:spcAft>
                <a:spcPts val="0"/>
              </a:spcAft>
              <a:defRPr/>
            </a:pPr>
            <a:r>
              <a:rPr sz="950" b="0" i="0">
                <a:solidFill>
                  <a:srgbClr val="52514E"/>
                </a:solidFill>
                <a:latin typeface="Consolas"/>
              </a:rPr>
              <a:t>└─ README.md</a:t>
            </a:r>
            <a:endParaRPr/>
          </a:p>
        </p:txBody>
      </p:sp>
      <p:sp>
        <p:nvSpPr>
          <p:cNvPr id="123614465" name="TextBox 8"/>
          <p:cNvSpPr txBox="1"/>
          <p:nvPr/>
        </p:nvSpPr>
        <p:spPr bwMode="auto">
          <a:xfrm>
            <a:off x="566928" y="4553712"/>
            <a:ext cx="5394960" cy="1188720"/>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Beyond the notebooks.  </a:t>
            </a:r>
            <a:r>
              <a:rPr sz="105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endParaRPr/>
          </a:p>
        </p:txBody>
      </p:sp>
      <p:sp>
        <p:nvSpPr>
          <p:cNvPr id="912923618" name="TextBox 9"/>
          <p:cNvSpPr txBox="1"/>
          <p:nvPr/>
        </p:nvSpPr>
        <p:spPr bwMode="auto">
          <a:xfrm>
            <a:off x="6236208" y="1700784"/>
            <a:ext cx="53888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Team · NPower JDA Cohort 2026</a:t>
            </a:r>
            <a:endParaRPr/>
          </a:p>
        </p:txBody>
      </p:sp>
      <p:sp>
        <p:nvSpPr>
          <p:cNvPr id="1002082116" name="Rectangle 10"/>
          <p:cNvSpPr/>
          <p:nvPr/>
        </p:nvSpPr>
        <p:spPr bwMode="auto">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2599861" name="Rectangle 11"/>
          <p:cNvSpPr/>
          <p:nvPr/>
        </p:nvSpPr>
        <p:spPr bwMode="auto">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3186210" name="TextBox 12"/>
          <p:cNvSpPr txBox="1"/>
          <p:nvPr/>
        </p:nvSpPr>
        <p:spPr bwMode="auto">
          <a:xfrm>
            <a:off x="6400800"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Pablo Fiterman</a:t>
            </a:r>
            <a:endParaRPr/>
          </a:p>
        </p:txBody>
      </p:sp>
      <p:sp>
        <p:nvSpPr>
          <p:cNvPr id="888307044" name="TextBox 13"/>
          <p:cNvSpPr txBox="1"/>
          <p:nvPr/>
        </p:nvSpPr>
        <p:spPr bwMode="auto">
          <a:xfrm>
            <a:off x="6400800"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Attrition analysis (05), dashboard, README, repo structure</a:t>
            </a:r>
            <a:endParaRPr/>
          </a:p>
        </p:txBody>
      </p:sp>
      <p:sp>
        <p:nvSpPr>
          <p:cNvPr id="141903023" name="Rectangle 14"/>
          <p:cNvSpPr/>
          <p:nvPr/>
        </p:nvSpPr>
        <p:spPr bwMode="auto">
          <a:xfrm>
            <a:off x="6236208"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87128590" name="Rectangle 15"/>
          <p:cNvSpPr/>
          <p:nvPr/>
        </p:nvSpPr>
        <p:spPr bwMode="auto">
          <a:xfrm>
            <a:off x="6236208" y="2724911"/>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59970316" name="TextBox 16"/>
          <p:cNvSpPr txBox="1"/>
          <p:nvPr/>
        </p:nvSpPr>
        <p:spPr bwMode="auto">
          <a:xfrm>
            <a:off x="6400800"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Dhanan Thannoo</a:t>
            </a:r>
            <a:endParaRPr/>
          </a:p>
        </p:txBody>
      </p:sp>
      <p:sp>
        <p:nvSpPr>
          <p:cNvPr id="520622866" name="TextBox 17"/>
          <p:cNvSpPr txBox="1"/>
          <p:nvPr/>
        </p:nvSpPr>
        <p:spPr bwMode="auto">
          <a:xfrm>
            <a:off x="6400800"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Normalizing data (03), regression model (10)</a:t>
            </a:r>
            <a:endParaRPr/>
          </a:p>
        </p:txBody>
      </p:sp>
      <p:sp>
        <p:nvSpPr>
          <p:cNvPr id="1184882119" name="Rectangle 18"/>
          <p:cNvSpPr/>
          <p:nvPr/>
        </p:nvSpPr>
        <p:spPr bwMode="auto">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9793069" name="Rectangle 19"/>
          <p:cNvSpPr/>
          <p:nvPr/>
        </p:nvSpPr>
        <p:spPr bwMode="auto">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4153913" name="TextBox 20"/>
          <p:cNvSpPr txBox="1"/>
          <p:nvPr/>
        </p:nvSpPr>
        <p:spPr bwMode="auto">
          <a:xfrm>
            <a:off x="6400800"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Tanvi Varshney</a:t>
            </a:r>
            <a:endParaRPr/>
          </a:p>
        </p:txBody>
      </p:sp>
      <p:sp>
        <p:nvSpPr>
          <p:cNvPr id="854459447" name="TextBox 21"/>
          <p:cNvSpPr txBox="1"/>
          <p:nvPr/>
        </p:nvSpPr>
        <p:spPr bwMode="auto">
          <a:xfrm>
            <a:off x="6400800"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Data wrangling (04), outlier detection (07)</a:t>
            </a:r>
            <a:endParaRPr/>
          </a:p>
        </p:txBody>
      </p:sp>
      <p:sp>
        <p:nvSpPr>
          <p:cNvPr id="520638797" name="Rectangle 22"/>
          <p:cNvSpPr/>
          <p:nvPr/>
        </p:nvSpPr>
        <p:spPr bwMode="auto">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3066770" name="Rectangle 23"/>
          <p:cNvSpPr/>
          <p:nvPr/>
        </p:nvSpPr>
        <p:spPr bwMode="auto">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22893158" name="TextBox 24"/>
          <p:cNvSpPr txBox="1"/>
          <p:nvPr/>
        </p:nvSpPr>
        <p:spPr bwMode="auto">
          <a:xfrm>
            <a:off x="6400800"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Yunseo Jang</a:t>
            </a:r>
            <a:endParaRPr/>
          </a:p>
        </p:txBody>
      </p:sp>
      <p:sp>
        <p:nvSpPr>
          <p:cNvPr id="1502172075" name="TextBox 25"/>
          <p:cNvSpPr txBox="1"/>
          <p:nvPr/>
        </p:nvSpPr>
        <p:spPr bwMode="auto">
          <a:xfrm>
            <a:off x="6400800"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profiling (06), correlation (08)</a:t>
            </a:r>
            <a:endParaRPr/>
          </a:p>
        </p:txBody>
      </p:sp>
      <p:sp>
        <p:nvSpPr>
          <p:cNvPr id="1927067060" name="Rectangle 26"/>
          <p:cNvSpPr/>
          <p:nvPr/>
        </p:nvSpPr>
        <p:spPr bwMode="auto">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2766568" name="Rectangle 27"/>
          <p:cNvSpPr/>
          <p:nvPr/>
        </p:nvSpPr>
        <p:spPr bwMode="auto">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91593071" name="TextBox 28"/>
          <p:cNvSpPr txBox="1"/>
          <p:nvPr/>
        </p:nvSpPr>
        <p:spPr bwMode="auto">
          <a:xfrm>
            <a:off x="9186656"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Asif Hassan</a:t>
            </a:r>
            <a:endParaRPr/>
          </a:p>
        </p:txBody>
      </p:sp>
      <p:sp>
        <p:nvSpPr>
          <p:cNvPr id="863775990" name="TextBox 29"/>
          <p:cNvSpPr txBox="1"/>
          <p:nvPr/>
        </p:nvSpPr>
        <p:spPr bwMode="auto">
          <a:xfrm>
            <a:off x="9186656"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visualisation (09)</a:t>
            </a:r>
            <a:endParaRPr/>
          </a:p>
        </p:txBody>
      </p:sp>
      <p:sp>
        <p:nvSpPr>
          <p:cNvPr id="596223112" name="Rectangle 30"/>
          <p:cNvSpPr/>
          <p:nvPr/>
        </p:nvSpPr>
        <p:spPr bwMode="auto">
          <a:xfrm>
            <a:off x="9022064"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0098813" name="Rectangle 31"/>
          <p:cNvSpPr/>
          <p:nvPr/>
        </p:nvSpPr>
        <p:spPr bwMode="auto">
          <a:xfrm>
            <a:off x="9022064" y="2724911"/>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52337565" name="TextBox 32"/>
          <p:cNvSpPr txBox="1"/>
          <p:nvPr/>
        </p:nvSpPr>
        <p:spPr bwMode="auto">
          <a:xfrm>
            <a:off x="9186656"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Amruta Atul</a:t>
            </a:r>
            <a:endParaRPr/>
          </a:p>
        </p:txBody>
      </p:sp>
      <p:sp>
        <p:nvSpPr>
          <p:cNvPr id="284445907" name="TextBox 33"/>
          <p:cNvSpPr txBox="1"/>
          <p:nvPr/>
        </p:nvSpPr>
        <p:spPr bwMode="auto">
          <a:xfrm>
            <a:off x="9186656"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725363018" name="Rectangle 38"/>
          <p:cNvSpPr/>
          <p:nvPr/>
        </p:nvSpPr>
        <p:spPr bwMode="auto">
          <a:xfrm>
            <a:off x="9022063" y="339786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25114250" name="Rectangle 39"/>
          <p:cNvSpPr/>
          <p:nvPr/>
        </p:nvSpPr>
        <p:spPr bwMode="auto">
          <a:xfrm>
            <a:off x="9022063" y="3397866"/>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4281427" name="TextBox 40"/>
          <p:cNvSpPr txBox="1"/>
          <p:nvPr/>
        </p:nvSpPr>
        <p:spPr bwMode="auto">
          <a:xfrm>
            <a:off x="9186655" y="3480161"/>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Stephanie Jivoderova</a:t>
            </a:r>
            <a:endParaRPr/>
          </a:p>
        </p:txBody>
      </p:sp>
      <p:sp>
        <p:nvSpPr>
          <p:cNvPr id="757912392" name="TextBox 41"/>
          <p:cNvSpPr txBox="1"/>
          <p:nvPr/>
        </p:nvSpPr>
        <p:spPr bwMode="auto">
          <a:xfrm>
            <a:off x="9186655" y="369961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177319168" name="TextBox 42"/>
          <p:cNvSpPr txBox="1"/>
          <p:nvPr/>
        </p:nvSpPr>
        <p:spPr bwMode="auto">
          <a:xfrm>
            <a:off x="6236208" y="4809744"/>
            <a:ext cx="5388833" cy="914400"/>
          </a:xfrm>
          <a:prstGeom prst="rect">
            <a:avLst/>
          </a:prstGeom>
          <a:noFill/>
        </p:spPr>
        <p:txBody>
          <a:bodyPr wrap="square" lIns="0" tIns="0" rIns="0" bIns="0" anchor="t">
            <a:spAutoFit/>
          </a:bodyPr>
          <a:lstStyle/>
          <a:p>
            <a:pPr algn="l">
              <a:lnSpc>
                <a:spcPct val="124000"/>
              </a:lnSpc>
              <a:spcAft>
                <a:spcPts val="0"/>
              </a:spcAft>
              <a:defRPr/>
            </a:pPr>
            <a:r>
              <a:rPr sz="950" b="1" i="0">
                <a:solidFill>
                  <a:srgbClr val="0B0B0B"/>
                </a:solidFill>
                <a:latin typeface="Segoe UI"/>
              </a:rPr>
              <a:t>Collaborative team project.  </a:t>
            </a:r>
            <a:r>
              <a:rPr sz="95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endParaRPr/>
          </a:p>
        </p:txBody>
      </p:sp>
      <p:sp>
        <p:nvSpPr>
          <p:cNvPr id="1913384236" name="Rectangle 4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92076299" name="TextBox 4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git history</a:t>
            </a:r>
            <a:endParaRPr/>
          </a:p>
        </p:txBody>
      </p:sp>
      <p:sp>
        <p:nvSpPr>
          <p:cNvPr id="2035298792" name="TextBox 4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5202061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TECHNICAL SKILLS</a:t>
            </a:r>
            <a:endParaRPr/>
          </a:p>
        </p:txBody>
      </p:sp>
      <p:sp>
        <p:nvSpPr>
          <p:cNvPr id="112051397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Tools and techniques applied</a:t>
            </a:r>
            <a:endParaRPr/>
          </a:p>
        </p:txBody>
      </p:sp>
      <p:sp>
        <p:nvSpPr>
          <p:cNvPr id="147152505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Only what the repository actually contains — every item below appears in a notebook, the dashboard, or requirements.txt.</a:t>
            </a:r>
            <a:endParaRPr/>
          </a:p>
        </p:txBody>
      </p:sp>
      <p:sp>
        <p:nvSpPr>
          <p:cNvPr id="6935152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17031107" name="Rectangle 5"/>
          <p:cNvSpPr/>
          <p:nvPr/>
        </p:nvSpPr>
        <p:spPr bwMode="auto">
          <a:xfrm>
            <a:off x="566928"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5147089" name="Rectangle 6"/>
          <p:cNvSpPr/>
          <p:nvPr/>
        </p:nvSpPr>
        <p:spPr bwMode="auto">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1493502" name="TextBox 7"/>
          <p:cNvSpPr txBox="1"/>
          <p:nvPr/>
        </p:nvSpPr>
        <p:spPr bwMode="auto">
          <a:xfrm>
            <a:off x="749808"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Language &amp; environment</a:t>
            </a:r>
            <a:endParaRPr/>
          </a:p>
        </p:txBody>
      </p:sp>
      <p:sp>
        <p:nvSpPr>
          <p:cNvPr id="1843922851" name="TextBox 8"/>
          <p:cNvSpPr txBox="1"/>
          <p:nvPr/>
        </p:nvSpPr>
        <p:spPr bwMode="auto">
          <a:xfrm>
            <a:off x="749808"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Python 3</a:t>
            </a:r>
            <a:endParaRPr/>
          </a:p>
        </p:txBody>
      </p:sp>
      <p:sp>
        <p:nvSpPr>
          <p:cNvPr id="358355444" name="TextBox 9"/>
          <p:cNvSpPr txBox="1"/>
          <p:nvPr/>
        </p:nvSpPr>
        <p:spPr bwMode="auto">
          <a:xfrm>
            <a:off x="749808"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Analysis language throughout</a:t>
            </a:r>
            <a:endParaRPr/>
          </a:p>
        </p:txBody>
      </p:sp>
      <p:sp>
        <p:nvSpPr>
          <p:cNvPr id="35927641" name="TextBox 10"/>
          <p:cNvSpPr txBox="1"/>
          <p:nvPr/>
        </p:nvSpPr>
        <p:spPr bwMode="auto">
          <a:xfrm>
            <a:off x="749808" y="302666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Jupyter</a:t>
            </a:r>
            <a:endParaRPr/>
          </a:p>
        </p:txBody>
      </p:sp>
      <p:sp>
        <p:nvSpPr>
          <p:cNvPr id="602934518" name="TextBox 11"/>
          <p:cNvSpPr txBox="1"/>
          <p:nvPr/>
        </p:nvSpPr>
        <p:spPr bwMode="auto">
          <a:xfrm>
            <a:off x="749808" y="323697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11 notebooks, committed with outputs</a:t>
            </a:r>
            <a:endParaRPr/>
          </a:p>
        </p:txBody>
      </p:sp>
      <p:sp>
        <p:nvSpPr>
          <p:cNvPr id="789918133" name="TextBox 12"/>
          <p:cNvSpPr txBox="1"/>
          <p:nvPr/>
        </p:nvSpPr>
        <p:spPr bwMode="auto">
          <a:xfrm>
            <a:off x="749808" y="374904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venv + requirements.txt</a:t>
            </a:r>
            <a:endParaRPr/>
          </a:p>
        </p:txBody>
      </p:sp>
      <p:sp>
        <p:nvSpPr>
          <p:cNvPr id="1020093613" name="TextBox 13"/>
          <p:cNvSpPr txBox="1"/>
          <p:nvPr/>
        </p:nvSpPr>
        <p:spPr bwMode="auto">
          <a:xfrm>
            <a:off x="749808" y="395935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Pinned, reproducible environment</a:t>
            </a:r>
            <a:endParaRPr/>
          </a:p>
        </p:txBody>
      </p:sp>
      <p:sp>
        <p:nvSpPr>
          <p:cNvPr id="1633076368" name="Rectangle 14"/>
          <p:cNvSpPr/>
          <p:nvPr/>
        </p:nvSpPr>
        <p:spPr bwMode="auto">
          <a:xfrm>
            <a:off x="2815126"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0834227" name="Rectangle 15"/>
          <p:cNvSpPr/>
          <p:nvPr/>
        </p:nvSpPr>
        <p:spPr bwMode="auto">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75000597" name="TextBox 16"/>
          <p:cNvSpPr txBox="1"/>
          <p:nvPr/>
        </p:nvSpPr>
        <p:spPr bwMode="auto">
          <a:xfrm>
            <a:off x="2998006"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Data manipulation</a:t>
            </a:r>
            <a:endParaRPr/>
          </a:p>
        </p:txBody>
      </p:sp>
      <p:sp>
        <p:nvSpPr>
          <p:cNvPr id="586246298" name="TextBox 17"/>
          <p:cNvSpPr txBox="1"/>
          <p:nvPr/>
        </p:nvSpPr>
        <p:spPr bwMode="auto">
          <a:xfrm>
            <a:off x="2998006"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pandas</a:t>
            </a:r>
            <a:endParaRPr/>
          </a:p>
        </p:txBody>
      </p:sp>
      <p:sp>
        <p:nvSpPr>
          <p:cNvPr id="1701716241" name="TextBox 18"/>
          <p:cNvSpPr txBox="1"/>
          <p:nvPr/>
        </p:nvSpPr>
        <p:spPr bwMode="auto">
          <a:xfrm>
            <a:off x="2998006"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Loading, grouping, cross-tabulation, qcut/cut banding, Styler formatting</a:t>
            </a:r>
            <a:endParaRPr/>
          </a:p>
        </p:txBody>
      </p:sp>
      <p:sp>
        <p:nvSpPr>
          <p:cNvPr id="1132128587" name="TextBox 19"/>
          <p:cNvSpPr txBox="1"/>
          <p:nvPr/>
        </p:nvSpPr>
        <p:spPr bwMode="auto">
          <a:xfrm>
            <a:off x="2998006" y="339242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NumPy</a:t>
            </a:r>
            <a:endParaRPr/>
          </a:p>
        </p:txBody>
      </p:sp>
      <p:sp>
        <p:nvSpPr>
          <p:cNvPr id="125775959" name="TextBox 20"/>
          <p:cNvSpPr txBox="1"/>
          <p:nvPr/>
        </p:nvSpPr>
        <p:spPr bwMode="auto">
          <a:xfrm>
            <a:off x="2998006" y="3602735"/>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operations and bin arithmetic</a:t>
            </a:r>
            <a:endParaRPr/>
          </a:p>
        </p:txBody>
      </p:sp>
      <p:sp>
        <p:nvSpPr>
          <p:cNvPr id="94724394" name="Rectangle 21"/>
          <p:cNvSpPr/>
          <p:nvPr/>
        </p:nvSpPr>
        <p:spPr bwMode="auto">
          <a:xfrm>
            <a:off x="5063325"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83303167" name="Rectangle 22"/>
          <p:cNvSpPr/>
          <p:nvPr/>
        </p:nvSpPr>
        <p:spPr bwMode="auto">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89462093" name="TextBox 23"/>
          <p:cNvSpPr txBox="1"/>
          <p:nvPr/>
        </p:nvSpPr>
        <p:spPr bwMode="auto">
          <a:xfrm>
            <a:off x="5246205"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Visualization</a:t>
            </a:r>
            <a:endParaRPr/>
          </a:p>
        </p:txBody>
      </p:sp>
      <p:sp>
        <p:nvSpPr>
          <p:cNvPr id="1003351583" name="TextBox 24"/>
          <p:cNvSpPr txBox="1"/>
          <p:nvPr/>
        </p:nvSpPr>
        <p:spPr bwMode="auto">
          <a:xfrm>
            <a:off x="5246205"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Matplotlib</a:t>
            </a:r>
            <a:endParaRPr/>
          </a:p>
        </p:txBody>
      </p:sp>
      <p:sp>
        <p:nvSpPr>
          <p:cNvPr id="677695397" name="TextBox 25"/>
          <p:cNvSpPr txBox="1"/>
          <p:nvPr/>
        </p:nvSpPr>
        <p:spPr bwMode="auto">
          <a:xfrm>
            <a:off x="5246205"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Bar, line, box and histogram composition</a:t>
            </a:r>
            <a:endParaRPr/>
          </a:p>
        </p:txBody>
      </p:sp>
      <p:sp>
        <p:nvSpPr>
          <p:cNvPr id="417938216" name="TextBox 26"/>
          <p:cNvSpPr txBox="1"/>
          <p:nvPr/>
        </p:nvSpPr>
        <p:spPr bwMode="auto">
          <a:xfrm>
            <a:off x="5246205"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seaborn</a:t>
            </a:r>
            <a:endParaRPr/>
          </a:p>
        </p:txBody>
      </p:sp>
      <p:sp>
        <p:nvSpPr>
          <p:cNvPr id="1644970854" name="TextBox 27"/>
          <p:cNvSpPr txBox="1"/>
          <p:nvPr/>
        </p:nvSpPr>
        <p:spPr bwMode="auto">
          <a:xfrm>
            <a:off x="5246205"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Statistical plots and distribution comparison</a:t>
            </a:r>
            <a:endParaRPr/>
          </a:p>
        </p:txBody>
      </p:sp>
      <p:sp>
        <p:nvSpPr>
          <p:cNvPr id="860591355" name="TextBox 28"/>
          <p:cNvSpPr txBox="1"/>
          <p:nvPr/>
        </p:nvSpPr>
        <p:spPr bwMode="auto">
          <a:xfrm>
            <a:off x="5246205"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Plotly + Dash</a:t>
            </a:r>
            <a:endParaRPr/>
          </a:p>
        </p:txBody>
      </p:sp>
      <p:sp>
        <p:nvSpPr>
          <p:cNvPr id="443677563" name="TextBox 29"/>
          <p:cNvSpPr txBox="1"/>
          <p:nvPr/>
        </p:nvSpPr>
        <p:spPr bwMode="auto">
          <a:xfrm>
            <a:off x="5246205"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Interactive attrition explorer dashboard</a:t>
            </a:r>
            <a:endParaRPr/>
          </a:p>
        </p:txBody>
      </p:sp>
      <p:sp>
        <p:nvSpPr>
          <p:cNvPr id="438936389" name="Rectangle 30"/>
          <p:cNvSpPr/>
          <p:nvPr/>
        </p:nvSpPr>
        <p:spPr bwMode="auto">
          <a:xfrm>
            <a:off x="7311524"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8366574" name="Rectangle 31"/>
          <p:cNvSpPr/>
          <p:nvPr/>
        </p:nvSpPr>
        <p:spPr bwMode="auto">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92999910" name="TextBox 32"/>
          <p:cNvSpPr txBox="1"/>
          <p:nvPr/>
        </p:nvSpPr>
        <p:spPr bwMode="auto">
          <a:xfrm>
            <a:off x="7494404"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Analysis &amp; modelling</a:t>
            </a:r>
            <a:endParaRPr/>
          </a:p>
        </p:txBody>
      </p:sp>
      <p:sp>
        <p:nvSpPr>
          <p:cNvPr id="1885913003" name="TextBox 33"/>
          <p:cNvSpPr txBox="1"/>
          <p:nvPr/>
        </p:nvSpPr>
        <p:spPr bwMode="auto">
          <a:xfrm>
            <a:off x="7494404"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Descriptive statistics</a:t>
            </a:r>
            <a:endParaRPr/>
          </a:p>
        </p:txBody>
      </p:sp>
      <p:sp>
        <p:nvSpPr>
          <p:cNvPr id="1772178061" name="TextBox 34"/>
          <p:cNvSpPr txBox="1"/>
          <p:nvPr/>
        </p:nvSpPr>
        <p:spPr bwMode="auto">
          <a:xfrm>
            <a:off x="7494404"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Segment rates, baseline gaps, excess attrition</a:t>
            </a:r>
            <a:endParaRPr/>
          </a:p>
        </p:txBody>
      </p:sp>
      <p:sp>
        <p:nvSpPr>
          <p:cNvPr id="828601278" name="TextBox 35"/>
          <p:cNvSpPr txBox="1"/>
          <p:nvPr/>
        </p:nvSpPr>
        <p:spPr bwMode="auto">
          <a:xfrm>
            <a:off x="7494404"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IQR outlier detection</a:t>
            </a:r>
            <a:endParaRPr/>
          </a:p>
        </p:txBody>
      </p:sp>
      <p:sp>
        <p:nvSpPr>
          <p:cNvPr id="1310335649" name="TextBox 36"/>
          <p:cNvSpPr txBox="1"/>
          <p:nvPr/>
        </p:nvSpPr>
        <p:spPr bwMode="auto">
          <a:xfrm>
            <a:off x="7494404"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Fences, review and a documented retention decision</a:t>
            </a:r>
            <a:endParaRPr/>
          </a:p>
        </p:txBody>
      </p:sp>
      <p:sp>
        <p:nvSpPr>
          <p:cNvPr id="43241571" name="TextBox 37"/>
          <p:cNvSpPr txBox="1"/>
          <p:nvPr/>
        </p:nvSpPr>
        <p:spPr bwMode="auto">
          <a:xfrm>
            <a:off x="7494404"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Pearson correlation</a:t>
            </a:r>
            <a:endParaRPr/>
          </a:p>
        </p:txBody>
      </p:sp>
      <p:sp>
        <p:nvSpPr>
          <p:cNvPr id="1075498691" name="TextBox 38"/>
          <p:cNvSpPr txBox="1"/>
          <p:nvPr/>
        </p:nvSpPr>
        <p:spPr bwMode="auto">
          <a:xfrm>
            <a:off x="7494404"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screening against the target</a:t>
            </a:r>
            <a:endParaRPr/>
          </a:p>
        </p:txBody>
      </p:sp>
      <p:sp>
        <p:nvSpPr>
          <p:cNvPr id="1927702328" name="TextBox 39"/>
          <p:cNvSpPr txBox="1"/>
          <p:nvPr/>
        </p:nvSpPr>
        <p:spPr bwMode="auto">
          <a:xfrm>
            <a:off x="7494404" y="4654296"/>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scikit-learn</a:t>
            </a:r>
            <a:endParaRPr/>
          </a:p>
        </p:txBody>
      </p:sp>
      <p:sp>
        <p:nvSpPr>
          <p:cNvPr id="881711388" name="TextBox 40"/>
          <p:cNvSpPr txBox="1"/>
          <p:nvPr/>
        </p:nvSpPr>
        <p:spPr bwMode="auto">
          <a:xfrm>
            <a:off x="7494404" y="4864607"/>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StandardScaler, stratified split, logistic regression, classification report, ROC-AUC</a:t>
            </a:r>
            <a:endParaRPr/>
          </a:p>
        </p:txBody>
      </p:sp>
      <p:sp>
        <p:nvSpPr>
          <p:cNvPr id="269596631" name="Rectangle 41"/>
          <p:cNvSpPr/>
          <p:nvPr/>
        </p:nvSpPr>
        <p:spPr bwMode="auto">
          <a:xfrm>
            <a:off x="9559722"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22367191" name="Rectangle 42"/>
          <p:cNvSpPr/>
          <p:nvPr/>
        </p:nvSpPr>
        <p:spPr bwMode="auto">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62140022" name="TextBox 43"/>
          <p:cNvSpPr txBox="1"/>
          <p:nvPr/>
        </p:nvSpPr>
        <p:spPr bwMode="auto">
          <a:xfrm>
            <a:off x="9742602"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Collaboration</a:t>
            </a:r>
            <a:endParaRPr/>
          </a:p>
        </p:txBody>
      </p:sp>
      <p:sp>
        <p:nvSpPr>
          <p:cNvPr id="1904539209" name="TextBox 44"/>
          <p:cNvSpPr txBox="1"/>
          <p:nvPr/>
        </p:nvSpPr>
        <p:spPr bwMode="auto">
          <a:xfrm>
            <a:off x="9742602"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Git &amp; GitHub</a:t>
            </a:r>
            <a:endParaRPr/>
          </a:p>
        </p:txBody>
      </p:sp>
      <p:sp>
        <p:nvSpPr>
          <p:cNvPr id="578666611" name="TextBox 45"/>
          <p:cNvSpPr txBox="1"/>
          <p:nvPr/>
        </p:nvSpPr>
        <p:spPr bwMode="auto">
          <a:xfrm>
            <a:off x="9742602"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Feature branches, pull requests, merge conflict resolution</a:t>
            </a:r>
            <a:endParaRPr/>
          </a:p>
        </p:txBody>
      </p:sp>
      <p:sp>
        <p:nvSpPr>
          <p:cNvPr id="842843356" name="TextBox 46"/>
          <p:cNvSpPr txBox="1"/>
          <p:nvPr/>
        </p:nvSpPr>
        <p:spPr bwMode="auto">
          <a:xfrm>
            <a:off x="9742602"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Conventional Commits</a:t>
            </a:r>
            <a:endParaRPr/>
          </a:p>
        </p:txBody>
      </p:sp>
      <p:sp>
        <p:nvSpPr>
          <p:cNvPr id="924788921" name="TextBox 47"/>
          <p:cNvSpPr txBox="1"/>
          <p:nvPr/>
        </p:nvSpPr>
        <p:spPr bwMode="auto">
          <a:xfrm>
            <a:off x="9742602"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Typed, scoped commit messages as a readable changelog</a:t>
            </a:r>
            <a:endParaRPr/>
          </a:p>
        </p:txBody>
      </p:sp>
      <p:sp>
        <p:nvSpPr>
          <p:cNvPr id="114411065" name="Rectangle 48"/>
          <p:cNvSpPr/>
          <p:nvPr/>
        </p:nvSpPr>
        <p:spPr bwMode="auto">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40882032" name="Rectangle 49"/>
          <p:cNvSpPr/>
          <p:nvPr/>
        </p:nvSpPr>
        <p:spPr bwMode="auto">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0287452" name="TextBox 50"/>
          <p:cNvSpPr txBox="1"/>
          <p:nvPr/>
        </p:nvSpPr>
        <p:spPr bwMode="auto">
          <a:xfrm>
            <a:off x="786384" y="5788152"/>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NOT USED, DESPITE THE README</a:t>
            </a:r>
            <a:endParaRPr/>
          </a:p>
        </p:txBody>
      </p:sp>
      <p:sp>
        <p:nvSpPr>
          <p:cNvPr id="2106588400" name="TextBox 51"/>
          <p:cNvSpPr txBox="1"/>
          <p:nvPr/>
        </p:nvSpPr>
        <p:spPr bwMode="auto">
          <a:xfrm>
            <a:off x="786384" y="6035039"/>
            <a:ext cx="10655777" cy="0"/>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README's technology table also lists Microsoft Excel and Streamlit. Neither appears anywhere in the repository — the dashboard is built with Dash and Plotly.</a:t>
            </a:r>
            <a:endParaRPr/>
          </a:p>
        </p:txBody>
      </p:sp>
      <p:sp>
        <p:nvSpPr>
          <p:cNvPr id="1462634537"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7346517"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 · dashboards/app/ · requirements.txt</a:t>
            </a:r>
            <a:endParaRPr/>
          </a:p>
        </p:txBody>
      </p:sp>
      <p:sp>
        <p:nvSpPr>
          <p:cNvPr id="1259570224"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0554356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WHERE THIS LEAVES US</a:t>
            </a:r>
            <a:endParaRPr/>
          </a:p>
        </p:txBody>
      </p:sp>
      <p:sp>
        <p:nvSpPr>
          <p:cNvPr id="1410210232"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Conclusion</a:t>
            </a:r>
            <a:endParaRPr/>
          </a:p>
        </p:txBody>
      </p:sp>
      <p:sp>
        <p:nvSpPr>
          <p:cNvPr id="12702876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What the exploratory analysis proved, what it means, and what would have to happen next — kept clearly apart.</a:t>
            </a:r>
            <a:endParaRPr/>
          </a:p>
        </p:txBody>
      </p:sp>
      <p:sp>
        <p:nvSpPr>
          <p:cNvPr id="65046173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4521675" name="Rectangle 5"/>
          <p:cNvSpPr/>
          <p:nvPr/>
        </p:nvSpPr>
        <p:spPr bwMode="auto">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7011363" name="Rectangle 6"/>
          <p:cNvSpPr/>
          <p:nvPr/>
        </p:nvSpPr>
        <p:spPr bwMode="auto">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77912776" name="TextBox 7"/>
          <p:cNvSpPr txBox="1"/>
          <p:nvPr/>
        </p:nvSpPr>
        <p:spPr bwMode="auto">
          <a:xfrm>
            <a:off x="804672"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What we discovered</a:t>
            </a:r>
            <a:endParaRPr/>
          </a:p>
        </p:txBody>
      </p:sp>
      <p:sp>
        <p:nvSpPr>
          <p:cNvPr id="1466062740" name="TextBox 8"/>
          <p:cNvSpPr txBox="1"/>
          <p:nvPr/>
        </p:nvSpPr>
        <p:spPr bwMode="auto">
          <a:xfrm>
            <a:off x="804672"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Attrition runs at 16.1% overall — 237 of 1,470 employees.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It is concentrated in the first two years: 29.82% vs 8.13% after eleven, with four independent tenure measures agreeing.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Entry level carries the largest preventable volume: 26.34% on 543 employees, +55 excess departures.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Overtime is the widest single-condition gap: 30.53% vs 10.44%, and the largest coefficient in the fitted model.</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Specific operational roles stand out — Sales Representative 39.76%, Laboratory Technician 23.94%.</a:t>
            </a:r>
            <a:endParaRPr/>
          </a:p>
        </p:txBody>
      </p:sp>
      <p:sp>
        <p:nvSpPr>
          <p:cNvPr id="730501331" name="Rectangle 9"/>
          <p:cNvSpPr/>
          <p:nvPr/>
        </p:nvSpPr>
        <p:spPr bwMode="auto">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86995936" name="Rectangle 10"/>
          <p:cNvSpPr/>
          <p:nvPr/>
        </p:nvSpPr>
        <p:spPr bwMode="auto">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64080705" name="TextBox 11"/>
          <p:cNvSpPr txBox="1"/>
          <p:nvPr/>
        </p:nvSpPr>
        <p:spPr bwMode="auto">
          <a:xfrm>
            <a:off x="456386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Why it matters</a:t>
            </a:r>
            <a:endParaRPr/>
          </a:p>
        </p:txBody>
      </p:sp>
      <p:sp>
        <p:nvSpPr>
          <p:cNvPr id="822776294" name="TextBox 12"/>
          <p:cNvSpPr txBox="1"/>
          <p:nvPr/>
        </p:nvSpPr>
        <p:spPr bwMode="auto">
          <a:xfrm>
            <a:off x="456386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The risk window is narrow and identifiable, so retention effort has somewhere specific to go — onboarding, the first role, the first manager.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Rate alone would have sent effort to the wrong places; excess attrition changes the priority order.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Weak correlations across 23 numeric features mean no single lever explains attrition — it is a combination of conditions.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Reporting headcount with every rate is what keeps a finding on 52 people from reading like a finding on 543.</a:t>
            </a:r>
            <a:endParaRPr/>
          </a:p>
        </p:txBody>
      </p:sp>
      <p:sp>
        <p:nvSpPr>
          <p:cNvPr id="1555436711" name="Rectangle 13"/>
          <p:cNvSpPr/>
          <p:nvPr/>
        </p:nvSpPr>
        <p:spPr bwMode="auto">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29451499" name="Rectangle 14"/>
          <p:cNvSpPr/>
          <p:nvPr/>
        </p:nvSpPr>
        <p:spPr bwMode="auto">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45903722" name="TextBox 15"/>
          <p:cNvSpPr txBox="1"/>
          <p:nvPr/>
        </p:nvSpPr>
        <p:spPr bwMode="auto">
          <a:xfrm>
            <a:off x="832305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Next steps — not findings</a:t>
            </a:r>
            <a:endParaRPr/>
          </a:p>
        </p:txBody>
      </p:sp>
      <p:sp>
        <p:nvSpPr>
          <p:cNvPr id="590687448" name="TextBox 16"/>
          <p:cNvSpPr txBox="1"/>
          <p:nvPr/>
        </p:nvSpPr>
        <p:spPr bwMode="auto">
          <a:xfrm>
            <a:off x="832305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Stratify the big gaps: does overtime still shift the rate within one job level and tenure band?</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Answer the two README questions the notebooks left open — pay within role and level, and what share of leavers are senior high performers.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Strengthen the model as a ranking tool: class weighting, threshold tuning and cross-validation, judged on recall rather than accuracy.</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Bring the notebook 10 feature set in line with the project's own ethics rule by removing gender, age and marital status from individual scoring.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Attach cost-per-departure so excess attrition converts into a budget case.</a:t>
            </a:r>
            <a:endParaRPr/>
          </a:p>
        </p:txBody>
      </p:sp>
      <p:sp>
        <p:nvSpPr>
          <p:cNvPr id="402939250" name="Rectangle 17"/>
          <p:cNvSpPr/>
          <p:nvPr/>
        </p:nvSpPr>
        <p:spPr bwMode="auto">
          <a:xfrm flipH="0" flipV="0">
            <a:off x="566927" y="5632704"/>
            <a:ext cx="11058112" cy="724203"/>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37332" name="Rectangle 18"/>
          <p:cNvSpPr/>
          <p:nvPr/>
        </p:nvSpPr>
        <p:spPr bwMode="auto">
          <a:xfrm flipH="0" flipV="0">
            <a:off x="566927" y="5615290"/>
            <a:ext cx="41148" cy="71546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4619613" name="TextBox 19"/>
          <p:cNvSpPr txBox="1"/>
          <p:nvPr/>
        </p:nvSpPr>
        <p:spPr bwMode="auto">
          <a:xfrm>
            <a:off x="786384" y="5710332"/>
            <a:ext cx="10660096" cy="160989"/>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DISCLOSURE</a:t>
            </a:r>
            <a:endParaRPr/>
          </a:p>
        </p:txBody>
      </p:sp>
      <p:sp>
        <p:nvSpPr>
          <p:cNvPr id="1902824933" name="TextBox 20"/>
          <p:cNvSpPr txBox="1"/>
          <p:nvPr/>
        </p:nvSpPr>
        <p:spPr bwMode="auto">
          <a:xfrm flipH="0" flipV="0">
            <a:off x="786383" y="5888736"/>
            <a:ext cx="10656856" cy="44201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Every statement above is an association measured in one cross-sectional snapshot of a fictional dataset. Predictive modeling is a next step, not a finding — and nothing here establishes a cause.</a:t>
            </a:r>
            <a:endParaRPr/>
          </a:p>
        </p:txBody>
      </p:sp>
      <p:sp>
        <p:nvSpPr>
          <p:cNvPr id="2084775383" name="Rectangle 21"/>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0321552" name="TextBox 22"/>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a:t>
            </a:r>
            <a:endParaRPr/>
          </a:p>
        </p:txBody>
      </p:sp>
      <p:sp>
        <p:nvSpPr>
          <p:cNvPr id="2072893194" name="TextBox 23"/>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8703039"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43369724"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05807368" name="TextBox 3"/>
          <p:cNvSpPr txBox="1"/>
          <p:nvPr/>
        </p:nvSpPr>
        <p:spPr bwMode="auto">
          <a:xfrm>
            <a:off x="960120" y="2331720"/>
            <a:ext cx="10241280" cy="914400"/>
          </a:xfrm>
          <a:prstGeom prst="rect">
            <a:avLst/>
          </a:prstGeom>
          <a:noFill/>
        </p:spPr>
        <p:txBody>
          <a:bodyPr wrap="square" lIns="0" tIns="0" rIns="0" bIns="0" anchor="t">
            <a:spAutoFit/>
          </a:bodyPr>
          <a:lstStyle/>
          <a:p>
            <a:pPr algn="l">
              <a:lnSpc>
                <a:spcPct val="124000"/>
              </a:lnSpc>
              <a:spcAft>
                <a:spcPts val="0"/>
              </a:spcAft>
              <a:defRPr/>
            </a:pPr>
            <a:r>
              <a:rPr sz="5000" b="1" i="0">
                <a:solidFill>
                  <a:srgbClr val="FFFFFF"/>
                </a:solidFill>
                <a:latin typeface="Segoe UI"/>
              </a:rPr>
              <a:t>Thank you</a:t>
            </a:r>
            <a:endParaRPr/>
          </a:p>
        </p:txBody>
      </p:sp>
      <p:sp>
        <p:nvSpPr>
          <p:cNvPr id="349753906" name="TextBox 4"/>
          <p:cNvSpPr txBox="1"/>
          <p:nvPr/>
        </p:nvSpPr>
        <p:spPr bwMode="auto">
          <a:xfrm>
            <a:off x="960120" y="3346704"/>
            <a:ext cx="10241280" cy="402336"/>
          </a:xfrm>
          <a:prstGeom prst="rect">
            <a:avLst/>
          </a:prstGeom>
          <a:noFill/>
        </p:spPr>
        <p:txBody>
          <a:bodyPr wrap="square" lIns="0" tIns="0" rIns="0" bIns="0" anchor="t">
            <a:spAutoFit/>
          </a:bodyPr>
          <a:lstStyle/>
          <a:p>
            <a:pPr algn="l">
              <a:lnSpc>
                <a:spcPct val="124000"/>
              </a:lnSpc>
              <a:spcAft>
                <a:spcPts val="0"/>
              </a:spcAft>
              <a:defRPr/>
            </a:pPr>
            <a:r>
              <a:rPr sz="1800" b="0" i="0">
                <a:solidFill>
                  <a:srgbClr val="CDE2FB"/>
                </a:solidFill>
                <a:latin typeface="Segoe UI"/>
              </a:rPr>
              <a:t>Questions welcome</a:t>
            </a:r>
            <a:endParaRPr/>
          </a:p>
        </p:txBody>
      </p:sp>
      <p:sp>
        <p:nvSpPr>
          <p:cNvPr id="1106539936" name="Rectangle 5"/>
          <p:cNvSpPr/>
          <p:nvPr/>
        </p:nvSpPr>
        <p:spPr bwMode="auto">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6835117" name="TextBox 6"/>
          <p:cNvSpPr txBox="1"/>
          <p:nvPr/>
        </p:nvSpPr>
        <p:spPr bwMode="auto">
          <a:xfrm>
            <a:off x="960120" y="4224528"/>
            <a:ext cx="10241640" cy="1057635"/>
          </a:xfrm>
          <a:prstGeom prst="rect">
            <a:avLst/>
          </a:prstGeom>
          <a:noFill/>
        </p:spPr>
        <p:txBody>
          <a:bodyPr wrap="square" lIns="0" tIns="0" rIns="0" bIns="0" anchor="t">
            <a:spAutoFit/>
          </a:bodyPr>
          <a:lstStyle/>
          <a:p>
            <a:pPr algn="l">
              <a:lnSpc>
                <a:spcPct val="185000"/>
              </a:lnSpc>
              <a:spcAft>
                <a:spcPts val="0"/>
              </a:spcAft>
              <a:defRPr/>
            </a:pPr>
            <a:r>
              <a:rPr sz="1400" b="1" i="0">
                <a:solidFill>
                  <a:srgbClr val="FFFFFF"/>
                </a:solidFill>
                <a:latin typeface="Segoe UI"/>
              </a:rPr>
              <a:t>NPower JDA Cohort 2026</a:t>
            </a:r>
            <a:endParaRPr/>
          </a:p>
          <a:p>
            <a:pPr algn="l">
              <a:lnSpc>
                <a:spcPct val="185000"/>
              </a:lnSpc>
              <a:spcAft>
                <a:spcPts val="0"/>
              </a:spcAft>
              <a:defRPr/>
            </a:pPr>
            <a:r>
              <a:rPr sz="1200" b="0" i="0">
                <a:solidFill>
                  <a:srgbClr val="9EC5F4"/>
                </a:solidFill>
                <a:latin typeface="Segoe UI"/>
              </a:rPr>
              <a:t>Amruta Atul · Asif Hassan · Dhanan Thannoo · Pablo Fiterman · Stephanie Jivoderova · Tanvi Varshney · Yunseo Jang</a:t>
            </a:r>
            <a:endParaRPr/>
          </a:p>
          <a:p>
            <a:pPr algn="l">
              <a:lnSpc>
                <a:spcPct val="185000"/>
              </a:lnSpc>
              <a:spcAft>
                <a:spcPts val="0"/>
              </a:spcAft>
              <a:defRPr/>
            </a:pPr>
            <a:r>
              <a:rPr sz="1150" b="0" i="0">
                <a:solidFill>
                  <a:srgbClr val="86B6EF"/>
                </a:solidFill>
                <a:latin typeface="Consolas"/>
              </a:rPr>
              <a:t>github.com/NPower-JDA-Cohort-2026/ibm-analytics-attrition-eda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Arial"/>
        <a:cs typeface="Arial"/>
      </a:majorFont>
      <a:minorFont>
        <a:latin typeface="Aptos"/>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7</cp:revision>
  <dcterms:created xsi:type="dcterms:W3CDTF">2013-01-27T09:14:16Z</dcterms:created>
  <dcterms:modified xsi:type="dcterms:W3CDTF">2026-09-14T14:25:41Z</dcterms:modified>
  <cp:category/>
</cp:coreProperties>
</file>